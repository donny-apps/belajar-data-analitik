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9956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1A9CB9E7-93A1-E5ED-BBAF-54D0CA982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0"/>
            <a:ext cx="8979408" cy="4704619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3883632"/>
            <a:ext cx="9144000" cy="1259868"/>
          </a:xfrm>
          <a:prstGeom prst="rect">
            <a:avLst/>
          </a:prstGeom>
          <a:solidFill>
            <a:srgbClr val="152B47"/>
          </a:solidFill>
          <a:ln w="12700">
            <a:solidFill>
              <a:srgbClr val="152B47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7772400" y="2743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Shape 4"/>
          <p:cNvSpPr/>
          <p:nvPr/>
        </p:nvSpPr>
        <p:spPr>
          <a:xfrm>
            <a:off x="8001000" y="2743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8229600" y="2743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Shape 6"/>
          <p:cNvSpPr/>
          <p:nvPr/>
        </p:nvSpPr>
        <p:spPr>
          <a:xfrm>
            <a:off x="8458200" y="2743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Shape 7"/>
          <p:cNvSpPr/>
          <p:nvPr/>
        </p:nvSpPr>
        <p:spPr>
          <a:xfrm>
            <a:off x="8686800" y="2743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Shape 8"/>
          <p:cNvSpPr/>
          <p:nvPr/>
        </p:nvSpPr>
        <p:spPr>
          <a:xfrm>
            <a:off x="7772400" y="5029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8001000" y="5029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Shape 10"/>
          <p:cNvSpPr/>
          <p:nvPr/>
        </p:nvSpPr>
        <p:spPr>
          <a:xfrm>
            <a:off x="8229600" y="5029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Shape 11"/>
          <p:cNvSpPr/>
          <p:nvPr/>
        </p:nvSpPr>
        <p:spPr>
          <a:xfrm>
            <a:off x="8458200" y="5029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Shape 12"/>
          <p:cNvSpPr/>
          <p:nvPr/>
        </p:nvSpPr>
        <p:spPr>
          <a:xfrm>
            <a:off x="8686800" y="5029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7772400" y="7315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Shape 14"/>
          <p:cNvSpPr/>
          <p:nvPr/>
        </p:nvSpPr>
        <p:spPr>
          <a:xfrm>
            <a:off x="8001000" y="7315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Shape 15"/>
          <p:cNvSpPr/>
          <p:nvPr/>
        </p:nvSpPr>
        <p:spPr>
          <a:xfrm>
            <a:off x="8229600" y="7315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Shape 16"/>
          <p:cNvSpPr/>
          <p:nvPr/>
        </p:nvSpPr>
        <p:spPr>
          <a:xfrm>
            <a:off x="8458200" y="7315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Shape 17"/>
          <p:cNvSpPr/>
          <p:nvPr/>
        </p:nvSpPr>
        <p:spPr>
          <a:xfrm>
            <a:off x="8686800" y="7315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Shape 18"/>
          <p:cNvSpPr/>
          <p:nvPr/>
        </p:nvSpPr>
        <p:spPr>
          <a:xfrm>
            <a:off x="7772400" y="9601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Shape 19"/>
          <p:cNvSpPr/>
          <p:nvPr/>
        </p:nvSpPr>
        <p:spPr>
          <a:xfrm>
            <a:off x="8001000" y="9601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Shape 20"/>
          <p:cNvSpPr/>
          <p:nvPr/>
        </p:nvSpPr>
        <p:spPr>
          <a:xfrm>
            <a:off x="8229600" y="9601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Shape 21"/>
          <p:cNvSpPr/>
          <p:nvPr/>
        </p:nvSpPr>
        <p:spPr>
          <a:xfrm>
            <a:off x="8458200" y="9601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Shape 22"/>
          <p:cNvSpPr/>
          <p:nvPr/>
        </p:nvSpPr>
        <p:spPr>
          <a:xfrm>
            <a:off x="8686800" y="9601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Shape 23"/>
          <p:cNvSpPr/>
          <p:nvPr/>
        </p:nvSpPr>
        <p:spPr>
          <a:xfrm>
            <a:off x="7772400" y="11887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Shape 24"/>
          <p:cNvSpPr/>
          <p:nvPr/>
        </p:nvSpPr>
        <p:spPr>
          <a:xfrm>
            <a:off x="8001000" y="11887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Shape 25"/>
          <p:cNvSpPr/>
          <p:nvPr/>
        </p:nvSpPr>
        <p:spPr>
          <a:xfrm>
            <a:off x="8229600" y="11887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Shape 26"/>
          <p:cNvSpPr/>
          <p:nvPr/>
        </p:nvSpPr>
        <p:spPr>
          <a:xfrm>
            <a:off x="8458200" y="11887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Shape 27"/>
          <p:cNvSpPr/>
          <p:nvPr/>
        </p:nvSpPr>
        <p:spPr>
          <a:xfrm>
            <a:off x="8686800" y="11887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0" name="Text 28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TM 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84048" y="1507150"/>
            <a:ext cx="3532340" cy="671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Eksplorasi Data</a:t>
            </a:r>
            <a:endParaRPr lang="en-US" sz="3600" dirty="0">
              <a:solidFill>
                <a:schemeClr val="accent2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432524" y="2062689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Use Case: Dataset Iris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432524" y="2794939"/>
            <a:ext cx="2286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4" name="Text 32"/>
          <p:cNvSpPr/>
          <p:nvPr/>
        </p:nvSpPr>
        <p:spPr>
          <a:xfrm>
            <a:off x="408724" y="4648977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E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 |  Praktik Orange Data Mining</a:t>
            </a:r>
            <a:endParaRPr lang="en-US" sz="1300" dirty="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A3407A59-85BA-0B3A-BF72-49D2DEEA2FF5}"/>
              </a:ext>
            </a:extLst>
          </p:cNvPr>
          <p:cNvSpPr/>
          <p:nvPr/>
        </p:nvSpPr>
        <p:spPr>
          <a:xfrm>
            <a:off x="432524" y="28649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Dr. Donny Maha Putra</a:t>
            </a:r>
            <a:endParaRPr lang="en-US" sz="1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Konsep Data Mining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3657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Data Mining?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adalah proses menemukan pola bermakna dari data mentah menjadi pengetahuan yang berguna.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463040"/>
            <a:ext cx="1234440" cy="9144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301752" y="150876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" y="1956816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mentah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diolah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90472" y="1892808"/>
            <a:ext cx="20116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1691640" y="1463040"/>
            <a:ext cx="123444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1737360" y="150876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37360" y="1956816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Seleksi data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relevan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26080" y="1892808"/>
            <a:ext cx="20116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3127248" y="1463040"/>
            <a:ext cx="1234440" cy="91440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3172968" y="150876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72968" y="1956816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bersih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 pakai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61688" y="1892808"/>
            <a:ext cx="20116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Shape 17"/>
          <p:cNvSpPr/>
          <p:nvPr/>
        </p:nvSpPr>
        <p:spPr>
          <a:xfrm>
            <a:off x="4562856" y="1463040"/>
            <a:ext cx="123444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4608576" y="150876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08576" y="1956816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tertransformasi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97296" y="1892808"/>
            <a:ext cx="20116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Shape 21"/>
          <p:cNvSpPr/>
          <p:nvPr/>
        </p:nvSpPr>
        <p:spPr>
          <a:xfrm>
            <a:off x="5998464" y="1463040"/>
            <a:ext cx="123444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/>
          <p:nvPr/>
        </p:nvSpPr>
        <p:spPr>
          <a:xfrm>
            <a:off x="6044184" y="150876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44184" y="1956816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ditemukan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32904" y="1892808"/>
            <a:ext cx="20116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Shape 25"/>
          <p:cNvSpPr/>
          <p:nvPr/>
        </p:nvSpPr>
        <p:spPr>
          <a:xfrm>
            <a:off x="7434072" y="1463040"/>
            <a:ext cx="12344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8" name="Text 26"/>
          <p:cNvSpPr/>
          <p:nvPr/>
        </p:nvSpPr>
        <p:spPr>
          <a:xfrm>
            <a:off x="7479792" y="150876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79792" y="1956816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akhir: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pengetahuan baru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490472" y="24231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926080" y="24231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361688" y="24231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797296" y="24231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32904" y="24231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Evaluation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4389120"/>
            <a:ext cx="8412480" cy="548640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6" name="Text 34"/>
          <p:cNvSpPr/>
          <p:nvPr/>
        </p:nvSpPr>
        <p:spPr>
          <a:xfrm>
            <a:off x="50292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Proses data mining tidak linear — setiap tahap dapat diulang hingga pengetahuan yang dihasilkan cukup akurat dan andal.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Proses Data Mining (Siklus Penuh)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3657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Lifecycle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438912" y="941832"/>
            <a:ext cx="384048" cy="38404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438912" y="941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9144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Ingestion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385316"/>
            <a:ext cx="1783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Pengumpulan data dari berbagai sumber (database, file, API, web scraping).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23160" y="82296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2" name="Shape 10"/>
          <p:cNvSpPr/>
          <p:nvPr/>
        </p:nvSpPr>
        <p:spPr>
          <a:xfrm>
            <a:off x="2542032" y="941832"/>
            <a:ext cx="384048" cy="384048"/>
          </a:xfrm>
          <a:prstGeom prst="ellipse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2542032" y="941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17520" y="9144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1378489"/>
            <a:ext cx="1783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Eksplorasi awal: distribusi, outlier,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korelasi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modeling dilakukan.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26280" y="82296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7" name="Shape 15"/>
          <p:cNvSpPr/>
          <p:nvPr/>
        </p:nvSpPr>
        <p:spPr>
          <a:xfrm>
            <a:off x="4645152" y="94183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4645152" y="941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20640" y="9144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46112" y="1382497"/>
            <a:ext cx="1783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Pembersihan, normalisasi, transformasi data agar siap untuk pelatihan model.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29400" y="82296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2" name="Shape 20"/>
          <p:cNvSpPr/>
          <p:nvPr/>
        </p:nvSpPr>
        <p:spPr>
          <a:xfrm>
            <a:off x="6748272" y="941832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Text 21"/>
          <p:cNvSpPr/>
          <p:nvPr/>
        </p:nvSpPr>
        <p:spPr>
          <a:xfrm>
            <a:off x="6748272" y="941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23760" y="9144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0" y="1378489"/>
            <a:ext cx="1783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Pelatihan model machine learning menggunakan data yang telah diproses.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235000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7" name="Shape 25"/>
          <p:cNvSpPr/>
          <p:nvPr/>
        </p:nvSpPr>
        <p:spPr>
          <a:xfrm>
            <a:off x="438912" y="246888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Text 26"/>
          <p:cNvSpPr/>
          <p:nvPr/>
        </p:nvSpPr>
        <p:spPr>
          <a:xfrm>
            <a:off x="438912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244144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71500" y="2903221"/>
            <a:ext cx="1783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Pengujian performa model dengan metrik seperti Accuracy, F1-score, RMSE.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423160" y="235000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2" name="Shape 30"/>
          <p:cNvSpPr/>
          <p:nvPr/>
        </p:nvSpPr>
        <p:spPr>
          <a:xfrm>
            <a:off x="2542032" y="2468880"/>
            <a:ext cx="384048" cy="38404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3" name="Text 31"/>
          <p:cNvSpPr/>
          <p:nvPr/>
        </p:nvSpPr>
        <p:spPr>
          <a:xfrm>
            <a:off x="2542032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017520" y="244144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Tuning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606040" y="2906102"/>
            <a:ext cx="1783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Penyesuaian hyperparameter untuk meningkatkan akurasi model.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26280" y="235000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7" name="Shape 35"/>
          <p:cNvSpPr/>
          <p:nvPr/>
        </p:nvSpPr>
        <p:spPr>
          <a:xfrm>
            <a:off x="4645152" y="2468880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8" name="Text 36"/>
          <p:cNvSpPr/>
          <p:nvPr/>
        </p:nvSpPr>
        <p:spPr>
          <a:xfrm>
            <a:off x="4645152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120640" y="244144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686300" y="2921509"/>
            <a:ext cx="1783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diterapkan pada sistem nyata untuk membuat prediksi secara otomatis.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629400" y="235000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2" name="Shape 40"/>
          <p:cNvSpPr/>
          <p:nvPr/>
        </p:nvSpPr>
        <p:spPr>
          <a:xfrm>
            <a:off x="6748272" y="2468880"/>
            <a:ext cx="384048" cy="384048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3" name="Text 41"/>
          <p:cNvSpPr/>
          <p:nvPr/>
        </p:nvSpPr>
        <p:spPr>
          <a:xfrm>
            <a:off x="6748272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23760" y="244144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Maintenance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35140" y="2902720"/>
            <a:ext cx="1783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Pemantauan kinerja model dan pembaruan ketika data baru tersedia.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20040" y="42245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Iterasi atau data baru memulai ulang siklus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Orange Data Mining: Tool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3657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Utama Platform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adalah software data mining visual berbasis Python yang memungkinkan analisis data tanpa menulis kode secara manual.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Visualisasi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801368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interaktif, chart, dan plot untuk memahami distribusi dan pola data.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0" y="1417320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2" name="Shape 10"/>
          <p:cNvSpPr/>
          <p:nvPr/>
        </p:nvSpPr>
        <p:spPr>
          <a:xfrm>
            <a:off x="3108960" y="1417320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3246120" y="150876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Text Mining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46120" y="1801368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teks tidak terstruktur, ekstraksi kata kunci dan sentimen.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97880" y="1417320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6" name="Shape 14"/>
          <p:cNvSpPr/>
          <p:nvPr/>
        </p:nvSpPr>
        <p:spPr>
          <a:xfrm>
            <a:off x="5897880" y="1417320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6035040" y="150876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Geospasial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35040" y="1801368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Pemetaan data berdasarkan lokasi geografis menggunakan Geomap.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404872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0" name="Shape 18"/>
          <p:cNvSpPr/>
          <p:nvPr/>
        </p:nvSpPr>
        <p:spPr>
          <a:xfrm>
            <a:off x="320040" y="2404872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457200" y="2496312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⛏️  Data Mining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278892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klasifikasi, regresi, dan clustering untuk analisis prediktif.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08960" y="2404872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4" name="Shape 22"/>
          <p:cNvSpPr/>
          <p:nvPr/>
        </p:nvSpPr>
        <p:spPr>
          <a:xfrm>
            <a:off x="3108960" y="2404872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Text 23"/>
          <p:cNvSpPr/>
          <p:nvPr/>
        </p:nvSpPr>
        <p:spPr>
          <a:xfrm>
            <a:off x="3246120" y="2496312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 Analisis Time Series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46120" y="278892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data deret waktu untuk menemukan tren dan pola temporal.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97880" y="2404872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8" name="Shape 26"/>
          <p:cNvSpPr/>
          <p:nvPr/>
        </p:nvSpPr>
        <p:spPr>
          <a:xfrm>
            <a:off x="5897880" y="2404872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Text 27"/>
          <p:cNvSpPr/>
          <p:nvPr/>
        </p:nvSpPr>
        <p:spPr>
          <a:xfrm>
            <a:off x="6035040" y="2496312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🔗  Asosiasi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35040" y="278892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Menemukan hubungan antarvariabel dalam dataset (association rules).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392424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2" name="Shape 30"/>
          <p:cNvSpPr/>
          <p:nvPr/>
        </p:nvSpPr>
        <p:spPr>
          <a:xfrm>
            <a:off x="320040" y="3392424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3" name="Text 31"/>
          <p:cNvSpPr/>
          <p:nvPr/>
        </p:nvSpPr>
        <p:spPr>
          <a:xfrm>
            <a:off x="457200" y="3483864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📷  Analisis Citra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377647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Pemrosesan dan klasifikasi gambar digital.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108960" y="3392424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6" name="Shape 34"/>
          <p:cNvSpPr/>
          <p:nvPr/>
        </p:nvSpPr>
        <p:spPr>
          <a:xfrm>
            <a:off x="3108960" y="3392424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7" name="Text 35"/>
          <p:cNvSpPr/>
          <p:nvPr/>
        </p:nvSpPr>
        <p:spPr>
          <a:xfrm>
            <a:off x="3246120" y="3483864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🧬  Bioinformatika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246120" y="377647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data biologis seperti DNA sequence dan protein.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897880" y="3392424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0" name="Shape 38"/>
          <p:cNvSpPr/>
          <p:nvPr/>
        </p:nvSpPr>
        <p:spPr>
          <a:xfrm>
            <a:off x="5897880" y="3392424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1" name="Text 39"/>
          <p:cNvSpPr/>
          <p:nvPr/>
        </p:nvSpPr>
        <p:spPr>
          <a:xfrm>
            <a:off x="6035040" y="3483864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🔬  Spektroskopi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035040" y="377647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data spektral untuk aplikasi kimia dan material.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Exploratory Data Analysis (EDA)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3657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Awal Sebelum Modeling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023360" cy="4069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Apa itu EDA?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7490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(Exploratory Data Analysis)</a:t>
            </a:r>
            <a:r>
              <a:rPr lang="en-US" sz="1200" dirty="0">
                <a:solidFill>
                  <a:srgbClr val="D1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adalah tahap awal dalam analisis data yang bertujuan untuk:
• Memahami struktur dan distribusi data
• Mendeteksi anomali, outlier, dan nilai hilang
• Menemukan pola dan hubungan antarvariabel
• Membantu pemilihan algoritma yang tepat
</a:t>
            </a: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dilakukan SEBELUM proses modeling dimulai.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822960"/>
            <a:ext cx="4343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0" name="Shape 8"/>
          <p:cNvSpPr/>
          <p:nvPr/>
        </p:nvSpPr>
        <p:spPr>
          <a:xfrm>
            <a:off x="4480560" y="822960"/>
            <a:ext cx="64008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4617720" y="8961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Grafik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11704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distribusi data dalam bentuk bar chart, histogram, dll.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80560" y="1645920"/>
            <a:ext cx="4343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4" name="Shape 12"/>
          <p:cNvSpPr/>
          <p:nvPr/>
        </p:nvSpPr>
        <p:spPr>
          <a:xfrm>
            <a:off x="4480560" y="1645920"/>
            <a:ext cx="64008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4617720" y="17190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🔵  Plot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7720" y="19933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dan line plot untuk melihat hubungan antardua variabel.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80560" y="2468880"/>
            <a:ext cx="4343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8" name="Shape 16"/>
          <p:cNvSpPr/>
          <p:nvPr/>
        </p:nvSpPr>
        <p:spPr>
          <a:xfrm>
            <a:off x="4480560" y="2468880"/>
            <a:ext cx="64008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4617720" y="25420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📉  Distribusi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17720" y="28163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sebaran nilai data: normal, skewed, bimodal, dsb.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3291840"/>
            <a:ext cx="4343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2" name="Shape 20"/>
          <p:cNvSpPr/>
          <p:nvPr/>
        </p:nvSpPr>
        <p:spPr>
          <a:xfrm>
            <a:off x="4480560" y="3291840"/>
            <a:ext cx="64008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Text 21"/>
          <p:cNvSpPr/>
          <p:nvPr/>
        </p:nvSpPr>
        <p:spPr>
          <a:xfrm>
            <a:off x="4617720" y="33649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🗺️  Geomap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17720" y="36393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data dengan dimensi geografis/lokasi.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80560" y="4114800"/>
            <a:ext cx="4343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6" name="Shape 24"/>
          <p:cNvSpPr/>
          <p:nvPr/>
        </p:nvSpPr>
        <p:spPr>
          <a:xfrm>
            <a:off x="4480560" y="4114800"/>
            <a:ext cx="64008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Text 25"/>
          <p:cNvSpPr/>
          <p:nvPr/>
        </p:nvSpPr>
        <p:spPr>
          <a:xfrm>
            <a:off x="4617720" y="4187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Tabel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17720" y="44622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data terstruktur untuk inspeksi langsung nilai setiap baris.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Iris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3657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Dataset dalam Machine Learning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5120640" cy="4069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457200" y="8961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Tentang Dataset Iris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Iris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pertama kali diperkenalkan oleh statistikawan Ronald Fisher pada tahun 1936 dan menjadi salah satu dataset paling populer dalam dunia machine learning.
</a:t>
            </a: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Tujuan: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model klasifikasi spesies bunga iris berdasarkan ukuran kelopak bunganya.
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109728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457200" y="2724912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Observasi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691640" y="2697480"/>
            <a:ext cx="109728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1691640" y="2724912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91640" y="31546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(Atribut)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926080" y="2697480"/>
            <a:ext cx="109728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2926080" y="2724912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926080" y="31546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/ Spesies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60520" y="2697480"/>
            <a:ext cx="109728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4160520" y="2724912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160520" y="31546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 Kelas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36758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Fitur Input: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95020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Sepal Length (cm)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panjang daun kelopak luar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Sepal Width (cm)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lebar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daun kelopak luar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 Length (cm)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panjang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mahkota bunga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 Width (cm)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lebar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mahkota bunga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23560" y="896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Kelas Target (Spesies):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23560" y="1280160"/>
            <a:ext cx="3200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5" name="Shape 23"/>
          <p:cNvSpPr/>
          <p:nvPr/>
        </p:nvSpPr>
        <p:spPr>
          <a:xfrm>
            <a:off x="5623560" y="1280160"/>
            <a:ext cx="64008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5742432" y="1353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Spesies 1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742432" y="15819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Iris Setosa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742432" y="1920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 kecil, mudah dibedakan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23560" y="2514600"/>
            <a:ext cx="3200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0" name="Shape 28"/>
          <p:cNvSpPr/>
          <p:nvPr/>
        </p:nvSpPr>
        <p:spPr>
          <a:xfrm>
            <a:off x="5623560" y="2514600"/>
            <a:ext cx="64008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1" name="Text 29"/>
          <p:cNvSpPr/>
          <p:nvPr/>
        </p:nvSpPr>
        <p:spPr>
          <a:xfrm>
            <a:off x="5742432" y="25877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Spesies 2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742432" y="28163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Iris Versicolor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742432" y="3154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 sedang, overlap dengan Virginica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23560" y="3749040"/>
            <a:ext cx="3200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5" name="Shape 33"/>
          <p:cNvSpPr/>
          <p:nvPr/>
        </p:nvSpPr>
        <p:spPr>
          <a:xfrm>
            <a:off x="5623560" y="3749040"/>
            <a:ext cx="64008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6" name="Text 34"/>
          <p:cNvSpPr/>
          <p:nvPr/>
        </p:nvSpPr>
        <p:spPr>
          <a:xfrm>
            <a:off x="5742432" y="382219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Spesies 3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742432" y="40507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Iris Virginica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742432" y="4389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 terbesar di antara ketiganya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Percobaan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EDA: Apa yang Akan Kita Lakukan?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39" y="36576"/>
            <a:ext cx="869243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Iris di Orange Data Mining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Dalam percobaan ini, kita akan mengeksplorasi Dataset Iris menggunakan 8 metode EDA berikut: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2011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20116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411480" y="13716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Tabel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1709928"/>
            <a:ext cx="1874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keseluruhan data secara baris dan kolom.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23160" y="1325880"/>
            <a:ext cx="2011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2" name="Shape 10"/>
          <p:cNvSpPr/>
          <p:nvPr/>
        </p:nvSpPr>
        <p:spPr>
          <a:xfrm>
            <a:off x="2423160" y="1325880"/>
            <a:ext cx="2011680" cy="329184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2514600" y="13716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Tabel Pivot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514600" y="1709928"/>
            <a:ext cx="1874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Merangkum data dengan agregasi nilai per kelompok.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26280" y="1325880"/>
            <a:ext cx="2011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6" name="Shape 14"/>
          <p:cNvSpPr/>
          <p:nvPr/>
        </p:nvSpPr>
        <p:spPr>
          <a:xfrm>
            <a:off x="4526280" y="1325880"/>
            <a:ext cx="20116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4617720" y="13716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Rank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17720" y="1709928"/>
            <a:ext cx="1874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Mengurutkan variabel berdasarkan kontribusi terhadap klasifikasi.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29400" y="1325880"/>
            <a:ext cx="2011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0" name="Shape 18"/>
          <p:cNvSpPr/>
          <p:nvPr/>
        </p:nvSpPr>
        <p:spPr>
          <a:xfrm>
            <a:off x="6629400" y="1325880"/>
            <a:ext cx="201168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6720840" y="13716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Korelasi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720840" y="1709928"/>
            <a:ext cx="1874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Mengukur kekuatan hubungan linier antara dua variabel numerik.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679192"/>
            <a:ext cx="2011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4" name="Shape 22"/>
          <p:cNvSpPr/>
          <p:nvPr/>
        </p:nvSpPr>
        <p:spPr>
          <a:xfrm>
            <a:off x="320040" y="2679192"/>
            <a:ext cx="201168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Text 23"/>
          <p:cNvSpPr/>
          <p:nvPr/>
        </p:nvSpPr>
        <p:spPr>
          <a:xfrm>
            <a:off x="411480" y="272491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Scatter Plot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11480" y="3063240"/>
            <a:ext cx="1874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Memvisualisasikan hubungan dua variabel dalam koordinat dua dimensi.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423160" y="2679192"/>
            <a:ext cx="2011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8" name="Shape 26"/>
          <p:cNvSpPr/>
          <p:nvPr/>
        </p:nvSpPr>
        <p:spPr>
          <a:xfrm>
            <a:off x="2423160" y="2679192"/>
            <a:ext cx="201168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Text 27"/>
          <p:cNvSpPr/>
          <p:nvPr/>
        </p:nvSpPr>
        <p:spPr>
          <a:xfrm>
            <a:off x="2514600" y="272491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 Distribusi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514600" y="3063240"/>
            <a:ext cx="1874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sebaran nilai setiap fitur: normal, skewed, atau bimodal.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26280" y="2679192"/>
            <a:ext cx="2011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2" name="Shape 30"/>
          <p:cNvSpPr/>
          <p:nvPr/>
        </p:nvSpPr>
        <p:spPr>
          <a:xfrm>
            <a:off x="4526280" y="2679192"/>
            <a:ext cx="2011680" cy="32918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3" name="Text 31"/>
          <p:cNvSpPr/>
          <p:nvPr/>
        </p:nvSpPr>
        <p:spPr>
          <a:xfrm>
            <a:off x="4617720" y="272491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  Box Plot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617720" y="3063240"/>
            <a:ext cx="1874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median, kuartil, dan outlier setiap variabel.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629400" y="2679192"/>
            <a:ext cx="2011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6" name="Shape 34"/>
          <p:cNvSpPr/>
          <p:nvPr/>
        </p:nvSpPr>
        <p:spPr>
          <a:xfrm>
            <a:off x="6629400" y="2679192"/>
            <a:ext cx="2011680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7" name="Text 35"/>
          <p:cNvSpPr/>
          <p:nvPr/>
        </p:nvSpPr>
        <p:spPr>
          <a:xfrm>
            <a:off x="6720840" y="272491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  Feature Statistics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720840" y="3063240"/>
            <a:ext cx="1874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 deskriptif lengkap: mean, median, std, min, max per fitur.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Langkah-Langkah EDA di Orange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3657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Praktik Step-by-Step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069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438912" y="923544"/>
            <a:ext cx="384048" cy="38404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438912" y="923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8961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Buka Orange &amp; Load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220661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Orange → klik "File" widget → pilih dataset "iris.csv" bawaan Orange atau upload file Iris.csv Anda.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26280" y="804672"/>
            <a:ext cx="4069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2" name="Shape 10"/>
          <p:cNvSpPr/>
          <p:nvPr/>
        </p:nvSpPr>
        <p:spPr>
          <a:xfrm>
            <a:off x="4645152" y="923544"/>
            <a:ext cx="384048" cy="384048"/>
          </a:xfrm>
          <a:prstGeom prst="ellipse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4645152" y="923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20640" y="8961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Hubungkan ke Data Table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1156653"/>
            <a:ext cx="33219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Sambungkan widget "File" ke widget "Data Table". Klik dua kali widget Data Table untuk melihat 150 baris data Iris.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1719072"/>
            <a:ext cx="4069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7" name="Shape 15"/>
          <p:cNvSpPr/>
          <p:nvPr/>
        </p:nvSpPr>
        <p:spPr>
          <a:xfrm>
            <a:off x="438912" y="1837944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438912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18105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Cek Feature Statistics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2" y="2064790"/>
            <a:ext cx="332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widget "Feature Statistics" → hubungkan ke File. Amati mean, std, min, max untuk setiap fitur (petal/sepal).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26280" y="1719072"/>
            <a:ext cx="4069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2" name="Shape 20"/>
          <p:cNvSpPr/>
          <p:nvPr/>
        </p:nvSpPr>
        <p:spPr>
          <a:xfrm>
            <a:off x="4645152" y="1837944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Text 21"/>
          <p:cNvSpPr/>
          <p:nvPr/>
        </p:nvSpPr>
        <p:spPr>
          <a:xfrm>
            <a:off x="4645152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20640" y="18105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Buat Scatter Plot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20640" y="2074435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widget "Scatter Plot" → atur sumbu X = petal length, Y = petal width → warnai berdasarkan kolom "iris" (kelas).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2633472"/>
            <a:ext cx="4069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7" name="Shape 25"/>
          <p:cNvSpPr/>
          <p:nvPr/>
        </p:nvSpPr>
        <p:spPr>
          <a:xfrm>
            <a:off x="438912" y="2752344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Text 26"/>
          <p:cNvSpPr/>
          <p:nvPr/>
        </p:nvSpPr>
        <p:spPr>
          <a:xfrm>
            <a:off x="438912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27249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Lihat Distribusi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3017520"/>
            <a:ext cx="3325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widget "Distributions" → pilih fitur yang ingin dilihat sebaran nilainya. Amati perbedaan distribusi per kelas.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26280" y="2633472"/>
            <a:ext cx="4069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2" name="Shape 30"/>
          <p:cNvSpPr/>
          <p:nvPr/>
        </p:nvSpPr>
        <p:spPr>
          <a:xfrm>
            <a:off x="4645152" y="2752344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3" name="Text 31"/>
          <p:cNvSpPr/>
          <p:nvPr/>
        </p:nvSpPr>
        <p:spPr>
          <a:xfrm>
            <a:off x="4645152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120640" y="27249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Analisis Korelasi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20640" y="301576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widget "Correlations" → hubungkan ke File. Perhatikan heatmap korelasi antara sepal/petal length dan width.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3547872"/>
            <a:ext cx="4069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7" name="Shape 35"/>
          <p:cNvSpPr/>
          <p:nvPr/>
        </p:nvSpPr>
        <p:spPr>
          <a:xfrm>
            <a:off x="438912" y="3666744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8" name="Text 36"/>
          <p:cNvSpPr/>
          <p:nvPr/>
        </p:nvSpPr>
        <p:spPr>
          <a:xfrm>
            <a:off x="438912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14400" y="36393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Tabel Pivot &amp; Rank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60120" y="38587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"Pivot Table" untuk agregasi per kelas → gunakan "Rank" untuk melihat fitur mana yang paling membedakan spesies.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26280" y="3547872"/>
            <a:ext cx="4069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2" name="Shape 40"/>
          <p:cNvSpPr/>
          <p:nvPr/>
        </p:nvSpPr>
        <p:spPr>
          <a:xfrm>
            <a:off x="4645152" y="3666744"/>
            <a:ext cx="384048" cy="384048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3" name="Text 41"/>
          <p:cNvSpPr/>
          <p:nvPr/>
        </p:nvSpPr>
        <p:spPr>
          <a:xfrm>
            <a:off x="4645152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120640" y="36393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Box Plot per Kelas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120640" y="389534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widget "Box Plot" → kelompokkan berdasarkan kelas "iris". Amati distribusi dan outlier tiap spesies.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320039" y="36576"/>
            <a:ext cx="876759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Intepreatsi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Hasil EDA: Scatter Plot &amp; Distribusi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1840" y="5623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Pola Dataset Iris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114800" cy="4069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Scatter Plot: Petal Length vs Width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3749040" cy="320040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Shape 7"/>
          <p:cNvSpPr/>
          <p:nvPr/>
        </p:nvSpPr>
        <p:spPr>
          <a:xfrm>
            <a:off x="457200" y="2098548"/>
            <a:ext cx="3749040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Shape 8"/>
          <p:cNvSpPr/>
          <p:nvPr/>
        </p:nvSpPr>
        <p:spPr>
          <a:xfrm>
            <a:off x="1394460" y="1298448"/>
            <a:ext cx="7315" cy="320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457200" y="2898648"/>
            <a:ext cx="3749040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Shape 10"/>
          <p:cNvSpPr/>
          <p:nvPr/>
        </p:nvSpPr>
        <p:spPr>
          <a:xfrm>
            <a:off x="2331720" y="1298448"/>
            <a:ext cx="7315" cy="320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Shape 11"/>
          <p:cNvSpPr/>
          <p:nvPr/>
        </p:nvSpPr>
        <p:spPr>
          <a:xfrm>
            <a:off x="457200" y="3698748"/>
            <a:ext cx="3749040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Shape 12"/>
          <p:cNvSpPr/>
          <p:nvPr/>
        </p:nvSpPr>
        <p:spPr>
          <a:xfrm>
            <a:off x="3268980" y="1298448"/>
            <a:ext cx="7315" cy="320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566225" y="3999180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Shape 14"/>
          <p:cNvSpPr/>
          <p:nvPr/>
        </p:nvSpPr>
        <p:spPr>
          <a:xfrm>
            <a:off x="623902" y="3953704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Shape 15"/>
          <p:cNvSpPr/>
          <p:nvPr/>
        </p:nvSpPr>
        <p:spPr>
          <a:xfrm>
            <a:off x="681580" y="4065673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Shape 16"/>
          <p:cNvSpPr/>
          <p:nvPr/>
        </p:nvSpPr>
        <p:spPr>
          <a:xfrm>
            <a:off x="739257" y="4144465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Shape 17"/>
          <p:cNvSpPr/>
          <p:nvPr/>
        </p:nvSpPr>
        <p:spPr>
          <a:xfrm>
            <a:off x="796935" y="4082411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Shape 18"/>
          <p:cNvSpPr/>
          <p:nvPr/>
        </p:nvSpPr>
        <p:spPr>
          <a:xfrm>
            <a:off x="854612" y="3877260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Shape 19"/>
          <p:cNvSpPr/>
          <p:nvPr/>
        </p:nvSpPr>
        <p:spPr>
          <a:xfrm>
            <a:off x="912290" y="3849190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Shape 20"/>
          <p:cNvSpPr/>
          <p:nvPr/>
        </p:nvSpPr>
        <p:spPr>
          <a:xfrm>
            <a:off x="969967" y="389532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Shape 21"/>
          <p:cNvSpPr/>
          <p:nvPr/>
        </p:nvSpPr>
        <p:spPr>
          <a:xfrm>
            <a:off x="1027645" y="4048871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Shape 22"/>
          <p:cNvSpPr/>
          <p:nvPr/>
        </p:nvSpPr>
        <p:spPr>
          <a:xfrm>
            <a:off x="1085322" y="4165920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Shape 23"/>
          <p:cNvSpPr/>
          <p:nvPr/>
        </p:nvSpPr>
        <p:spPr>
          <a:xfrm>
            <a:off x="1143000" y="4139361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Shape 24"/>
          <p:cNvSpPr/>
          <p:nvPr/>
        </p:nvSpPr>
        <p:spPr>
          <a:xfrm>
            <a:off x="1200678" y="397636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Shape 25"/>
          <p:cNvSpPr/>
          <p:nvPr/>
        </p:nvSpPr>
        <p:spPr>
          <a:xfrm>
            <a:off x="1835130" y="2878195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Shape 26"/>
          <p:cNvSpPr/>
          <p:nvPr/>
        </p:nvSpPr>
        <p:spPr>
          <a:xfrm>
            <a:off x="1921647" y="322555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Shape 27"/>
          <p:cNvSpPr/>
          <p:nvPr/>
        </p:nvSpPr>
        <p:spPr>
          <a:xfrm>
            <a:off x="2008163" y="2584408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0" name="Shape 28"/>
          <p:cNvSpPr/>
          <p:nvPr/>
        </p:nvSpPr>
        <p:spPr>
          <a:xfrm>
            <a:off x="2094679" y="2943353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1" name="Shape 29"/>
          <p:cNvSpPr/>
          <p:nvPr/>
        </p:nvSpPr>
        <p:spPr>
          <a:xfrm>
            <a:off x="2181196" y="2617141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2" name="Shape 30"/>
          <p:cNvSpPr/>
          <p:nvPr/>
        </p:nvSpPr>
        <p:spPr>
          <a:xfrm>
            <a:off x="2267712" y="258408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3" name="Shape 31"/>
          <p:cNvSpPr/>
          <p:nvPr/>
        </p:nvSpPr>
        <p:spPr>
          <a:xfrm>
            <a:off x="2354228" y="274525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4" name="Shape 32"/>
          <p:cNvSpPr/>
          <p:nvPr/>
        </p:nvSpPr>
        <p:spPr>
          <a:xfrm>
            <a:off x="2440745" y="261101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5" name="Shape 33"/>
          <p:cNvSpPr/>
          <p:nvPr/>
        </p:nvSpPr>
        <p:spPr>
          <a:xfrm>
            <a:off x="2527261" y="2603477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6" name="Shape 34"/>
          <p:cNvSpPr/>
          <p:nvPr/>
        </p:nvSpPr>
        <p:spPr>
          <a:xfrm>
            <a:off x="2613777" y="283181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7" name="Shape 35"/>
          <p:cNvSpPr/>
          <p:nvPr/>
        </p:nvSpPr>
        <p:spPr>
          <a:xfrm>
            <a:off x="2700294" y="273269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8" name="Shape 36"/>
          <p:cNvSpPr/>
          <p:nvPr/>
        </p:nvSpPr>
        <p:spPr>
          <a:xfrm>
            <a:off x="2786810" y="276021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9" name="Shape 37"/>
          <p:cNvSpPr/>
          <p:nvPr/>
        </p:nvSpPr>
        <p:spPr>
          <a:xfrm>
            <a:off x="2700294" y="1715981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0" name="Shape 38"/>
          <p:cNvSpPr/>
          <p:nvPr/>
        </p:nvSpPr>
        <p:spPr>
          <a:xfrm>
            <a:off x="2786810" y="2253658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1" name="Shape 39"/>
          <p:cNvSpPr/>
          <p:nvPr/>
        </p:nvSpPr>
        <p:spPr>
          <a:xfrm>
            <a:off x="2873326" y="1915769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2" name="Shape 40"/>
          <p:cNvSpPr/>
          <p:nvPr/>
        </p:nvSpPr>
        <p:spPr>
          <a:xfrm>
            <a:off x="2959842" y="1742435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3" name="Shape 41"/>
          <p:cNvSpPr/>
          <p:nvPr/>
        </p:nvSpPr>
        <p:spPr>
          <a:xfrm>
            <a:off x="3046359" y="2436151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4" name="Shape 42"/>
          <p:cNvSpPr/>
          <p:nvPr/>
        </p:nvSpPr>
        <p:spPr>
          <a:xfrm>
            <a:off x="3132875" y="2161537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5" name="Shape 43"/>
          <p:cNvSpPr/>
          <p:nvPr/>
        </p:nvSpPr>
        <p:spPr>
          <a:xfrm>
            <a:off x="3219391" y="2493645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6" name="Shape 44"/>
          <p:cNvSpPr/>
          <p:nvPr/>
        </p:nvSpPr>
        <p:spPr>
          <a:xfrm>
            <a:off x="3305908" y="1712624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7" name="Shape 45"/>
          <p:cNvSpPr/>
          <p:nvPr/>
        </p:nvSpPr>
        <p:spPr>
          <a:xfrm>
            <a:off x="3392424" y="2361765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8" name="Shape 46"/>
          <p:cNvSpPr/>
          <p:nvPr/>
        </p:nvSpPr>
        <p:spPr>
          <a:xfrm>
            <a:off x="3478940" y="2415517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9" name="Shape 47"/>
          <p:cNvSpPr/>
          <p:nvPr/>
        </p:nvSpPr>
        <p:spPr>
          <a:xfrm>
            <a:off x="3565457" y="2250846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0" name="Shape 48"/>
          <p:cNvSpPr/>
          <p:nvPr/>
        </p:nvSpPr>
        <p:spPr>
          <a:xfrm>
            <a:off x="3651973" y="2251388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1" name="Text 49"/>
          <p:cNvSpPr/>
          <p:nvPr/>
        </p:nvSpPr>
        <p:spPr>
          <a:xfrm>
            <a:off x="457200" y="45354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 Length (cm)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02920" y="440740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3" name="Text 51"/>
          <p:cNvSpPr/>
          <p:nvPr/>
        </p:nvSpPr>
        <p:spPr>
          <a:xfrm>
            <a:off x="704088" y="43799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Setosa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764792" y="440740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5" name="Text 53"/>
          <p:cNvSpPr/>
          <p:nvPr/>
        </p:nvSpPr>
        <p:spPr>
          <a:xfrm>
            <a:off x="1965960" y="43799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Versicolor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026664" y="4407408"/>
            <a:ext cx="146304" cy="14630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7" name="Text 55"/>
          <p:cNvSpPr/>
          <p:nvPr/>
        </p:nvSpPr>
        <p:spPr>
          <a:xfrm>
            <a:off x="3227832" y="43799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Virginica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617720" y="8503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Temuan Kunci dari EDA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4617720" y="1298448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0" name="Shape 58"/>
          <p:cNvSpPr/>
          <p:nvPr/>
        </p:nvSpPr>
        <p:spPr>
          <a:xfrm>
            <a:off x="4617720" y="1298448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1" name="Text 59"/>
          <p:cNvSpPr/>
          <p:nvPr/>
        </p:nvSpPr>
        <p:spPr>
          <a:xfrm>
            <a:off x="4736592" y="13624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Setosa Terpisah Jelas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4736592" y="163677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Setosa memiliki petal yang sangat kecil sehingga mudah diklasifikasikan secara linear.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617720" y="2203704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4" name="Shape 62"/>
          <p:cNvSpPr/>
          <p:nvPr/>
        </p:nvSpPr>
        <p:spPr>
          <a:xfrm>
            <a:off x="4617720" y="2203704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5" name="Text 63"/>
          <p:cNvSpPr/>
          <p:nvPr/>
        </p:nvSpPr>
        <p:spPr>
          <a:xfrm>
            <a:off x="4736592" y="22677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Versicolor &amp; Virginica Overlap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4736592" y="254203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 kelas ini saling tumpang tindih pada nilai petal medium — butuh model non-linear.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4617720" y="310896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8" name="Shape 66"/>
          <p:cNvSpPr/>
          <p:nvPr/>
        </p:nvSpPr>
        <p:spPr>
          <a:xfrm>
            <a:off x="4617720" y="3108960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9" name="Text 67"/>
          <p:cNvSpPr/>
          <p:nvPr/>
        </p:nvSpPr>
        <p:spPr>
          <a:xfrm>
            <a:off x="4736592" y="31729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 Petal &gt; Sepal dalam Diskriminasi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4736592" y="344728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petal (length &amp; width) jauh lebih informatif dibanding sepal untuk membedakan kelas.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4617720" y="4014216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2" name="Shape 70"/>
          <p:cNvSpPr/>
          <p:nvPr/>
        </p:nvSpPr>
        <p:spPr>
          <a:xfrm>
            <a:off x="4617720" y="4014216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3" name="Text 71"/>
          <p:cNvSpPr/>
          <p:nvPr/>
        </p:nvSpPr>
        <p:spPr>
          <a:xfrm>
            <a:off x="4736592" y="40782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🔗  Korelasi Tinggi: Petal L &amp; W</a:t>
            </a:r>
            <a:endParaRPr lang="en-US" sz="1150" dirty="0"/>
          </a:p>
        </p:txBody>
      </p:sp>
      <p:sp>
        <p:nvSpPr>
          <p:cNvPr id="74" name="Text 72"/>
          <p:cNvSpPr/>
          <p:nvPr/>
        </p:nvSpPr>
        <p:spPr>
          <a:xfrm>
            <a:off x="4736592" y="435254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 length dan petal width berkorelasi sangat tinggi (r &gt; 0.96), mengindikasikan multikolinearitas.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 Data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3657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Mengolah Data Mentah Menjadi Data Siap Analisis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7096" y="791457"/>
            <a:ext cx="8936695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548640" y="925173"/>
            <a:ext cx="8229600" cy="681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r>
              <a:rPr lang="en-US" sz="1200" dirty="0">
                <a:solidFill>
                  <a:srgbClr val="D1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adalah serangkaian proses untuk mengolah data mentah sebelum dapat digunakan untuk melakukan data mining. Tanpa preprocessing yang baik, model machine learning akan menghasilkan prediksi yang </a:t>
            </a:r>
            <a:r>
              <a:rPr lang="en-US" sz="1200" dirty="0" err="1">
                <a:solidFill>
                  <a:srgbClr val="D1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r>
              <a:rPr lang="en-US" sz="1200" dirty="0">
                <a:solidFill>
                  <a:srgbClr val="D1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D1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akurat</a:t>
            </a:r>
            <a:r>
              <a:rPr lang="en-US" sz="1200" dirty="0">
                <a:solidFill>
                  <a:srgbClr val="D1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"Garbage in, garbage out."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965960"/>
            <a:ext cx="20574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9" name="Shape 7"/>
          <p:cNvSpPr/>
          <p:nvPr/>
        </p:nvSpPr>
        <p:spPr>
          <a:xfrm>
            <a:off x="320040" y="1965960"/>
            <a:ext cx="20574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621792" y="200253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Penskalaan Data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(Normalization/Scaling)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2368296"/>
            <a:ext cx="18562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Normalization: skala 0–1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 (Z-Score): mean=0, std=1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Digunakan sebelum algoritma jarak (KNN, SVM)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96312" y="1965960"/>
            <a:ext cx="20574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3" name="Shape 11"/>
          <p:cNvSpPr/>
          <p:nvPr/>
        </p:nvSpPr>
        <p:spPr>
          <a:xfrm>
            <a:off x="2496312" y="1965960"/>
            <a:ext cx="205740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2798064" y="200253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Pembersihan Data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(Data Cleaning)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2368296"/>
            <a:ext cx="18562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Mengisi nilai hilang (missing values)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Menghapus duplikat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Memperbaiki kesalahan format data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72584" y="1965960"/>
            <a:ext cx="20574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7" name="Shape 15"/>
          <p:cNvSpPr/>
          <p:nvPr/>
        </p:nvSpPr>
        <p:spPr>
          <a:xfrm>
            <a:off x="4672584" y="1965960"/>
            <a:ext cx="20574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4974336" y="200253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Penghapusan Data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(Data Reduction)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82312" y="2368296"/>
            <a:ext cx="18562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Menghapus fitur tidak relevan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Menangani outlier ekstrem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Reduksi dimensi dengan PCA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48856" y="1965960"/>
            <a:ext cx="20574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1" name="Shape 19"/>
          <p:cNvSpPr/>
          <p:nvPr/>
        </p:nvSpPr>
        <p:spPr>
          <a:xfrm>
            <a:off x="6848856" y="1965960"/>
            <a:ext cx="20574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Text 20"/>
          <p:cNvSpPr/>
          <p:nvPr/>
        </p:nvSpPr>
        <p:spPr>
          <a:xfrm>
            <a:off x="6958584" y="200253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Transformasi Data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(Data Transformation)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58584" y="2368296"/>
            <a:ext cx="18562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variabel kategorik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Binerisasi fitur numerik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Agregasi data ke skala yang sesuai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4663440"/>
            <a:ext cx="8503920" cy="365760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Text 23"/>
          <p:cNvSpPr/>
          <p:nvPr/>
        </p:nvSpPr>
        <p:spPr>
          <a:xfrm>
            <a:off x="457200" y="4690872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Di Orange: Gunakan widget Preprocess, Normalize, Edit Domain, Select Columns, atau Impute untuk menjalankan preprocessing secara visual.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Percobaan Preprocessing — Dataset Iris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3657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Teknik yang Akan Dipraktikkan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Iris termasuk dataset yang relatif bersih, namun percobaan preprocessing berikut penting untuk dipahami secara konseptual dan teknis: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4069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8" name="Shape 6"/>
          <p:cNvSpPr/>
          <p:nvPr/>
        </p:nvSpPr>
        <p:spPr>
          <a:xfrm>
            <a:off x="438912" y="1490472"/>
            <a:ext cx="384048" cy="38404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438912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4630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 Columns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41832" y="1778821"/>
            <a:ext cx="328570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Memilih fitur mana yang akan digunakan atau dikecualikan dari analisis.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26280" y="1371600"/>
            <a:ext cx="4069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3" name="Shape 11"/>
          <p:cNvSpPr/>
          <p:nvPr/>
        </p:nvSpPr>
        <p:spPr>
          <a:xfrm>
            <a:off x="4645152" y="1490472"/>
            <a:ext cx="384048" cy="384048"/>
          </a:xfrm>
          <a:prstGeom prst="ellipse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4645152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640" y="14630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Normalize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1742245"/>
            <a:ext cx="3190379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Menskalakan nilai numerik ke rentang tertentu (0–1) agar semua fitur setara.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322576"/>
            <a:ext cx="4069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8" name="Shape 16"/>
          <p:cNvSpPr/>
          <p:nvPr/>
        </p:nvSpPr>
        <p:spPr>
          <a:xfrm>
            <a:off x="438912" y="244144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438912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24140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Outliers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2724912"/>
            <a:ext cx="3383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Mendeteksi dan menangani observasi yang menyimpang jauh dari rata-rata.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26280" y="2322576"/>
            <a:ext cx="4069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3" name="Shape 21"/>
          <p:cNvSpPr/>
          <p:nvPr/>
        </p:nvSpPr>
        <p:spPr>
          <a:xfrm>
            <a:off x="4645152" y="2441448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/>
          <p:nvPr/>
        </p:nvSpPr>
        <p:spPr>
          <a:xfrm>
            <a:off x="4645152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20640" y="24140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Edit Domain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20640" y="2706625"/>
            <a:ext cx="332816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nama variabel, tipe data, atau mendefinisikan ulang label kelas.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273552"/>
            <a:ext cx="4069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8" name="Shape 26"/>
          <p:cNvSpPr/>
          <p:nvPr/>
        </p:nvSpPr>
        <p:spPr>
          <a:xfrm>
            <a:off x="438912" y="3392424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Text 27"/>
          <p:cNvSpPr/>
          <p:nvPr/>
        </p:nvSpPr>
        <p:spPr>
          <a:xfrm>
            <a:off x="438912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" y="33649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 Relevants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3689604"/>
            <a:ext cx="3383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Memilih fitur berdasarkan skor relevansi terhadap variabel target.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26280" y="3273552"/>
            <a:ext cx="4069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3" name="Shape 31"/>
          <p:cNvSpPr/>
          <p:nvPr/>
        </p:nvSpPr>
        <p:spPr>
          <a:xfrm>
            <a:off x="4645152" y="3392424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4" name="Text 32"/>
          <p:cNvSpPr/>
          <p:nvPr/>
        </p:nvSpPr>
        <p:spPr>
          <a:xfrm>
            <a:off x="4645152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20640" y="33649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Sampling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99346" y="3675387"/>
            <a:ext cx="3349459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Mengambil sebagian data secara acak untuk training/testing yang seimbang.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542032" y="4224528"/>
            <a:ext cx="4069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8" name="Shape 36"/>
          <p:cNvSpPr/>
          <p:nvPr/>
        </p:nvSpPr>
        <p:spPr>
          <a:xfrm>
            <a:off x="2660904" y="4343400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9" name="Text 37"/>
          <p:cNvSpPr/>
          <p:nvPr/>
        </p:nvSpPr>
        <p:spPr>
          <a:xfrm>
            <a:off x="2660904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136392" y="43159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Randomize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136392" y="4626864"/>
            <a:ext cx="33207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Mengacak urutan data agar tidak ada bias urutan saat proses pelatihan model.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Langkah Preprocessing di Orange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3657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Praktik Step-by-Step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069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438912" y="923544"/>
            <a:ext cx="384048" cy="38404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438912" y="923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8961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Data Iris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1832" y="1188720"/>
            <a:ext cx="33044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Orange → File widget → load dataset iris.csv. Pastikan target variabel "iris" sudah diset sebagai "class".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26280" y="804672"/>
            <a:ext cx="4069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2" name="Shape 10"/>
          <p:cNvSpPr/>
          <p:nvPr/>
        </p:nvSpPr>
        <p:spPr>
          <a:xfrm>
            <a:off x="4645152" y="923544"/>
            <a:ext cx="384048" cy="384048"/>
          </a:xfrm>
          <a:prstGeom prst="ellipse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4645152" y="923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20640" y="8961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 Columns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1150891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widget "Select Columns" → pindahkan fitur yang tidak relevan ke kolom "Ignored". Coba exclude fitur sepal width.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1719072"/>
            <a:ext cx="4069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7" name="Shape 15"/>
          <p:cNvSpPr/>
          <p:nvPr/>
        </p:nvSpPr>
        <p:spPr>
          <a:xfrm>
            <a:off x="438912" y="1837944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438912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18105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Normalisasi Fitur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2047003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widget "Normalize" → pilih metode "Normalize by standard deviation" atau "Normalize to [0,1]". Amati perubahan nilai.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26280" y="1719072"/>
            <a:ext cx="4069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2" name="Shape 20"/>
          <p:cNvSpPr/>
          <p:nvPr/>
        </p:nvSpPr>
        <p:spPr>
          <a:xfrm>
            <a:off x="4645152" y="1837944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Text 21"/>
          <p:cNvSpPr/>
          <p:nvPr/>
        </p:nvSpPr>
        <p:spPr>
          <a:xfrm>
            <a:off x="4645152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20640" y="18105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Deteksi Outlier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20640" y="20339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widget "Outliers" → setting parameter contamination. Hubungkan ke Scatter Plot untuk melihat titik yang dideteksi sebagai outlier.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2633472"/>
            <a:ext cx="4069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7" name="Shape 25"/>
          <p:cNvSpPr/>
          <p:nvPr/>
        </p:nvSpPr>
        <p:spPr>
          <a:xfrm>
            <a:off x="438912" y="2752344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Text 26"/>
          <p:cNvSpPr/>
          <p:nvPr/>
        </p:nvSpPr>
        <p:spPr>
          <a:xfrm>
            <a:off x="438912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27249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Edit Domain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6153" y="2983073"/>
            <a:ext cx="3355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"Edit Domain" untuk mengubah nama variabel atau label kelas. Ini berguna untuk membuat visualisasi lebih mudah dibaca.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26280" y="2633472"/>
            <a:ext cx="4069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2" name="Shape 30"/>
          <p:cNvSpPr/>
          <p:nvPr/>
        </p:nvSpPr>
        <p:spPr>
          <a:xfrm>
            <a:off x="4645152" y="2752344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3" name="Text 31"/>
          <p:cNvSpPr/>
          <p:nvPr/>
        </p:nvSpPr>
        <p:spPr>
          <a:xfrm>
            <a:off x="4645152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120640" y="27249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Sampling &amp; Randomize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20640" y="29900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"Data Sampler" → atur proporsi 70:30 untuk training/testing. Aktifkan "Randomize" agar data tidak terurut berdasarkan kelas.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3547872"/>
            <a:ext cx="4069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7" name="Shape 35"/>
          <p:cNvSpPr/>
          <p:nvPr/>
        </p:nvSpPr>
        <p:spPr>
          <a:xfrm>
            <a:off x="438912" y="3666744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8" name="Text 36"/>
          <p:cNvSpPr/>
          <p:nvPr/>
        </p:nvSpPr>
        <p:spPr>
          <a:xfrm>
            <a:off x="438912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14400" y="36393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Verifikasi Hasil Preprocessing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4400" y="38490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Sambungkan setiap output preprocessing ke "Data Table" dan "Feature Statistics" untuk memverifikasi bahwa data sudah berubah sesuai harapan.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26280" y="3547872"/>
            <a:ext cx="4069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2" name="Shape 40"/>
          <p:cNvSpPr/>
          <p:nvPr/>
        </p:nvSpPr>
        <p:spPr>
          <a:xfrm>
            <a:off x="4645152" y="3666744"/>
            <a:ext cx="384048" cy="384048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3" name="Text 41"/>
          <p:cNvSpPr/>
          <p:nvPr/>
        </p:nvSpPr>
        <p:spPr>
          <a:xfrm>
            <a:off x="4645152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120640" y="36393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Simpan Pipeline Orange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120640" y="3895344"/>
            <a:ext cx="3315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workflow Orange (.ows) Anda — ini adalah "pipeline" preprocessing yang dapat digunakan ulang untuk data serupa di masa mendatang.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Metrik Evaluasi Model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3657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Mengukur Performa Model Machine Learning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(evaluation metrics) adalah ukuran kuantitatif yang digunakan untuk menilai seberapa baik suatu model dalam membuat prediksi.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53312"/>
            <a:ext cx="41605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🔵  Metrik Klasifikasi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828800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64008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438912" y="18928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21305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(TP+TN) / Total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31720" y="189280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Proporsi prediksi benar dari seluruh prediksi. Cocok untuk data seimbang.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542032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320040" y="2542032"/>
            <a:ext cx="64008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438912" y="2606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" y="28437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(TP+FP)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6060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semua yang diprediksi positif, berapa yang benar-benar positif?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255264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0" name="Shape 18"/>
          <p:cNvSpPr/>
          <p:nvPr/>
        </p:nvSpPr>
        <p:spPr>
          <a:xfrm>
            <a:off x="320040" y="3255264"/>
            <a:ext cx="64008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438912" y="33192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8912" y="355701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(TP+FN)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331720" y="331927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semua yang sebenarnya positif, berapa yang berhasil ditemukan?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968496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5" name="Shape 23"/>
          <p:cNvSpPr/>
          <p:nvPr/>
        </p:nvSpPr>
        <p:spPr>
          <a:xfrm>
            <a:off x="320040" y="3968496"/>
            <a:ext cx="64008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438912" y="40325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F1-Score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8912" y="42702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(P × R) / (P + R)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331720" y="403250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harmonik Precision &amp; Recall. Ideal untuk data tidak seimbang.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1353312"/>
            <a:ext cx="4160520" cy="384048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0" name="Text 28"/>
          <p:cNvSpPr/>
          <p:nvPr/>
        </p:nvSpPr>
        <p:spPr>
          <a:xfrm>
            <a:off x="4800600" y="13716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🟠  Metrik Regresi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663440" y="1828800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2" name="Shape 30"/>
          <p:cNvSpPr/>
          <p:nvPr/>
        </p:nvSpPr>
        <p:spPr>
          <a:xfrm>
            <a:off x="4663440" y="1828800"/>
            <a:ext cx="64008" cy="658368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3" name="Text 31"/>
          <p:cNvSpPr/>
          <p:nvPr/>
        </p:nvSpPr>
        <p:spPr>
          <a:xfrm>
            <a:off x="4782312" y="18928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6E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82312" y="21305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Σ|y_actual − y_pred| / 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55080" y="189280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selisih absolut antara nilai aktual dan prediksi. Mudah diinterpretasikan.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2542032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7" name="Shape 35"/>
          <p:cNvSpPr/>
          <p:nvPr/>
        </p:nvSpPr>
        <p:spPr>
          <a:xfrm>
            <a:off x="4663440" y="2542032"/>
            <a:ext cx="64008" cy="658368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8" name="Text 36"/>
          <p:cNvSpPr/>
          <p:nvPr/>
        </p:nvSpPr>
        <p:spPr>
          <a:xfrm>
            <a:off x="4782312" y="2606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6E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RMSE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82312" y="28437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√(Σ(y_actual − y_pred)² / n)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55080" y="26060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Akar kuadrat rata-rata error kuadrat. Sensitif terhadap outlier.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63440" y="3255264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2" name="Shape 40"/>
          <p:cNvSpPr/>
          <p:nvPr/>
        </p:nvSpPr>
        <p:spPr>
          <a:xfrm>
            <a:off x="4663440" y="3255264"/>
            <a:ext cx="64008" cy="658368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3" name="Text 41"/>
          <p:cNvSpPr/>
          <p:nvPr/>
        </p:nvSpPr>
        <p:spPr>
          <a:xfrm>
            <a:off x="4782312" y="33192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6E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R²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782312" y="355701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(SS_res / SS_tot)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355080" y="331927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Proporsi variansi data yang dijelaskan model. Nilai 1 = sempurna.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20040" y="472744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Dataset → masalah klasifikasi → gunakan Accuracy, Precision, Recall, dan F1-Score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Statistical Test (Uji Statistik)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3657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Perbedaan Antargrup secara Statistik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statistik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dilakukan untuk mengetahui apakah terdapat perbedaan yang signifikan secara statistik dari sampel yang </a:t>
            </a:r>
            <a:r>
              <a:rPr lang="en-US" sz="13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diamati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hanya perbedaan kebetulan.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85039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 sz="1600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82296" cy="11155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531855" y="14538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Uji Normalitas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1855" y="173736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 digunakan: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10512" y="17373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Digunakan sebelum uji parametrik untuk memeriksa apakah data berdistribusi normal.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1855" y="19568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uji: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10512" y="195681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uji Shapiro-Wilk (n &lt; 50) atau Kolmogorov-Smirnov (n ≥ 50).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1855" y="21854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Interpretasi: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10512" y="218541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p-value &gt; 0.05 → data normal → lanjut ke uji parametrik (ANOVA, t-test).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624328"/>
            <a:ext cx="85039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7" name="Shape 15"/>
          <p:cNvSpPr/>
          <p:nvPr/>
        </p:nvSpPr>
        <p:spPr>
          <a:xfrm>
            <a:off x="320040" y="2624328"/>
            <a:ext cx="82296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475488" y="26883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Uji Homogenitas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" y="29718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 digunakan: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10512" y="297180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Memeriksa apakah variansi antargrup yang dibandingkan relatif sama (homogen).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" y="31912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uji: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10512" y="31912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uji Levene atau Bartlett sebelum ANOVA.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" y="34198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Interpretasi: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10512" y="34198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p-value &gt; 0.05 → variansi homogen → asumsi ANOVA terpenuhi.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858768"/>
            <a:ext cx="85039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6" name="Shape 24"/>
          <p:cNvSpPr/>
          <p:nvPr/>
        </p:nvSpPr>
        <p:spPr>
          <a:xfrm>
            <a:off x="320040" y="3858768"/>
            <a:ext cx="82296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Text 25"/>
          <p:cNvSpPr/>
          <p:nvPr/>
        </p:nvSpPr>
        <p:spPr>
          <a:xfrm>
            <a:off x="475488" y="39227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ANOVA (Analysis of Variance)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5488" y="42062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 digunakan: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810512" y="42062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Membandingkan rata-rata tiga atau lebih kelompok sekaligus secara simultan.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5488" y="44256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uji: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10512" y="442569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F-statistic: rasio variansi antargrup vs. variansi dalam grup.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5488" y="46542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Interpretasi: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810512" y="465429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p-value &lt; 0.05 → ada minimal satu pasang kelompok yang berbeda signifikan.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4150" y="3657600"/>
            <a:ext cx="7814113" cy="2560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Dalam konteks Iris Dataset: ANOVA satu arah dapat digunakan untuk menguji apakah rata-rata petal length berbeda signifikan di antara ketiga spesies.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Confusion Matrix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3657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Membaca Hasil Klasifikasi secara Detail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544631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adalah tabel yang merangkum hasil prediksi model supervised learning, membandingkan kelas aktual dengan kelas yang diprediksi.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84048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1417320" y="138988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POSITIVE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834640" y="138988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NEGATIVE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371600" y="1371600"/>
            <a:ext cx="288036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1371600" y="139903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Class →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1755648"/>
            <a:ext cx="91440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475488" y="1874520"/>
            <a:ext cx="8778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POSITIF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172968"/>
            <a:ext cx="91440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475488" y="3291840"/>
            <a:ext cx="87782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NEGATIF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371600" y="1755648"/>
            <a:ext cx="1417320" cy="1417320"/>
          </a:xfrm>
          <a:prstGeom prst="rect">
            <a:avLst/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1371600" y="19202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TP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371600" y="24688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(Benar Positif)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88920" y="1755648"/>
            <a:ext cx="1463040" cy="141732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2788920" y="1920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FP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788920" y="246888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(Error Tipe I)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371600" y="3172968"/>
            <a:ext cx="1417320" cy="137160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Text 21"/>
          <p:cNvSpPr/>
          <p:nvPr/>
        </p:nvSpPr>
        <p:spPr>
          <a:xfrm>
            <a:off x="1371600" y="33375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FN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371600" y="38862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(Error Tipe II)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88920" y="3172968"/>
            <a:ext cx="1463040" cy="1371600"/>
          </a:xfrm>
          <a:prstGeom prst="rect">
            <a:avLst/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2788920" y="3337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TN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2788920" y="38862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(Benar Negatif)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44568" y="102412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Metrik yang Diturunkan dari CM: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44568" y="1472184"/>
            <a:ext cx="4251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0" name="Shape 28"/>
          <p:cNvSpPr/>
          <p:nvPr/>
        </p:nvSpPr>
        <p:spPr>
          <a:xfrm>
            <a:off x="4544568" y="1472184"/>
            <a:ext cx="64008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1" name="Text 29"/>
          <p:cNvSpPr/>
          <p:nvPr/>
        </p:nvSpPr>
        <p:spPr>
          <a:xfrm>
            <a:off x="4663440" y="15361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63440" y="178308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(TP + TN) / (TP + FP + FN + TN)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63440" y="200253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Proporsi prediksi yang benar secara keseluruhan.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44568" y="2368296"/>
            <a:ext cx="4251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5" name="Shape 33"/>
          <p:cNvSpPr/>
          <p:nvPr/>
        </p:nvSpPr>
        <p:spPr>
          <a:xfrm>
            <a:off x="4544568" y="2368296"/>
            <a:ext cx="64008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6" name="Text 34"/>
          <p:cNvSpPr/>
          <p:nvPr/>
        </p:nvSpPr>
        <p:spPr>
          <a:xfrm>
            <a:off x="4663440" y="2432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663440" y="267919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 + FP)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63440" y="289864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Ketepatan model saat memprediksi positif.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44568" y="3264408"/>
            <a:ext cx="4251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0" name="Shape 38"/>
          <p:cNvSpPr/>
          <p:nvPr/>
        </p:nvSpPr>
        <p:spPr>
          <a:xfrm>
            <a:off x="4544568" y="3264408"/>
            <a:ext cx="64008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1" name="Text 39"/>
          <p:cNvSpPr/>
          <p:nvPr/>
        </p:nvSpPr>
        <p:spPr>
          <a:xfrm>
            <a:off x="4663440" y="33284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663440" y="3575304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 + FN)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663440" y="379476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Kemampuan model menemukan semua kasus positif.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44568" y="4160520"/>
            <a:ext cx="4251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5" name="Shape 43"/>
          <p:cNvSpPr/>
          <p:nvPr/>
        </p:nvSpPr>
        <p:spPr>
          <a:xfrm>
            <a:off x="4544568" y="4160520"/>
            <a:ext cx="64008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6" name="Text 44"/>
          <p:cNvSpPr/>
          <p:nvPr/>
        </p:nvSpPr>
        <p:spPr>
          <a:xfrm>
            <a:off x="4663440" y="42245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F1-Score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663440" y="447141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(Precision × Recall) / (P+R)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663440" y="469087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Keseimbangan antara Precision dan Recall.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Proses Data Mining: Klasifikasi KNN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3657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Alur: Load Data → Evaluasi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(KNN) adalah algoritma klasifikasi sederhana yang mengklasifikasikan data baru berdasarkan kesamaannya dengan K data terdekat.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126187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1261872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274320" y="132588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792" y="1344168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Data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810512"/>
            <a:ext cx="1049681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Muat dataset Iris (150 obs, 4 fitur, 3 kelas) ke dalam Orange menggunakan widget File.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536192" y="2286000"/>
            <a:ext cx="73152" cy="502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Shape 11"/>
          <p:cNvSpPr/>
          <p:nvPr/>
        </p:nvSpPr>
        <p:spPr>
          <a:xfrm>
            <a:off x="1609344" y="1325880"/>
            <a:ext cx="126187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4" name="Shape 12"/>
          <p:cNvSpPr/>
          <p:nvPr/>
        </p:nvSpPr>
        <p:spPr>
          <a:xfrm>
            <a:off x="1609344" y="1325880"/>
            <a:ext cx="1261872" cy="420624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1609344" y="132588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56816" y="1344168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Split Data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00784" y="1810512"/>
            <a:ext cx="1049681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Pisahkan data menjadi Training Set (70%) dan Testing Set (30%) menggunakan Data Sampler.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871216" y="2286000"/>
            <a:ext cx="73152" cy="502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Shape 17"/>
          <p:cNvSpPr/>
          <p:nvPr/>
        </p:nvSpPr>
        <p:spPr>
          <a:xfrm>
            <a:off x="2944368" y="1325880"/>
            <a:ext cx="126187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0" name="Shape 18"/>
          <p:cNvSpPr/>
          <p:nvPr/>
        </p:nvSpPr>
        <p:spPr>
          <a:xfrm>
            <a:off x="2944368" y="1325880"/>
            <a:ext cx="1261872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2944368" y="132588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91840" y="1344168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Features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35808" y="1810512"/>
            <a:ext cx="1049681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Normalisasi keempat fitur ke skala 0–1 agar jarak KNN tidak didominasi fitur dengan nilai besar.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06240" y="2286000"/>
            <a:ext cx="73152" cy="502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Shape 23"/>
          <p:cNvSpPr/>
          <p:nvPr/>
        </p:nvSpPr>
        <p:spPr>
          <a:xfrm>
            <a:off x="4279392" y="1325880"/>
            <a:ext cx="126187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6" name="Shape 24"/>
          <p:cNvSpPr/>
          <p:nvPr/>
        </p:nvSpPr>
        <p:spPr>
          <a:xfrm>
            <a:off x="4279392" y="1325880"/>
            <a:ext cx="1261872" cy="4206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Text 25"/>
          <p:cNvSpPr/>
          <p:nvPr/>
        </p:nvSpPr>
        <p:spPr>
          <a:xfrm>
            <a:off x="4279392" y="132588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26864" y="1344168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70832" y="1810512"/>
            <a:ext cx="1049681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Hubungkan ke widget KNN → atur K (default: 5) → KNN menghitung jarak Euclidean ke K tetangga terdekat.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41264" y="2286000"/>
            <a:ext cx="73152" cy="502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1" name="Shape 29"/>
          <p:cNvSpPr/>
          <p:nvPr/>
        </p:nvSpPr>
        <p:spPr>
          <a:xfrm>
            <a:off x="5614416" y="1325880"/>
            <a:ext cx="126187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2" name="Shape 30"/>
          <p:cNvSpPr/>
          <p:nvPr/>
        </p:nvSpPr>
        <p:spPr>
          <a:xfrm>
            <a:off x="5614416" y="1325880"/>
            <a:ext cx="1261872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3" name="Text 31"/>
          <p:cNvSpPr/>
          <p:nvPr/>
        </p:nvSpPr>
        <p:spPr>
          <a:xfrm>
            <a:off x="5614416" y="132588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961888" y="1344168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705856" y="1810512"/>
            <a:ext cx="1049681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widget Predictions → masukkan data testing → lihat prediksi kelas untuk setiap observasi.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876288" y="2286000"/>
            <a:ext cx="73152" cy="502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7" name="Shape 35"/>
          <p:cNvSpPr/>
          <p:nvPr/>
        </p:nvSpPr>
        <p:spPr>
          <a:xfrm>
            <a:off x="6949440" y="1325880"/>
            <a:ext cx="126187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8" name="Shape 36"/>
          <p:cNvSpPr/>
          <p:nvPr/>
        </p:nvSpPr>
        <p:spPr>
          <a:xfrm>
            <a:off x="6949440" y="1325880"/>
            <a:ext cx="1261872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9" name="Text 37"/>
          <p:cNvSpPr/>
          <p:nvPr/>
        </p:nvSpPr>
        <p:spPr>
          <a:xfrm>
            <a:off x="6949440" y="132588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296912" y="1344168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Confusion Matrix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040880" y="1810512"/>
            <a:ext cx="1049681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Hubungkan ke widget Confusion Matrix → baca nilai TP, FP, FN, TN → hitung Accuracy, Precision, Recall, F1.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" y="4389120"/>
            <a:ext cx="8503920" cy="548640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3" name="Text 41"/>
          <p:cNvSpPr/>
          <p:nvPr/>
        </p:nvSpPr>
        <p:spPr>
          <a:xfrm>
            <a:off x="457200" y="441655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Akurasi Iris dengan KNN: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Umumnya &gt; 95% dengan K=5. Jika lebih rendah, periksa preprocessing (normalisasi) atau coba nilai K yang berbeda (K=3 atau K=7).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Langkah KNN di Orange: Panduan Praktik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748007" y="15595"/>
            <a:ext cx="71705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Load Data hingga Confusion Matrix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438912" y="923544"/>
            <a:ext cx="384048" cy="38404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438912" y="923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8961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Buka Orange dan Load Iris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1832" y="1216152"/>
            <a:ext cx="3355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widget → cari dataset "iris" di bawaan Orange atau upload iris.csv. Periksa 150 baris, 5 kolom (4 fitur + 1 kelas).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26280" y="804672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2" name="Shape 10"/>
          <p:cNvSpPr/>
          <p:nvPr/>
        </p:nvSpPr>
        <p:spPr>
          <a:xfrm>
            <a:off x="4645152" y="923544"/>
            <a:ext cx="384048" cy="384048"/>
          </a:xfrm>
          <a:prstGeom prst="ellipse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4645152" y="923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20640" y="8961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Sampler (70:30)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48072" y="1216152"/>
            <a:ext cx="3355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"Data Sampler" → atur ke 70% training. Aktifkan "Replicable (fixed seed)" agar hasil konsisten. Hubungkan ke File.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1673352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7" name="Shape 15"/>
          <p:cNvSpPr/>
          <p:nvPr/>
        </p:nvSpPr>
        <p:spPr>
          <a:xfrm>
            <a:off x="438912" y="1792224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438912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17647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Normalize Fitur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41832" y="2084832"/>
            <a:ext cx="3355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"Preprocess" atau "Normalize" widget → pilih "Normalize features" → method: "Normalize to [0,1]". Hubungkan output ke KNN.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26280" y="1673352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2" name="Shape 20"/>
          <p:cNvSpPr/>
          <p:nvPr/>
        </p:nvSpPr>
        <p:spPr>
          <a:xfrm>
            <a:off x="4645152" y="1792224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Text 21"/>
          <p:cNvSpPr/>
          <p:nvPr/>
        </p:nvSpPr>
        <p:spPr>
          <a:xfrm>
            <a:off x="4645152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20640" y="17647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Konfigurasi KNN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48072" y="2084832"/>
            <a:ext cx="3355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widget "kNN" → atur Number of Neighbors = 5 → Metric: Euclidean → hubungkan data training dari Data Sampler.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2542032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7" name="Shape 25"/>
          <p:cNvSpPr/>
          <p:nvPr/>
        </p:nvSpPr>
        <p:spPr>
          <a:xfrm>
            <a:off x="438912" y="2660904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Text 26"/>
          <p:cNvSpPr/>
          <p:nvPr/>
        </p:nvSpPr>
        <p:spPr>
          <a:xfrm>
            <a:off x="438912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26334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Predictions Widget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41832" y="2953512"/>
            <a:ext cx="3355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"Predictions" widget → input: (1) model KNN, (2) data testing (30%) dari Data Sampler → widget akan menampilkan prediksi kelas.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26280" y="2542032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2" name="Shape 30"/>
          <p:cNvSpPr/>
          <p:nvPr/>
        </p:nvSpPr>
        <p:spPr>
          <a:xfrm>
            <a:off x="4645152" y="2660904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3" name="Text 31"/>
          <p:cNvSpPr/>
          <p:nvPr/>
        </p:nvSpPr>
        <p:spPr>
          <a:xfrm>
            <a:off x="4645152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120640" y="26334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Confusion Matrix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48072" y="2953512"/>
            <a:ext cx="3355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"Confusion Matrix" widget → hubungkan dari Predictions → amati sel TP, FP, FN, TN → cek tab Summary untuk Accuracy, F1.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3410712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7" name="Shape 35"/>
          <p:cNvSpPr/>
          <p:nvPr/>
        </p:nvSpPr>
        <p:spPr>
          <a:xfrm>
            <a:off x="438912" y="3529584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8" name="Text 36"/>
          <p:cNvSpPr/>
          <p:nvPr/>
        </p:nvSpPr>
        <p:spPr>
          <a:xfrm>
            <a:off x="438912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14400" y="35021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Evaluasi &amp; Tuning K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41832" y="3822192"/>
            <a:ext cx="3355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Coba ubah K = 1, 3, 5, 7, 11 → bandingkan akurasi di setiap konfigurasi. Catat nilai K yang menghasilkan akurasi tertinggi.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26280" y="3410712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2" name="Shape 40"/>
          <p:cNvSpPr/>
          <p:nvPr/>
        </p:nvSpPr>
        <p:spPr>
          <a:xfrm>
            <a:off x="4645152" y="3529584"/>
            <a:ext cx="384048" cy="384048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3" name="Text 41"/>
          <p:cNvSpPr/>
          <p:nvPr/>
        </p:nvSpPr>
        <p:spPr>
          <a:xfrm>
            <a:off x="4645152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120640" y="35021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Interpretasi Hasil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148072" y="3822192"/>
            <a:ext cx="3355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Diskusikan: Spesies mana yang paling sering salah diklasifikasikan? Mengapa? Apakah sesuai dengan temuan EDA (scatter plot)?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Interpretasi Hasil dan Diskusi Kelas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28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Menghubungkan EDA dengan Hasil Modeling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menjalankan EDA dan KNN, diskusikan pertanyaan-pertanyaan berikut bersama kelompok: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7158" y="1331015"/>
            <a:ext cx="8503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82296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Shape 7"/>
          <p:cNvSpPr/>
          <p:nvPr/>
        </p:nvSpPr>
        <p:spPr>
          <a:xfrm>
            <a:off x="577512" y="1552194"/>
            <a:ext cx="292608" cy="2926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577512" y="155219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63585" y="1353312"/>
            <a:ext cx="6824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Apakah temuan EDA konsisten dengan hasil klasifikasi KNN?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63585" y="1664208"/>
            <a:ext cx="68248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Iris Setosa mudah diklasifikasikan (terlihat dari scatter plot). Apakah akurasi untuk Setosa mendekati 100%? Apakah Versicolor dan Virginica memiliki error lebih tinggi?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7158" y="2263703"/>
            <a:ext cx="8503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4" name="Shape 12"/>
          <p:cNvSpPr/>
          <p:nvPr/>
        </p:nvSpPr>
        <p:spPr>
          <a:xfrm>
            <a:off x="320040" y="2231136"/>
            <a:ext cx="82296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577512" y="2452878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577512" y="245287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6695" y="2292889"/>
            <a:ext cx="76432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Mengapa normalisasi fitur penting sebelum menjalankan KNN?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6695" y="2603785"/>
            <a:ext cx="764325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Coba bandingkan akurasi KNN dengan data yang belum dinormalisasi vs. yang sudah. Jika tidak dinormalisasi, fitur dengan skala besar mendominasi perhitungan jarak Euclidean.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7158" y="3196391"/>
            <a:ext cx="8503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0" name="Shape 18"/>
          <p:cNvSpPr/>
          <p:nvPr/>
        </p:nvSpPr>
        <p:spPr>
          <a:xfrm>
            <a:off x="320040" y="3163824"/>
            <a:ext cx="82296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Shape 19"/>
          <p:cNvSpPr/>
          <p:nvPr/>
        </p:nvSpPr>
        <p:spPr>
          <a:xfrm>
            <a:off x="577512" y="3364992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Text 20"/>
          <p:cNvSpPr/>
          <p:nvPr/>
        </p:nvSpPr>
        <p:spPr>
          <a:xfrm>
            <a:off x="577512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63585" y="3233093"/>
            <a:ext cx="7623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Fitur mana yang paling informatif untuk klasifikasi spesies Iris?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63585" y="3543989"/>
            <a:ext cx="76232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hasil Rank widget dan Scatter Plot. Biasanya petal length dan petal width memiliki rank tertinggi. Ini disebut 'feature importance'.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7158" y="4129079"/>
            <a:ext cx="8503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6" name="Shape 24"/>
          <p:cNvSpPr/>
          <p:nvPr/>
        </p:nvSpPr>
        <p:spPr>
          <a:xfrm>
            <a:off x="320040" y="4096512"/>
            <a:ext cx="82296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Shape 25"/>
          <p:cNvSpPr/>
          <p:nvPr/>
        </p:nvSpPr>
        <p:spPr>
          <a:xfrm>
            <a:off x="595174" y="4283025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Text 26"/>
          <p:cNvSpPr/>
          <p:nvPr/>
        </p:nvSpPr>
        <p:spPr>
          <a:xfrm>
            <a:off x="595174" y="428302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63585" y="4110917"/>
            <a:ext cx="7550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Bagaimana nilai K mempengaruhi bias-variance tradeoff model KNN?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63585" y="4421813"/>
            <a:ext cx="79074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kecil (K=1) → low bias, high variance (overfitting). K besar → high bias, low variance (underfitting). K optimal biasanya </a:t>
            </a:r>
            <a:r>
              <a:rPr lang="en-US" sz="10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ditemukan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cross-validation.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4754880"/>
            <a:ext cx="850392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2" name="Text 30"/>
          <p:cNvSpPr/>
          <p:nvPr/>
        </p:nvSpPr>
        <p:spPr>
          <a:xfrm>
            <a:off x="457200" y="47731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adalah proses memahami data sebelum Anda mempercayakan keputusan pada sebuah model.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Rangkuman TM 4:  Eksplorasi Data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3657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6400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466344" y="877824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🔁  Data Mining adalah Proses Berulang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8180" y="1186966"/>
            <a:ext cx="3384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dari data mentah </a:t>
            </a:r>
            <a:r>
              <a:rPr lang="en-US" sz="10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hingga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knowledge, setiap tahap dapat diiterasi sesuai kebutuhan analisis.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26280" y="804672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4526280" y="804672"/>
            <a:ext cx="6400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4672584" y="877824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EDA Wajib Sebelum Modeling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54420" y="1186966"/>
            <a:ext cx="3384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membantu memahami data, mendeteksi anomali, dan menentukan strategi preprocessing yang tepat.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856232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320040" y="1856232"/>
            <a:ext cx="6400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466344" y="1929384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🧹  Preprocessing Menentukan Kualitas Model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8180" y="2238526"/>
            <a:ext cx="3384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"garbage in, garbage out" </a:t>
            </a:r>
            <a:r>
              <a:rPr lang="en-US" sz="10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berlaku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ketat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data yang kotor akan menghasilkan model yang tidak andal.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26280" y="1856232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9" name="Shape 17"/>
          <p:cNvSpPr/>
          <p:nvPr/>
        </p:nvSpPr>
        <p:spPr>
          <a:xfrm>
            <a:off x="4526280" y="1856232"/>
            <a:ext cx="6400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4672584" y="1929384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📐  Metrik adalah Bahasa Evaluasi Model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54420" y="2238526"/>
            <a:ext cx="3384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saja </a:t>
            </a:r>
            <a:r>
              <a:rPr lang="en-US" sz="10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cukup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Precision, Recall, F1-Score, dan Confusion Matrix memberikan gambaran lebih lengkap.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907792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3" name="Shape 21"/>
          <p:cNvSpPr/>
          <p:nvPr/>
        </p:nvSpPr>
        <p:spPr>
          <a:xfrm>
            <a:off x="320040" y="2907792"/>
            <a:ext cx="6400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/>
          <p:nvPr/>
        </p:nvSpPr>
        <p:spPr>
          <a:xfrm>
            <a:off x="466344" y="2980944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KNN: Sederhana tapi Efektif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8180" y="3290086"/>
            <a:ext cx="3384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bekerja dengan logika kemiripan (jarak). Normalisasi fitur dan pemilihan K yang tepat sangat menentukan hasilnya.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26280" y="2907792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7" name="Shape 25"/>
          <p:cNvSpPr/>
          <p:nvPr/>
        </p:nvSpPr>
        <p:spPr>
          <a:xfrm>
            <a:off x="4526280" y="2907792"/>
            <a:ext cx="6400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Text 26"/>
          <p:cNvSpPr/>
          <p:nvPr/>
        </p:nvSpPr>
        <p:spPr>
          <a:xfrm>
            <a:off x="4672584" y="2980944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🛠️  Orange: Data Mining Tanpa Coding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54420" y="3290086"/>
            <a:ext cx="3384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memungkinkan eksplorasi data dan pemodelan </a:t>
            </a:r>
            <a:r>
              <a:rPr lang="en-US" sz="10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secara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visual, cocok untuk pemula dan eksplorasi cepat.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736592"/>
            <a:ext cx="85039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1" name="Text 29"/>
          <p:cNvSpPr/>
          <p:nvPr/>
        </p:nvSpPr>
        <p:spPr>
          <a:xfrm>
            <a:off x="45720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5 Preview: Supervised Learning — Decision Tree &amp; Random Forest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7772400" y="2743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8001000" y="2743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Shape 4"/>
          <p:cNvSpPr/>
          <p:nvPr/>
        </p:nvSpPr>
        <p:spPr>
          <a:xfrm>
            <a:off x="8229600" y="2743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8458200" y="2743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Shape 6"/>
          <p:cNvSpPr/>
          <p:nvPr/>
        </p:nvSpPr>
        <p:spPr>
          <a:xfrm>
            <a:off x="8686800" y="2743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Shape 7"/>
          <p:cNvSpPr/>
          <p:nvPr/>
        </p:nvSpPr>
        <p:spPr>
          <a:xfrm>
            <a:off x="7772400" y="5029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Shape 8"/>
          <p:cNvSpPr/>
          <p:nvPr/>
        </p:nvSpPr>
        <p:spPr>
          <a:xfrm>
            <a:off x="8001000" y="5029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8229600" y="5029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Shape 10"/>
          <p:cNvSpPr/>
          <p:nvPr/>
        </p:nvSpPr>
        <p:spPr>
          <a:xfrm>
            <a:off x="8458200" y="5029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Shape 11"/>
          <p:cNvSpPr/>
          <p:nvPr/>
        </p:nvSpPr>
        <p:spPr>
          <a:xfrm>
            <a:off x="8686800" y="5029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Shape 12"/>
          <p:cNvSpPr/>
          <p:nvPr/>
        </p:nvSpPr>
        <p:spPr>
          <a:xfrm>
            <a:off x="7772400" y="7315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8001000" y="7315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Shape 14"/>
          <p:cNvSpPr/>
          <p:nvPr/>
        </p:nvSpPr>
        <p:spPr>
          <a:xfrm>
            <a:off x="8229600" y="7315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Shape 15"/>
          <p:cNvSpPr/>
          <p:nvPr/>
        </p:nvSpPr>
        <p:spPr>
          <a:xfrm>
            <a:off x="8458200" y="7315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Shape 16"/>
          <p:cNvSpPr/>
          <p:nvPr/>
        </p:nvSpPr>
        <p:spPr>
          <a:xfrm>
            <a:off x="8686800" y="7315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Shape 17"/>
          <p:cNvSpPr/>
          <p:nvPr/>
        </p:nvSpPr>
        <p:spPr>
          <a:xfrm>
            <a:off x="7772400" y="9601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Shape 18"/>
          <p:cNvSpPr/>
          <p:nvPr/>
        </p:nvSpPr>
        <p:spPr>
          <a:xfrm>
            <a:off x="8001000" y="9601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Shape 19"/>
          <p:cNvSpPr/>
          <p:nvPr/>
        </p:nvSpPr>
        <p:spPr>
          <a:xfrm>
            <a:off x="8229600" y="9601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Shape 20"/>
          <p:cNvSpPr/>
          <p:nvPr/>
        </p:nvSpPr>
        <p:spPr>
          <a:xfrm>
            <a:off x="8458200" y="9601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Shape 21"/>
          <p:cNvSpPr/>
          <p:nvPr/>
        </p:nvSpPr>
        <p:spPr>
          <a:xfrm>
            <a:off x="8686800" y="9601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Shape 22"/>
          <p:cNvSpPr/>
          <p:nvPr/>
        </p:nvSpPr>
        <p:spPr>
          <a:xfrm>
            <a:off x="7772400" y="11887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Shape 23"/>
          <p:cNvSpPr/>
          <p:nvPr/>
        </p:nvSpPr>
        <p:spPr>
          <a:xfrm>
            <a:off x="8001000" y="11887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Shape 24"/>
          <p:cNvSpPr/>
          <p:nvPr/>
        </p:nvSpPr>
        <p:spPr>
          <a:xfrm>
            <a:off x="8229600" y="11887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Shape 25"/>
          <p:cNvSpPr/>
          <p:nvPr/>
        </p:nvSpPr>
        <p:spPr>
          <a:xfrm>
            <a:off x="8458200" y="11887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Shape 26"/>
          <p:cNvSpPr/>
          <p:nvPr/>
        </p:nvSpPr>
        <p:spPr>
          <a:xfrm>
            <a:off x="8686800" y="118872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Text 27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 err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Tugas</a:t>
            </a:r>
            <a:r>
              <a:rPr lang="en-US" sz="1600" b="1" kern="0" spc="4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Latihan </a:t>
            </a:r>
            <a:r>
              <a:rPr lang="en-US" sz="1600" b="1" kern="0" spc="400" dirty="0" err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Mandiri</a:t>
            </a:r>
            <a:r>
              <a:rPr lang="en-US" sz="1600" b="1" kern="0" spc="4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 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Sekarang Giliran Anda!</a:t>
            </a:r>
            <a:endParaRPr lang="en-US" sz="4400" dirty="0"/>
          </a:p>
        </p:txBody>
      </p:sp>
      <p:sp>
        <p:nvSpPr>
          <p:cNvPr id="31" name="Text 29"/>
          <p:cNvSpPr/>
          <p:nvPr/>
        </p:nvSpPr>
        <p:spPr>
          <a:xfrm>
            <a:off x="457200" y="21762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Buka Orange Data Mining di komputer masing-masing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57200" y="26517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1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Load Dataset Iris → eksplorasi EDA (scatter plot, distribusi, korelasi)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57200" y="31272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1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Lakukan preprocessing: normalisasi, select columns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57200" y="3602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1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Bangun model KNN (K=5) → lihat Confusion Matrix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57200" y="40782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1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Eksperimen: ubah K dan bandingkan akurasi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7" name="Text 35"/>
          <p:cNvSpPr/>
          <p:nvPr/>
        </p:nvSpPr>
        <p:spPr>
          <a:xfrm>
            <a:off x="502920" y="463600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Waktu: 45 menit  |  Kerjakan secara individual atau berpasangan  |  Siapkan screenshot hasil untuk presentasi singkat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3110</Words>
  <Application>Microsoft Office PowerPoint</Application>
  <PresentationFormat>On-screen Show (16:9)</PresentationFormat>
  <Paragraphs>456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TM 4 - Eksplorasi Data: Use Case Iris</dc:title>
  <dc:subject>PptxGenJS Presentation</dc:subject>
  <dc:creator>Donny</dc:creator>
  <cp:lastModifiedBy>Donny Maha Putra</cp:lastModifiedBy>
  <cp:revision>4</cp:revision>
  <dcterms:created xsi:type="dcterms:W3CDTF">2026-03-13T22:17:36Z</dcterms:created>
  <dcterms:modified xsi:type="dcterms:W3CDTF">2026-03-13T23:05:08Z</dcterms:modified>
</cp:coreProperties>
</file>