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14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9376D">
              <a:alpha val="50000"/>
            </a:srgbClr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/  SESI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Rules Mining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 Pola Tersembunyi dalam Transaksi: Support, Confidence, Lift, dan Interpretasinya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54864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Donny Maha Putra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Magister Akuntansi  ·  UPN Veteran Jakarta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67E8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sesi ini mahasiswa mampu mengidentifikasi, menginterpretasi, dan mengevaluasi aturan asosiasi dari output analitik.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9144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9377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06440" y="868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Memahami konsep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06440" y="13258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Menjelaskan definisi association rules dan struktur antecedent → consequent.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2860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2240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Menguasai metrik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6974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Menghitung dan membedakan Support, Confidence, Coverage, Lift, dan Leverage.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06440" y="3611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Menginterpretasi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06440" y="4069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output software (e.g., Orange, RapidMiner) secara kritis, bukan sekadar angka.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50292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93776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06440" y="4983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Menerapkan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06440" y="54406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hasil analisis dengan keputusan bisnis dan strategi pemasaran nyata.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Association Rules?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data mining untuk menemukan hubungan co-occurrence antar item dalam transaksi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91440" cy="43891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Rules Mining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Metode untuk mengidentifikasi pola "jika X, maka Y" dalam basis data transaksi, di mana kemunculan item X meningkatkan probabilitas kemunculan item 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Bentuk Umum Rule: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480560"/>
            <a:ext cx="4663440" cy="64008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7E8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Antecedent  →  Consequent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(Jika beli X, maka cenderung beli 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Intuitif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Keranjang Belanja Ibu Rumah Tangga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 Instan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Saos Sambal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268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93268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Bawang Merah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530352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64922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  Insight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892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 rules membantu retailer meletakkan produk, merancang bundling, dan mendesain promosi berbasis data — bukan intuisi.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Lima Metrik Kunci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rule dievaluasi dengan seperangkat metrik yang saling melengkapi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4884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1120140" y="2194560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1120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Seberapa sering rule muncul di seluruh transaksi.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148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2148840" cy="164592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406140" y="2194560"/>
            <a:ext cx="1005840" cy="100584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406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926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393192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Probabilitas Y terjadi ketika X sudah terjadi.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2148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2148840" cy="164592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5692140" y="2194560"/>
            <a:ext cx="1005840" cy="10058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5692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212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393192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Frekuensi munculnya antecedent secara independen.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2148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7406640" y="1737360"/>
            <a:ext cx="214884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7978140" y="2194560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7978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98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43800" y="393192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Kekuatan asosiasi aktual vs. ekspektasi acak.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2148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2148840" cy="164592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10264140" y="2194560"/>
            <a:ext cx="1005840" cy="100584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10264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Lv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784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Leverage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29800" y="393192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Selisih frekuensi aktual vs. frekuensi jika independen.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 Jangan pernah menilai satu rule hanya dari satu metrik. Kombinasi Support + Confidence + Lift memberi gambaran paling jujur.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 Seberapa Populer Rule Ini?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Rumus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Support(X→Y) = P(X ∩ Y)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(Transaksi berisi X dan Y) / (Total transaksi)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3716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Praktis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= 0.6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Artinya: rule ini muncul di 60% dari total transaksi (misal 3 dari 5 transaksi).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 Membaca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960120" y="37216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Tinggi (&gt;0.5)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721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sangat umum; polanya banyak ditemui pelanggan.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960120" y="4361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Sedang (0.2 – 0.5)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43616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cukup representatif; layak ditindaklanjuti.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60120" y="5001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Rendah (&lt;0.2)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5001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jarang muncul; bisa jadi anomali atau niche market.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Kata kunci:  "Seberapa sering"  —  Support menjawab pertanyaan frekuensi, bukan kekuatan asosiasi.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Confidence:  Seberapa Yakin Prediksi Kita?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Rumus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Confidence(X→Y) = P(Y | X)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Support(X ∩ Y) / Support(X)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3716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Praktis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= 1.00  (100%)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kali pelanggan membeli Beer, 100% juga membeli Diapers.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Analogi: Probabilitas Bersyarat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yang Dijawab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"Dari semua pelanggan yang beli X, berapa persen yang juga beli Y?"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mengukur reliabilitas rule — seberapa dapat diandalkan prediksi jika antecedent muncul.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303520" cy="2011680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73152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 Peringatan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tinggi belum tentu bermakna.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item Y memang sangat populer (muncul di hampir semua transaksi), Confidence akan otomatis tinggi tanpa ada asosiasi riil. Inilah sebabnya kita butuh Lift.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#3  ·  PALING PENTING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 </a:t>
            </a: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Wingdings" panose="05000000000000000000" pitchFamily="2" charset="2"/>
              </a:rPr>
              <a:t> </a:t>
            </a:r>
            <a:r>
              <a:rPr lang="en-US" sz="3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Apakah</a:t>
            </a: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Asosiasi Ini Nyata?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mengukur apakah kemunculan X dan Y bersama lebih sering dibanding jika keduanya independen (random).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Lift(X → Y) = </a:t>
            </a:r>
            <a:r>
              <a:rPr lang="en-US" sz="22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Confidence(X → Y) / Support(Y)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593592" cy="26517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59359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 &lt; 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Asosiasi Negatif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8463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jarang muncul bareng dari kebetulan. Rule tidak bermakna.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3383280"/>
            <a:ext cx="3593592" cy="2651760"/>
          </a:xfrm>
          <a:prstGeom prst="rect">
            <a:avLst/>
          </a:prstGeom>
          <a:solidFill>
            <a:srgbClr val="FED7A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279392" y="3383280"/>
            <a:ext cx="3593592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462272" y="3657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 = 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272" y="42976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07992" y="48463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ada hubungan. Kemunculan bersama murni kebetulan statistik.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0144" y="3383280"/>
            <a:ext cx="3593592" cy="2651760"/>
          </a:xfrm>
          <a:prstGeom prst="rect">
            <a:avLst/>
          </a:prstGeom>
          <a:solidFill>
            <a:srgbClr val="A7F3D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8010144" y="3383280"/>
            <a:ext cx="3593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8193024" y="3657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 &gt; 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93024" y="42976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Asosiasi Positif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38744" y="48463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sering muncul bareng. Inilah rule yang layak ditindaklanjuti.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  Rule of thumb: Lift &gt; 1.2 = layak dipertimbangkan untuk keputusan bisnis.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                                                                                                                 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#4 &amp; #5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 &amp; Leverage  Metrik Pendukung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Frekuensi Antecedent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Coverage(X→Y) = P(X) = Support(X)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Mengukur seberapa sering item antecedent (X) muncul di keseluruhan data, tanpa melihat apakah diikuti consequent.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937760"/>
            <a:ext cx="4937760" cy="109728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Coverage = 0.8 → item antecedent muncul di 80% transaksi. Makin tinggi, makin luas jangkauan rule.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394960" cy="109728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Selisih dari Ekspektasi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Leverage(X→Y) = P(X∩Y) − P(X)·P(Y)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3291840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44652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794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Mengukur selisih antara frekuensi aktual X∩Y dan frekuensi yang diharapkan jika keduanya independen.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937760"/>
            <a:ext cx="233172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Positif (+)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</a:t>
            </a:r>
            <a:r>
              <a:rPr lang="en-US" sz="11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asosiasi</a:t>
            </a: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positif</a:t>
            </a: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searah dengan Lift &gt; 1.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23960" y="4937760"/>
            <a:ext cx="233172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8869680" y="5029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Negatif (−)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1540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Asosiasi</a:t>
            </a: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negative,  searah dengan Lift &lt; 1.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Ringkasan Metrik &amp; Pertanyaan yang Dijawab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cheat sheet untuk membaca output software apa pun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95020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Metrik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Pertanyaan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Rentang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Kapan Dipakai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Support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Seberapa sering rule muncul?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– 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 awal rule populer vs. anomali.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Confidence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Seberapa yakin Y terjadi bila X sudah terjadi?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– 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Menilai reliabilitas prediksi.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Coverage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Seberapa sering antecedent muncul sendiri?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– 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Menilai jangkauan rule di populasi.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Lift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Apakah asosiasi lebih kuat dari kebetulan?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– ∞  (1 = netral)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Validasi utama: rule layak atau tidak.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Leverage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Berapa selisih frekuensi aktual vs. ekspektasi?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−0.25 sampai 0.25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Konfirmasi arah &amp; kekuatan asosiasi.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Hirarki evaluasi:  1) Lift &gt; 1   →   2) Confidence tinggi   →   3) Support cukup   →   4) Leverage positif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Membaca Output Orange / RapidMiner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klasik: 5 transaksi ritel berisi kombinasi Milk, Bread, Diapers, dan Beer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7432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Antecedent → Consequent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Leverage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Milk → Bread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−0.04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  Misleading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Milk, Diapers → Bread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0.833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−0.08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  Lemah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Beer → Diapers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★  Rule Emas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Diapers → Beer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 Kuat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Milk, Beer → Bread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  Support kecil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914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Pelajaran Kunci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#1 (Milk → Bread) terlihat "bagus" dengan Support 0.6 dan Confidence 0.75  namun Lift 0.938 &lt; 1 membongkar kenyataannya: dua item itu sekadar sama-sama populer, tidak ada asosiasi riil. Selalu validasi dengan Lift.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Emas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Legenda Klasik: Beer &amp; Diapers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10896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Pembeli Beer PASTI beli Diapers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03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10896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lebih sering bareng dari acak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03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10896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5212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Muncul di 60% transaksi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94960" cy="425196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CERITA DI BALIK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Bapak-bapak  +  Popok  =  Bir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Pada 1990-an, Walmart menemukan pola ini dalam data transaksi di kasir: bapak-bapak yang dikirim istri membeli popok pada malam hari sering sekaligus mengambil sekaleng bir untuk menemani akhir pekan.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434840"/>
            <a:ext cx="493776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Tindakan Bisnis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846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Tempatkan rak bir dekat popok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Buat bundling weekend promo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Personalisasi cross-sell di kasir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  Rule ini memenuhi semua kriteria: Lift &gt; 1.2, Confidence tinggi, Support memadai, dan Leverage positif.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Jebakan Interpretasi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Ketika Angka Tinggi Justru Menipu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TAMPAK MEYAKINKAN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Milk → Bread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Tinggi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Kelihatan oke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luas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5029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TETAPI  ·  Lift = 0.938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&lt; 1 berarti Milk dan Bread muncul bareng hanya karena masing-masing memang populer — bukan karena terkait. Rule ini tidak actionable.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39496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4008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PELAJARAN KUNCI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Selalu Uji dengan Lift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400800" y="303580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6400800" y="29992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&amp; Confidence tinggi ≠ rule bagus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67588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6400800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3566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&lt; 1 membatalkan kandidat rule, apa pun metrik lainnya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43159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6400800" y="42793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yang sama-sama populer akan otomatis punya Confidence tinggi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495604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6400800" y="49194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Lift untuk memisahkan 'sering bareng' dari 'benar-benar terkait'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Evaluasi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 Kritis Membaca Ratusan Rule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software biasanya menghasilkan puluhan hingga </a:t>
            </a:r>
            <a:r>
              <a:rPr lang="en-US" sz="1400" i="1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ratusan</a:t>
            </a:r>
            <a:r>
              <a:rPr lang="en-US" sz="14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rule,  gunakan hirarki ini untuk menyaring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60604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9144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 Lift &gt;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wajib. Buang semua rule dengan Lift ≤ 1 karena tidak ada asosiasi riil.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342900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914400" cy="6858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Prioritaskan Lift &gt; 1.2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dengan Lift mendekati 1 cenderung lemah. Threshold 1.2 umum dipakai peneliti.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25196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9144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Cek Confidence &gt; 0.5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rule cukup reliable — probabilitas bersyarat setidaknya 50%.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5074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914400" cy="6858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92024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Pastikan Support memadai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2024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terlalu kecil = rule mungkin anomali. Tentukan min-support sesuai domain.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9144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731520" y="5212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92024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Konfirmasi dengan Leverage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920240" y="5577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positif menegaskan rule benar-benar terjadi lebih sering dari ekspektasi.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Nyata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Mana Kita Temukan di Indonesia?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9144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RITEL MODERN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Alfamart &amp; Indomaret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 UHT + sereal, mie instan + telur + saos sambal, kopi sachet + air mineral. Rule ini mendasari layout rak, promo bundling, dan rekomendasi di aplikasi.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91440" cy="233172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93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Tokopedia &amp; Shopee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"Sering dibeli bersama" di halaman produk, rekomendasi cross-sell di keranjang, dan flash sale bundling ditenagai association rules skala besar.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91440" cy="233172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PAYMENT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QRIS Merchant Analytics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&amp; fintech menganalisis pola transaksi QRIS merchant untuk mendeteksi segmen pelanggan dan mendesain promo bersama brand mitra.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9144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400800" y="4389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PERBANKAN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709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Cross-Selling Produk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0" y="52578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 KPR → asuransi properti; pengguna kartu kredit → investasi reksadana. Rule dipakai tim marketing untuk next-best-offer engine.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Aptos Display" pitchFamily="34" charset="0"/>
              </a:rPr>
              <a:t>Diskusi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 </a:t>
            </a:r>
            <a:r>
              <a:rPr lang="en-US" sz="1500" i="1" dirty="0" err="1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berpikir</a:t>
            </a:r>
            <a:r>
              <a:rPr lang="en-US" sz="15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i="1" dirty="0" err="1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94360" cy="59436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sebuah rule memiliki Support 0.05 tetapi Lift 3.5, apakah rule tersebut layak digunakan? Dalam kondisi bisnis seperti apa?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rule Milk → Bread dengan Confidence 0.75 tetap dianggap misleading? Jelaskan dalam konteks probabilitas marginal.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94360" cy="59436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0233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Rancang satu skenario di sektor publik (misal pelayanan SAMSAT atau BPJS) di mana association rules mining bisa memberi insight kebijakan.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94360" cy="59436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9834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risiko etis bila e-commerce menggunakan rule ini untuk rekomendasi yang terlalu personal? Kaitkan dengan UU PDP No. 27/2022.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Analytics  |  Association Rules Mining                                                                                                                 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731520" y="3337560"/>
            <a:ext cx="548640" cy="45720"/>
          </a:xfrm>
          <a:prstGeom prst="rect">
            <a:avLst/>
          </a:prstGeom>
          <a:solidFill>
            <a:srgbClr val="67E8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731520" y="363266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Donny Maha Putra  ·  donny.mahaputra@upnvj.ac.id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1782</Words>
  <Application>Microsoft Office PowerPoint</Application>
  <PresentationFormat>Widescreen</PresentationFormat>
  <Paragraphs>323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Association Rules Mining</dc:title>
  <dc:subject>PptxGenJS Presentation</dc:subject>
  <dc:creator>Dr. Donny Maha Putra</dc:creator>
  <cp:lastModifiedBy>Donny Maha Putra</cp:lastModifiedBy>
  <cp:revision>2</cp:revision>
  <dcterms:created xsi:type="dcterms:W3CDTF">2026-04-18T00:33:51Z</dcterms:created>
  <dcterms:modified xsi:type="dcterms:W3CDTF">2026-04-18T01:43:54Z</dcterms:modified>
</cp:coreProperties>
</file>