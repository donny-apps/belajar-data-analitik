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9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5239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046720" y="2286000"/>
            <a:ext cx="2743200" cy="2743200"/>
          </a:xfrm>
          <a:prstGeom prst="ellipse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2103120" cy="347472"/>
          </a:xfrm>
          <a:prstGeom prst="roundRect">
            <a:avLst>
              <a:gd name="adj" fmla="val 26316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BRIEFING UTS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BIG DATA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ANALYTICS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6400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Proyek</a:t>
            </a:r>
            <a:r>
              <a:rPr lang="en-US" sz="1800" i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Orange Data Mining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 •  Regression  •  Clustering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Dr. Donny Maha Putra, M.Ak.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Semester Genap TA 2025/2026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 Briefing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 akan kita bahas hari ini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594360" y="1463040"/>
            <a:ext cx="594360" cy="5943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1444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Konsep Project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Mengapa satu dataset tiga analisis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10"/>
          <p:cNvSpPr/>
          <p:nvPr/>
        </p:nvSpPr>
        <p:spPr>
          <a:xfrm>
            <a:off x="4800600" y="1463040"/>
            <a:ext cx="594360" cy="5943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32120" y="1444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Syarat Dataset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3212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Kriteria &amp; sumber dataset dari Kaggle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594360" y="2560320"/>
            <a:ext cx="594360" cy="5943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59436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Tiga Analisis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Classification, Regression, Clustering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37744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4800600" y="2560320"/>
            <a:ext cx="594360" cy="5943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480060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32120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Sintesis Terintegrasi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53212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Differentiator </a:t>
            </a:r>
            <a:r>
              <a:rPr lang="en-US" sz="1050" dirty="0" err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utama,bobot</a:t>
            </a: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15%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47472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594360" y="3657600"/>
            <a:ext cx="594360" cy="5943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325880" y="36393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 dan Rubrik </a:t>
            </a:r>
            <a:r>
              <a:rPr lang="en-US" sz="1500" b="1" dirty="0" err="1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Penilaian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25880" y="3977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Laporan, PPT, format, dan penilaian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347472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Shape 30"/>
          <p:cNvSpPr/>
          <p:nvPr/>
        </p:nvSpPr>
        <p:spPr>
          <a:xfrm>
            <a:off x="4800600" y="3657600"/>
            <a:ext cx="594360" cy="5943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4800600" y="3657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532120" y="36393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Etika dan Timeline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532120" y="3977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Larangan AI, deadline, pembagian kelompok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6576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UTS Big Data Analytics  |  Dr. Donny Maha Putra  |  S1 Akuntansi UPNVJ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23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Konsep Inti Project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 dataset dilihat dari tiga lensa analitik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0" y="1371600"/>
            <a:ext cx="1463040" cy="1312163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384048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Pilihan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Kelompok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714500"/>
            <a:ext cx="13716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4578263" y="2823992"/>
            <a:ext cx="0" cy="50292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5303519" y="1757151"/>
            <a:ext cx="1310223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10"/>
          <p:cNvSpPr/>
          <p:nvPr/>
        </p:nvSpPr>
        <p:spPr>
          <a:xfrm>
            <a:off x="365760" y="12344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6FAF7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36576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Prediksi kelas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dari target kategorik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75120" y="12344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6FAF7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667512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CLUSTERING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Segmentasi tanpa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target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20440" y="34290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6FAF7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3520440" y="3474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3749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Prediksi nilai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numerik kontinu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4434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Tujuan: melatih mahasiswa melihat satu realitas data dari tiga perspektif </a:t>
            </a:r>
            <a:r>
              <a:rPr lang="en-US" sz="1100" i="1" dirty="0" err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berbeda</a:t>
            </a: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dan menyatukannya menjadi satu storyline bisnis yang utuh.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UTS Big Data Analytics  |  Dr. Donny Maha Putra  |  S1 Akuntansi UPNVJ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23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Mengapa Desain Terintegrasi?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Kompetensi lulusan S1 Akuntansi era big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21615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Exposure Menyeluruh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49047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Setiap mahasiswa mendapat pengalaman praktis di ketiga teknik utama data mining, bukan hanya spesialisasi sempit.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457200" y="2020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00253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Berpikir Integratif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27685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Kemampuan melihat satu dataset dari tiga sudut dan menyatukan temuan adalah skill differentiator auditor &amp; analis di dunia kerja.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07208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45720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27889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Nyata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063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 profesional jarang berhenti di satu teknik; biasanya mengkombinasikan multiple approaches untuk satu permasalahan bisnis.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93592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45720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357530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Storytelling Data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8496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 dibayar mahal bukan kemampuan menjalankan algoritma, tapi kemampuan merangkai angka menjadi cerita yang meyakinkan.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UTS Big Data Analytics  |  Dr. Donny Maha Putra  |  S1 Akuntansi UPNVJ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23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Syarat Dataset 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Sumber wajib: Kaggle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E6FAF7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SUMBER &amp; LISENSI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Sumber: </a:t>
            </a: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 (kaggle.com/datasets)  link harus publik &amp; aktif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Lisensi: </a:t>
            </a: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Public/Open (CC0, CC-BY, atau Kaggle Public License)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Format: </a:t>
            </a: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CSV, Excel, atau TSV (langsung kompatibel dengan widget File di Orange)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Dokumentasi: </a:t>
            </a: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Harus ada deskripsi atribut (data dictionary) di halaman Kaggle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475488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UKURAN &amp; BATASAN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69164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255588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200 baris</a:t>
            </a:r>
            <a:endParaRPr lang="en-US" sz="1100" dirty="0"/>
          </a:p>
          <a:p>
            <a:pPr marL="342900" indent="-255588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Maksimum 100.000 baris</a:t>
            </a:r>
            <a:endParaRPr lang="en-US" sz="1100" dirty="0"/>
          </a:p>
          <a:p>
            <a:pPr marL="342900" indent="-255588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kolom dalam bahasa Inggris atau Indonesia</a:t>
            </a:r>
            <a:endParaRPr lang="en-US" sz="1100" dirty="0"/>
          </a:p>
          <a:p>
            <a:pPr marL="342900" indent="-255588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Tidak boleh sama antar kelompok dalam satu kelas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DILARANG dataset ikonik: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Titanic, Iris, Boston Housing, MNIST, Wine Quality, Diamonds, dan dataset default di Orange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UTS Big Data Analytics  |  Dr. Donny Maha Putra  |  S1 Akuntansi UPNVJ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23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Syarat Dataset </a:t>
            </a:r>
            <a:r>
              <a:rPr lang="en-US" sz="2400" b="1" dirty="0" err="1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untuk</a:t>
            </a: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Kelayakan 3 Analisis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WAJIB memenuhi semua kriteria di bawah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640080" y="11612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2D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Karena 1 dataset digunakan untuk 3 analisis sekaligus, dataset harus memenuhi seluruh kriteria berikut SECARA BERSAMAAN.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6243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1490472" y="205740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1490472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KATEGORIK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063240"/>
            <a:ext cx="2350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1 variabel kategorik untuk Classification (binary / multiclass ≤5 kelas)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64408" y="1920240"/>
            <a:ext cx="26243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4297680" y="205740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42976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64408" y="269748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NUMERIK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01568" y="3063240"/>
            <a:ext cx="2350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1 variabel numerik kontinu untuk Regression (bukan ordinal / count)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71616" y="1920240"/>
            <a:ext cx="26243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7104888" y="205740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710488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71616" y="269748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FITUR NUMERIK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08776" y="3063240"/>
            <a:ext cx="2350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4 fitur numerik dengan variasi memadai untuk Clustering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Tambahan: </a:t>
            </a:r>
            <a:r>
              <a:rPr lang="en-US" sz="1100" i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fitur prediktor minimum 5 (di luar ID dan target), disarankan campuran numerik dan kategorik untuk melatih preprocessing.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UTS Big Data Analytics  |  Dr. Donny Maha Putra  |  S1 Akuntansi UPNVJ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23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Contoh Dataset yang Cocok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Hanya </a:t>
            </a:r>
            <a:r>
              <a:rPr lang="en-US" sz="1100" i="1" dirty="0" err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</a:t>
            </a: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kelompok tetap bebas memilih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Classification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Regression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1234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Untuk Clustering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548640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Telco Customer Churn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3464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churn (Yes/No)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monthly_charges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demografi &amp; usage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54864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Employee Attrition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3464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attrition (Yes/No)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monthly_income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 karyawan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54864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Marketing Campaign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3464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subscribed (Yes/No)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 / duration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segmentasi nasabah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5"/>
          <p:cNvSpPr/>
          <p:nvPr/>
        </p:nvSpPr>
        <p:spPr>
          <a:xfrm>
            <a:off x="54864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Premium Data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83464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smoker / region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charges / premium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5800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 tertanggung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30"/>
          <p:cNvSpPr/>
          <p:nvPr/>
        </p:nvSpPr>
        <p:spPr>
          <a:xfrm>
            <a:off x="54864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(RFM level)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83464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customer_type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total_spend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5800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 pelanggan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Wajib verifikasi sendiri: buka halaman Kaggle → cek deskripsi atribut → pastikan ketiga syarat terpenuhi sebelum memulai analisis.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6576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UTS Big Data Analytics  |  Dr. Donny Maha Putra  |  S1 Akuntansi UPNVJ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23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Analisis</a:t>
            </a: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1: Classification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Prediksi kelas dari variabel target kategorik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E6FAF7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64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WAJIB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K-Nearest Neighbor (KNN)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OPSIONAL (nilai plus)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04495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Naïve Bayes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AdaBoost / Gradient Boosting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493776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METRIK EVALUASI WAJIB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691640"/>
            <a:ext cx="3474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 Matrix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F1-Score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Tabel komparasi metrik antar algoritma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UTS Big Data Analytics  |  Dr. Donny Maha Putra  |  S1 Akuntansi UPNVJ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23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Analisis 2  Regression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Prediksi nilai numerik kontinu dari variabel target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E6FAF7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64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WAJIB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Regression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Regression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OPSIONAL (nilai plus)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77063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Tree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Boosting / SVR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493776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METRIK EVALUASI WAJIB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691640"/>
            <a:ext cx="3474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R² (koefisien determinasi)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 (Mean Absolute Error)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 (Root Mean Squared Error)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 (Mean Absolute Percentage Error)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Plot Predicted vs Actual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 Plot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Interpretasi 3 variabel paling berpengaruh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UTS Big Data Analytics  |  Dr. Donny Maha Putra  |  S1 Akuntansi UPNVJ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23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Analisis 3  Clustering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Segmentasi data tanpa label target (unsupervised)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E6FAF7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64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WAJIB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K-Means Clustering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Hierarchical Clustering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OPSIONAL (nilai plus)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77063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DBSCAN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Atau Association Rule (Apriori) jika dataset transaksional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493776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METRIK EVALUASI WAJIB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691640"/>
            <a:ext cx="3474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Elbow Method (menentukan K optimal)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Silhouette Score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Scatter Plot visualisasi cluster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Interpretasi persona tiap cluster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UTS Big Data Analytics  |  Dr. Donny Maha Putra  |  S1 Akuntansi UPNVJ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23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7200" y="45720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BAB 7 </a:t>
            </a:r>
            <a:r>
              <a:rPr lang="en-US" sz="1100" b="1" kern="0" spc="2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Wingdings" panose="05000000000000000000" pitchFamily="2" charset="2"/>
              </a:rPr>
              <a:t></a:t>
            </a:r>
            <a:r>
              <a:rPr lang="en-US" sz="1100" b="1" kern="0" spc="2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KUNCI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Sintesis Terintegrasi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Bobot 15%  </a:t>
            </a:r>
            <a:r>
              <a:rPr lang="en-US" sz="1300" i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  <a:sym typeface="Wingdings" panose="05000000000000000000" pitchFamily="2" charset="2"/>
              </a:rPr>
              <a:t> </a:t>
            </a:r>
            <a:r>
              <a:rPr lang="en-US" sz="1300" i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differentiator utama antara laporan biasa dan </a:t>
            </a:r>
            <a:r>
              <a:rPr lang="en-US" sz="1300" i="1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laporan</a:t>
            </a:r>
            <a:r>
              <a:rPr lang="en-US" sz="1300" i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yang </a:t>
            </a:r>
            <a:r>
              <a:rPr lang="en-US" sz="1300" i="1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unggul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3716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3774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kesamaan temuan antara Classification, Regression, dan Clustering?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35224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457200" y="29352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88950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Apakah fitur penting di satu analisis juga penting di analisis lain?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47288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457200" y="3447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4015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Apakah cluster yang terbentuk memiliki kecenderungan kelas atau target tertentu?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59352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457200" y="3959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9136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Rekomendasi bisnis apa yang muncul dari sintesis ketiga analisis?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 dinilai: kemampuan merangkai 3 analisis menjadi SATU cerita bisnis yang utuh dan bermakna.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23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Struktur Laporan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bab + referensi + lampiran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530352" y="1344168"/>
            <a:ext cx="73152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530352" y="134416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Bab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53312" y="1325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Pendahuluan &amp; Tiga Rumusan Masalah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530352" y="2093976"/>
            <a:ext cx="73152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530352" y="209397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Bab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53312" y="2075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Tinjauan Teori &amp; Metode (min. 7 referensi APA 7)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34056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530352" y="2843784"/>
            <a:ext cx="73152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530352" y="284378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Bab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53312" y="28254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&amp; Data Preparation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83864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E6FAF7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530352" y="3593592"/>
            <a:ext cx="73152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530352" y="359359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Bab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53312" y="35753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 Classification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23444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E6FAF7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4782312" y="1344168"/>
            <a:ext cx="73152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4782312" y="134416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Bab 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05272" y="1325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 Regression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1984248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E6FAF7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4782312" y="2093976"/>
            <a:ext cx="73152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4782312" y="209397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Bab 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05272" y="2075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 Clustering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2734056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Shape 29"/>
          <p:cNvSpPr/>
          <p:nvPr/>
        </p:nvSpPr>
        <p:spPr>
          <a:xfrm>
            <a:off x="4782312" y="2843784"/>
            <a:ext cx="73152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30"/>
          <p:cNvSpPr/>
          <p:nvPr/>
        </p:nvSpPr>
        <p:spPr>
          <a:xfrm>
            <a:off x="4782312" y="284378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Bab 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05272" y="28254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Sintesis Terintegrasi  ← DIFFERENTIATOR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3483864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Shape 33"/>
          <p:cNvSpPr/>
          <p:nvPr/>
        </p:nvSpPr>
        <p:spPr>
          <a:xfrm>
            <a:off x="4782312" y="3593592"/>
            <a:ext cx="73152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Text 34"/>
          <p:cNvSpPr/>
          <p:nvPr/>
        </p:nvSpPr>
        <p:spPr>
          <a:xfrm>
            <a:off x="4782312" y="359359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Bab 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05272" y="35753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Kesimpulan &amp; Saran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Panjang halaman TIDAK dibatasi. Kualitas insight &gt; volume halaman.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UTS Big Data Analytics  |  Dr. Donny Maha Putra  |  S1 Akuntansi UPNVJ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23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Format dan Penamaan File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 wajib pengumpulan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2331720"/>
          </a:xfrm>
          <a:prstGeom prst="roundRect">
            <a:avLst>
              <a:gd name="adj" fmla="val 2941"/>
            </a:avLst>
          </a:prstGeom>
          <a:solidFill>
            <a:srgbClr val="E6FAF7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LAPORAN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 Cambria 11 pt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Spasi 1,5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 1 inci semua sisi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7th edition untuk referensi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final: PDF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2331720"/>
          </a:xfrm>
          <a:prstGeom prst="roundRect">
            <a:avLst>
              <a:gd name="adj" fmla="val 29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484632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PRESENTASI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6916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 Aptos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16:9 widescreen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10–15 slide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Aksen navy &amp; teal, background putih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final: PDF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963861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457200" y="3963861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NAMA FILE:  </a:t>
            </a: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KLP[NN]_[Nama]_Laporan.pdf   •   KLP[NN]_[Nama]_Presentasi.pdf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UTS Big Data Analytics  |  Dr. Donny Maha Putra  |  S1 Akuntansi UPNVJ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23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Rubrik Penilaian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Fokus: kedalaman insight, bukan volume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framing &amp; 3 rumusan masalah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223760" y="11887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8229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594360" y="1499616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&amp; Data Preparation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223760" y="14996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810512"/>
            <a:ext cx="822960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594360" y="1810512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 Classification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223760" y="18105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121408"/>
            <a:ext cx="8229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594360" y="2121408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 Regression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223760" y="21214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432304"/>
            <a:ext cx="822960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594360" y="2432304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 Clustering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223760" y="24323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8229600" cy="310896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594360" y="274320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Sintesis Terintegrasi (Bab 7) </a:t>
            </a:r>
            <a:r>
              <a:rPr lang="en-US" sz="11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  <a:sym typeface="Wingdings" panose="05000000000000000000" pitchFamily="2" charset="2"/>
              </a:rPr>
              <a:t></a:t>
            </a:r>
            <a:r>
              <a:rPr lang="en-US" sz="11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KUNCI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23760" y="27432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054096"/>
            <a:ext cx="822960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594360" y="3054096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Implikasi praktis/bisnis/akuntansi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223760" y="30540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364992"/>
            <a:ext cx="8229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594360" y="3364992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Originalitas &amp; kedalaman insight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223760" y="33649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675888"/>
            <a:ext cx="822960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Text 29"/>
          <p:cNvSpPr/>
          <p:nvPr/>
        </p:nvSpPr>
        <p:spPr>
          <a:xfrm>
            <a:off x="594360" y="3675888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Kualitas laporan (struktur + APA 7)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223760" y="36758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3986784"/>
            <a:ext cx="8229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Text 32"/>
          <p:cNvSpPr/>
          <p:nvPr/>
        </p:nvSpPr>
        <p:spPr>
          <a:xfrm>
            <a:off x="594360" y="3986784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Kualitas PPT (desain + narasi)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223760" y="39867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5%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Text 35"/>
          <p:cNvSpPr/>
          <p:nvPr/>
        </p:nvSpPr>
        <p:spPr>
          <a:xfrm>
            <a:off x="594360" y="437083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TOTAL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23760" y="43708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6576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UTS Big Data Analytics  |  Dr. Donny Maha Putra  |  S1 Akuntansi UPNVJ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23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Etika Akademik &amp; Larangan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Integritas akademik adalah pilar utama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DILARANG KERAS menggunakan AI generatif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ChatGPT, Claude, Gemini, Copilot, Perplexity, DeepSeek, atau layanan </a:t>
            </a:r>
            <a:r>
              <a:rPr lang="en-US" sz="1100" dirty="0" err="1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sejenis</a:t>
            </a:r>
            <a:r>
              <a:rPr lang="en-US" sz="110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untuk menulis laporan dan PPT.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E6FAF7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640080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  BOLEH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 Data Mining (tool utama)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/ Google Scholar untuk referensi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Grammar checker (MS Editor, Grammarly free)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210312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846320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✗  TIDAK BOLEH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56032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paragraf / interpretasi via chatbot AI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Parafrase otomatis (Quillbot AI mode, dsb.)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slide via AI (Gamma, Tome, dsb.)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Copy-paste output AI diedit seadanya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8229600" cy="27432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PENGECEKAN: GPTZero / Turnitin AI Detection / ZeroGPT  →  &gt;20% AI = nilai 0 + remedial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23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Tips Aman dari AI Detection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Agar karya asli Anda tidak salah dibaca sebagai AI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978408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1325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Tulis dengan gaya personal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6184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natural, hindari gaya formal yang kaku.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188720"/>
            <a:ext cx="3931920" cy="978408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47548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94960" y="1325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Contoh spesifik dari dataset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16184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Sebutkan angka, nama kolom, pola aktual yang Anda temukan.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04288"/>
            <a:ext cx="3931920" cy="978408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594360" y="2487168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59436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34440" y="24414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Variasikan panjang kalimat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27340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cenderung menulis kalimat panjang </a:t>
            </a:r>
            <a:r>
              <a:rPr lang="en-US" sz="1000" dirty="0" err="1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seragam</a:t>
            </a: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  <a:sym typeface="Wingdings" panose="05000000000000000000" pitchFamily="2" charset="2"/>
              </a:rPr>
              <a:t></a:t>
            </a: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campur </a:t>
            </a:r>
            <a:r>
              <a:rPr lang="en-US" sz="1000" dirty="0" err="1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pendek</a:t>
            </a: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dan panjang.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304288"/>
            <a:ext cx="3931920" cy="978408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4754880" y="2487168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475488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394960" y="24414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Tambahkan refleksi kelompok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27340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Ceritakan kendala &amp; pembelajaran tim selama analisis.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419856"/>
            <a:ext cx="3931920" cy="978408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594360" y="3602736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594360" y="3602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234440" y="35570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Hindari frasa klise AI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34440" y="38496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"Dalam era modern...", "Sebagai kesimpulan...", "Hal ini menunjukkan pentingnya..."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3419856"/>
            <a:ext cx="3931920" cy="978408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Shape 30"/>
          <p:cNvSpPr/>
          <p:nvPr/>
        </p:nvSpPr>
        <p:spPr>
          <a:xfrm>
            <a:off x="4754880" y="3602736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4754880" y="3602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394960" y="35570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Konteks lokal Indonesia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38496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Selipkan referensi ke perusahaan, regulasi, atau industri Indonesia.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UTS Big Data Analytics  |  Dr. Donny Maha Putra  |  S1 Akuntansi UPNVJ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23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Timeline dan Pengumpulan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Deadline tidak dapat diperpanjang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DEADLINE PENGUMPULAN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Sabtu, 25 April 2026 :  23.59 WIB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Platform: LEADS  •  Unggah individual (meski tugas kelompok)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100584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Hari ini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6060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project &amp; pembagian kelompok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100584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hari pertama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30175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Pemilihan dataset &amp; verifikasi kelayakan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100584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Hari 3–5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34290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EDA, preprocessing, &amp; eksekusi 3 analisis di Orange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100584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Hari 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38404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Penyusunan Bab 7 Sintesis &amp; finalisasi laporan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100584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 April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26080" y="42519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PDF &amp; submit ke LEADS sebelum 23.59 WIB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UTS Big Data Analytics  |  Dr. Donny Maha Putra  |  S1 Akuntansi UPNVJ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23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Overview 10 Tema Project 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Setiap kelompok dapat tema berbeda untuk mencegah overlap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E6FAF7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68580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548640" y="120700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25880" y="1188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Churn &amp; Retention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109728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E6FAF7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4709160" y="1207008"/>
            <a:ext cx="68580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709160" y="120700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0" y="1188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Credit Risk &amp; Loan Default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1856232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E6FAF7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548640" y="1965960"/>
            <a:ext cx="68580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548640" y="196596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25880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Employee HR Analytics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17720" y="1856232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E6FAF7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4709160" y="1965960"/>
            <a:ext cx="68580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4709160" y="196596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0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Segmentation &amp; Purchase Behavior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2615184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E6FAF7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548640" y="2724912"/>
            <a:ext cx="68580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548640" y="272491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25880" y="27066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Insurance &amp; Healthcare Cost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17720" y="2615184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E6FAF7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4709160" y="2724912"/>
            <a:ext cx="68580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4709160" y="272491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KLP06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0" y="27066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 Estate &amp; Property Valuation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3374136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E6FAF7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Shape 29"/>
          <p:cNvSpPr/>
          <p:nvPr/>
        </p:nvSpPr>
        <p:spPr>
          <a:xfrm>
            <a:off x="548640" y="3483864"/>
            <a:ext cx="68580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30"/>
          <p:cNvSpPr/>
          <p:nvPr/>
        </p:nvSpPr>
        <p:spPr>
          <a:xfrm>
            <a:off x="548640" y="3483864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KLP07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325880" y="34655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Marketing Campaign Response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617720" y="3374136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E6FAF7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Shape 33"/>
          <p:cNvSpPr/>
          <p:nvPr/>
        </p:nvSpPr>
        <p:spPr>
          <a:xfrm>
            <a:off x="4709160" y="3483864"/>
            <a:ext cx="68580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Text 34"/>
          <p:cNvSpPr/>
          <p:nvPr/>
        </p:nvSpPr>
        <p:spPr>
          <a:xfrm>
            <a:off x="4709160" y="3483864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KLP08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0" y="34655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 &amp; Revenue Analytics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" y="4133088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E6FAF7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" name="Shape 37"/>
          <p:cNvSpPr/>
          <p:nvPr/>
        </p:nvSpPr>
        <p:spPr>
          <a:xfrm>
            <a:off x="548640" y="4242816"/>
            <a:ext cx="68580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0" name="Text 38"/>
          <p:cNvSpPr/>
          <p:nvPr/>
        </p:nvSpPr>
        <p:spPr>
          <a:xfrm>
            <a:off x="548640" y="4242816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KLP09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325880" y="4224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Fraud &amp; Anomaly Detection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617720" y="4133088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E6FAF7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3" name="Shape 41"/>
          <p:cNvSpPr/>
          <p:nvPr/>
        </p:nvSpPr>
        <p:spPr>
          <a:xfrm>
            <a:off x="4709160" y="4242816"/>
            <a:ext cx="685800" cy="420624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4" name="Text 42"/>
          <p:cNvSpPr/>
          <p:nvPr/>
        </p:nvSpPr>
        <p:spPr>
          <a:xfrm>
            <a:off x="4709160" y="4242816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KLP10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86400" y="4224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Education &amp; Student Performance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6576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UTS Big Data Analytics  |  Dr. Donny Maha Putra  |  S1 Akuntansi UPNVJ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23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4B8A6">
              <a:alpha val="4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6703454" y="2524258"/>
            <a:ext cx="3812146" cy="3876541"/>
          </a:xfrm>
          <a:prstGeom prst="ellipse">
            <a:avLst/>
          </a:prstGeom>
          <a:solidFill>
            <a:srgbClr val="14B8A6">
              <a:alpha val="6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BAGIAN BERIKUTNYA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Pembagian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Kelompok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9144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Cek kelompok Anda di slide </a:t>
            </a:r>
            <a:r>
              <a:rPr lang="en-US" sz="1300" i="1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berikut</a:t>
            </a:r>
            <a:r>
              <a:rPr lang="en-US" sz="1300" i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</a:t>
            </a:r>
            <a:r>
              <a:rPr lang="en-US" sz="1300" i="1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Setiap</a:t>
            </a:r>
            <a:r>
              <a:rPr lang="en-US" sz="1300" i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mahasiswa wajib tahu nomor kelompoknya.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23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Pembagian</a:t>
            </a: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Kelompok</a:t>
            </a: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Kelas</a:t>
            </a: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A 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KLP01 – KLP05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1704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Churn &amp; Retention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417320" y="142646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orang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1664208"/>
            <a:ext cx="3703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594360" y="1700784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Faradita Agustina Anggraini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Putri Ariyaningsih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Salwa Padmanaba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Muhammad Luthfi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097280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4709160" y="118872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4709160" y="11887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11704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Credit Risk &amp; Loan Default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77840" y="142646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orang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664208"/>
            <a:ext cx="3703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4754880" y="1700784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Nurlita Syaharani Jianiar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Faiq Favian Kurniawantoro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Arinii Nisa Qurrotaa'Yun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395728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548640" y="2487168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548640" y="24871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24688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Employee HR Analytics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417320" y="272491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orang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2962656"/>
            <a:ext cx="3703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594360" y="2999232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Nisrina Audy Fakhira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Meivita Dwi Ningsih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Raditya Budi Prabowo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20" y="2395728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Shape 26"/>
          <p:cNvSpPr/>
          <p:nvPr/>
        </p:nvSpPr>
        <p:spPr>
          <a:xfrm>
            <a:off x="4709160" y="2487168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4709160" y="24871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24688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Segmentation &amp; Purchase Behavior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77840" y="272491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orang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962656"/>
            <a:ext cx="3703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4754880" y="2999232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Muhamad Furqon Al Farisy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Samuel Bonardo Simangunsong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Nurjanatul Fitriah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694176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Shape 33"/>
          <p:cNvSpPr/>
          <p:nvPr/>
        </p:nvSpPr>
        <p:spPr>
          <a:xfrm>
            <a:off x="548640" y="3785616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Text 34"/>
          <p:cNvSpPr/>
          <p:nvPr/>
        </p:nvSpPr>
        <p:spPr>
          <a:xfrm>
            <a:off x="548640" y="378561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1732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Insurance &amp; Healthcare Cost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417320" y="402336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orang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4360" y="4261104"/>
            <a:ext cx="3703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0" name="Text 38"/>
          <p:cNvSpPr/>
          <p:nvPr/>
        </p:nvSpPr>
        <p:spPr>
          <a:xfrm>
            <a:off x="594360" y="4297680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Kayla Zahratun Nisa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Fauziah Rabi'Ah Jamin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Salsa Fitriana Ichwan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Retha Varelie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5800" y="48234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UTS Big Data Analytics  |  Dr. Donny Maha Putra  |  S1 Akuntansi UPNVJ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/ 23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Pembagian</a:t>
            </a: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Kelompok</a:t>
            </a: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Kelas</a:t>
            </a: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A 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KLP06 – KLP10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1704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 Estate &amp; Property Valuation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417320" y="142646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orang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1664208"/>
            <a:ext cx="3703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594360" y="1700784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Derul Mauludin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Nabil Maulana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Bagas Rae Supriya Hardianto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097280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4709160" y="118872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4709160" y="11887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11704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Marketing Campaign Response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77840" y="142646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orang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664208"/>
            <a:ext cx="3703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4754880" y="1700784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Muhammad Iqbal Maulana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Triasa Puspayunita Tapiheru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Fira Khairunnisa Simamora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395728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548640" y="2487168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548640" y="24871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24688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 &amp; Revenue Analytics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417320" y="272491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orang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2962656"/>
            <a:ext cx="3703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594360" y="2999232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Raden Ahmad Arijuddin Brillyanto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Anisa Amelia Ghandi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Zaskia Hanifah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Angelica Fajarina Nugroho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20" y="2395728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Shape 26"/>
          <p:cNvSpPr/>
          <p:nvPr/>
        </p:nvSpPr>
        <p:spPr>
          <a:xfrm>
            <a:off x="4709160" y="2487168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4709160" y="24871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24688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Fraud &amp; Anomaly Detection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77840" y="272491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orang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962656"/>
            <a:ext cx="3703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4754880" y="2999232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Kayla Najla Ramadhina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Ravy Handaru Pratomo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Raihan Febrian Asyifa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694176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Shape 33"/>
          <p:cNvSpPr/>
          <p:nvPr/>
        </p:nvSpPr>
        <p:spPr>
          <a:xfrm>
            <a:off x="548640" y="3785616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Text 34"/>
          <p:cNvSpPr/>
          <p:nvPr/>
        </p:nvSpPr>
        <p:spPr>
          <a:xfrm>
            <a:off x="548640" y="378561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KLP10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1732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Education &amp; Student Performance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417320" y="402336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orang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4360" y="4261104"/>
            <a:ext cx="3703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0" name="Text 38"/>
          <p:cNvSpPr/>
          <p:nvPr/>
        </p:nvSpPr>
        <p:spPr>
          <a:xfrm>
            <a:off x="594360" y="4297680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Syihab Rifqi Hadzami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Muhamad Nazril Setiawan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Azzikra Rabbani Muhammad Achza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31520" y="485546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UTS Big Data Analytics  |  Dr. Donny Maha Putra  |  S1 Akuntansi UPNVJ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23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Pembagian</a:t>
            </a: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Kelompok</a:t>
            </a: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Kelas</a:t>
            </a: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B 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KLP01 – KLP05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1704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Churn &amp; Retention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417320" y="142646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orang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1664208"/>
            <a:ext cx="3703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594360" y="1700784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Dinda Febia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Benedita Oktavia Agatha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Alodia Dahana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097280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4709160" y="118872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4709160" y="11887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11704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Credit Risk &amp; Loan Default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77840" y="142646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orang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664208"/>
            <a:ext cx="3703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4754880" y="1700784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Muhammad Triandhika Bahytaqy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Salma Dwi Alzahra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Natasya Alexandra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395728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548640" y="2487168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548640" y="24871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24688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Employee HR Analytics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417320" y="272491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orang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2962656"/>
            <a:ext cx="3703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594360" y="2999232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 Dea Damayanti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Rafa Daniswara Harimurty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Assyifa Azzahra Wibowo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20" y="2395728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Shape 26"/>
          <p:cNvSpPr/>
          <p:nvPr/>
        </p:nvSpPr>
        <p:spPr>
          <a:xfrm>
            <a:off x="4709160" y="2487168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4709160" y="24871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24688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Segmentation &amp; Purchase Behavior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77840" y="272491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orang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962656"/>
            <a:ext cx="3703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4754880" y="2999232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Mey Sela Sfagi Br Sagala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Miftah Auliya Haroky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Nafisa Nur Amalina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694176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Shape 33"/>
          <p:cNvSpPr/>
          <p:nvPr/>
        </p:nvSpPr>
        <p:spPr>
          <a:xfrm>
            <a:off x="548640" y="3785616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Text 34"/>
          <p:cNvSpPr/>
          <p:nvPr/>
        </p:nvSpPr>
        <p:spPr>
          <a:xfrm>
            <a:off x="548640" y="378561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1732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Insurance &amp; Healthcare Cost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417320" y="402336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orang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4360" y="4261104"/>
            <a:ext cx="3703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0" name="Text 38"/>
          <p:cNvSpPr/>
          <p:nvPr/>
        </p:nvSpPr>
        <p:spPr>
          <a:xfrm>
            <a:off x="594360" y="4297680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Fadli Ahmad Ikhsanto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Muhammad Zackri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Zahra Rakhsanda Alif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77240" y="48737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UTS Big Data Analytics  |  Dr. Donny Maha Putra  |  S1 Akuntansi UPNVJ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/ 23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Pembagian</a:t>
            </a: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Kelompok</a:t>
            </a: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Kelas</a:t>
            </a:r>
            <a:r>
              <a:rPr lang="en-US" sz="24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B 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KLP06 – KLP10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1704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 Estate &amp; Property Valuation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417320" y="142646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orang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1664208"/>
            <a:ext cx="3703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594360" y="1700784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Linda Dwi Anggraini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Nanda Yuliawati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Desty Indarti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097280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4709160" y="118872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4709160" y="11887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11704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Marketing Campaign Response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77840" y="142646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orang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664208"/>
            <a:ext cx="3703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4754880" y="1700784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 Delon Simatupang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Tiara Fajria Rahma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Amanda Maheswari Fatima Diaz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395728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548640" y="2487168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548640" y="24871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24688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 &amp; Revenue Analytics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417320" y="272491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orang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2962656"/>
            <a:ext cx="3703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594360" y="2999232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Hanifah Nabilah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Abyan Mumtaz Ziyaadatullah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Rizma Fathonah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20" y="2395728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Shape 26"/>
          <p:cNvSpPr/>
          <p:nvPr/>
        </p:nvSpPr>
        <p:spPr>
          <a:xfrm>
            <a:off x="4709160" y="2487168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4709160" y="24871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24688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Fraud &amp; Anomaly Detection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77840" y="272491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orang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962656"/>
            <a:ext cx="3703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4754880" y="2999232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Novanda Arinni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Afifah Afra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Auliya Zulkhaida Yachya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694176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Shape 33"/>
          <p:cNvSpPr/>
          <p:nvPr/>
        </p:nvSpPr>
        <p:spPr>
          <a:xfrm>
            <a:off x="548640" y="3785616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Text 34"/>
          <p:cNvSpPr/>
          <p:nvPr/>
        </p:nvSpPr>
        <p:spPr>
          <a:xfrm>
            <a:off x="548640" y="378561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KLP10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1732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Education &amp; Student Performance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417320" y="402336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orang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4360" y="4261104"/>
            <a:ext cx="3703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0" name="Text 38"/>
          <p:cNvSpPr/>
          <p:nvPr/>
        </p:nvSpPr>
        <p:spPr>
          <a:xfrm>
            <a:off x="594360" y="4297680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Nadya Wulandari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Aleluya Cinta Putri Andma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Kharisma Adi Meylani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4360" y="485133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UTS Big Data Analytics  |  Dr. Donny Maha Putra  |  S1 Akuntansi UPNVJ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/ 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457200" y="457200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TERIMA KASIH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 &amp; A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1188720" y="26609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 pertanyaan?  Jangan ragu untuk bertanya sekarang.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142843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Selamat Mengerjakan, Semoga Saudara semua SUKSES.
</a:t>
            </a:r>
            <a:endParaRPr lang="en-US" sz="150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Untuk keinginan berbuat curang, inilah saat yang tepat untuk berlatih JUJUR  kalau tidak sekarang, kapan lagi?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Dr. Donny Maha Putra, M.Ak.  |  S1 Akuntansi  |  Big Data Analytics  |  UTS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/ 23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2216</Words>
  <Application>Microsoft Office PowerPoint</Application>
  <PresentationFormat>On-screen Show (16:9)</PresentationFormat>
  <Paragraphs>527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UTS Big Data Analytics</dc:title>
  <dc:subject>PptxGenJS Presentation</dc:subject>
  <dc:creator>Dr. Donny Maha Putra</dc:creator>
  <cp:lastModifiedBy>Donny Maha Putra</cp:lastModifiedBy>
  <cp:revision>6</cp:revision>
  <dcterms:created xsi:type="dcterms:W3CDTF">2026-04-17T14:04:43Z</dcterms:created>
  <dcterms:modified xsi:type="dcterms:W3CDTF">2026-04-17T14:37:43Z</dcterms:modified>
</cp:coreProperties>
</file>