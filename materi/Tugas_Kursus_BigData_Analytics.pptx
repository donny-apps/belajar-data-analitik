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2" d="100"/>
          <a:sy n="122" d="100"/>
        </p:scale>
        <p:origin x="25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581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mygreatlearning.com/academy/learn-for-free/courses/mastering-big-data-analytic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hyperlink" Target="https://mygreatlearning.com/academy/learn-for-free/courses/big-data-and-ai" TargetMode="External"/><Relationship Id="rId4" Type="http://schemas.openxmlformats.org/officeDocument/2006/relationships/hyperlink" Target="https://www.coursera.org/learn/big-data-introduction"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pic>
        <p:nvPicPr>
          <p:cNvPr id="1026" name="Picture 2" descr="Data Mining Pictures | Download Free Images on Unsplash">
            <a:extLst>
              <a:ext uri="{FF2B5EF4-FFF2-40B4-BE49-F238E27FC236}">
                <a16:creationId xmlns:a16="http://schemas.microsoft.com/office/drawing/2014/main" id="{B9710CE5-BE95-B3DE-8C74-DB98665E77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7431"/>
            <a:ext cx="9144000" cy="2991341"/>
          </a:xfrm>
          <a:prstGeom prst="rect">
            <a:avLst/>
          </a:prstGeom>
          <a:noFill/>
          <a:extLst>
            <a:ext uri="{909E8E84-426E-40DD-AFC4-6F175D3DCCD1}">
              <a14:hiddenFill xmlns:a14="http://schemas.microsoft.com/office/drawing/2010/main">
                <a:solidFill>
                  <a:srgbClr val="FFFFFF"/>
                </a:solidFill>
              </a14:hiddenFill>
            </a:ext>
          </a:extLst>
        </p:spPr>
      </p:pic>
      <p:sp>
        <p:nvSpPr>
          <p:cNvPr id="2" name="Shape 0"/>
          <p:cNvSpPr/>
          <p:nvPr/>
        </p:nvSpPr>
        <p:spPr>
          <a:xfrm>
            <a:off x="0" y="0"/>
            <a:ext cx="9144000" cy="54864"/>
          </a:xfrm>
          <a:prstGeom prst="rect">
            <a:avLst/>
          </a:prstGeom>
          <a:solidFill>
            <a:srgbClr val="0891B2"/>
          </a:solidFill>
          <a:ln/>
        </p:spPr>
        <p:txBody>
          <a:bodyPr/>
          <a:lstStyle/>
          <a:p>
            <a:endParaRPr lang="en-ID">
              <a:latin typeface="Aptos" panose="020B0004020202020204" pitchFamily="34" charset="0"/>
            </a:endParaRPr>
          </a:p>
        </p:txBody>
      </p:sp>
      <p:sp>
        <p:nvSpPr>
          <p:cNvPr id="4" name="Text 1"/>
          <p:cNvSpPr/>
          <p:nvPr/>
        </p:nvSpPr>
        <p:spPr>
          <a:xfrm>
            <a:off x="770350" y="95887"/>
            <a:ext cx="8229600" cy="548640"/>
          </a:xfrm>
          <a:prstGeom prst="rect">
            <a:avLst/>
          </a:prstGeom>
          <a:noFill/>
          <a:ln/>
        </p:spPr>
        <p:txBody>
          <a:bodyPr wrap="square" lIns="0" tIns="0" rIns="0" bIns="0" rtlCol="0" anchor="ctr"/>
          <a:lstStyle/>
          <a:p>
            <a:pPr marL="0" indent="0" algn="r">
              <a:buNone/>
            </a:pPr>
            <a:r>
              <a:rPr lang="en-US" sz="1600" b="1" kern="0" spc="800" dirty="0">
                <a:solidFill>
                  <a:schemeClr val="bg1"/>
                </a:solidFill>
                <a:latin typeface="Aptos" panose="020B0004020202020204" pitchFamily="34" charset="0"/>
                <a:ea typeface="Calibri" pitchFamily="34" charset="-122"/>
                <a:cs typeface="Calibri" pitchFamily="34" charset="-120"/>
              </a:rPr>
              <a:t>TUGAS MANDIRI</a:t>
            </a:r>
            <a:endParaRPr lang="en-US" sz="1600" dirty="0">
              <a:solidFill>
                <a:schemeClr val="bg1"/>
              </a:solidFill>
              <a:latin typeface="Aptos" panose="020B0004020202020204" pitchFamily="34" charset="0"/>
            </a:endParaRPr>
          </a:p>
        </p:txBody>
      </p:sp>
      <p:sp>
        <p:nvSpPr>
          <p:cNvPr id="5" name="Text 2"/>
          <p:cNvSpPr/>
          <p:nvPr/>
        </p:nvSpPr>
        <p:spPr>
          <a:xfrm>
            <a:off x="526093" y="3108614"/>
            <a:ext cx="822960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ptos" panose="020B0004020202020204" pitchFamily="34" charset="0"/>
                <a:ea typeface="Trebuchet MS" pitchFamily="34" charset="-122"/>
                <a:cs typeface="Trebuchet MS" pitchFamily="34" charset="-120"/>
              </a:rPr>
              <a:t>Kursus Online Big Data Analytics</a:t>
            </a:r>
            <a:endParaRPr lang="en-US" sz="2400" dirty="0">
              <a:latin typeface="Aptos" panose="020B0004020202020204" pitchFamily="34" charset="0"/>
            </a:endParaRPr>
          </a:p>
        </p:txBody>
      </p:sp>
      <p:sp>
        <p:nvSpPr>
          <p:cNvPr id="6" name="Shape 3"/>
          <p:cNvSpPr/>
          <p:nvPr/>
        </p:nvSpPr>
        <p:spPr>
          <a:xfrm>
            <a:off x="3726493" y="3772339"/>
            <a:ext cx="1828800" cy="27432"/>
          </a:xfrm>
          <a:prstGeom prst="rect">
            <a:avLst/>
          </a:prstGeom>
          <a:solidFill>
            <a:srgbClr val="0891B2"/>
          </a:solidFill>
          <a:ln/>
        </p:spPr>
        <p:txBody>
          <a:bodyPr/>
          <a:lstStyle/>
          <a:p>
            <a:endParaRPr lang="en-ID">
              <a:latin typeface="Aptos" panose="020B0004020202020204" pitchFamily="34" charset="0"/>
            </a:endParaRPr>
          </a:p>
        </p:txBody>
      </p:sp>
      <p:sp>
        <p:nvSpPr>
          <p:cNvPr id="7" name="Text 4"/>
          <p:cNvSpPr/>
          <p:nvPr/>
        </p:nvSpPr>
        <p:spPr>
          <a:xfrm>
            <a:off x="526093" y="3772339"/>
            <a:ext cx="8229600" cy="457200"/>
          </a:xfrm>
          <a:prstGeom prst="rect">
            <a:avLst/>
          </a:prstGeom>
          <a:noFill/>
          <a:ln/>
        </p:spPr>
        <p:txBody>
          <a:bodyPr wrap="square" lIns="0" tIns="0" rIns="0" bIns="0" rtlCol="0" anchor="ctr"/>
          <a:lstStyle/>
          <a:p>
            <a:pPr marL="0" indent="0" algn="ctr">
              <a:buNone/>
            </a:pPr>
            <a:r>
              <a:rPr lang="en-US" sz="1200" dirty="0">
                <a:solidFill>
                  <a:srgbClr val="94A3B8"/>
                </a:solidFill>
                <a:latin typeface="Aptos" panose="020B0004020202020204" pitchFamily="34" charset="0"/>
                <a:ea typeface="Calibri" pitchFamily="34" charset="-122"/>
                <a:cs typeface="Calibri" pitchFamily="34" charset="-120"/>
              </a:rPr>
              <a:t>Panduan Pendaftaran, Pelaksanaan, &amp; Pengumpulan Sertifikat</a:t>
            </a:r>
            <a:endParaRPr lang="en-US" sz="1200" dirty="0">
              <a:latin typeface="Aptos" panose="020B0004020202020204" pitchFamily="34" charset="0"/>
            </a:endParaRPr>
          </a:p>
        </p:txBody>
      </p:sp>
      <p:sp>
        <p:nvSpPr>
          <p:cNvPr id="8" name="Text 5"/>
          <p:cNvSpPr/>
          <p:nvPr/>
        </p:nvSpPr>
        <p:spPr>
          <a:xfrm>
            <a:off x="526093" y="4119811"/>
            <a:ext cx="8229600" cy="731520"/>
          </a:xfrm>
          <a:prstGeom prst="rect">
            <a:avLst/>
          </a:prstGeom>
          <a:noFill/>
          <a:ln/>
        </p:spPr>
        <p:txBody>
          <a:bodyPr wrap="square" rtlCol="0" anchor="ctr"/>
          <a:lstStyle/>
          <a:p>
            <a:pPr marL="0" indent="0" algn="ctr">
              <a:lnSpc>
                <a:spcPct val="150000"/>
              </a:lnSpc>
              <a:buNone/>
            </a:pPr>
            <a:r>
              <a:rPr lang="en-US" sz="1100" b="1" dirty="0">
                <a:solidFill>
                  <a:srgbClr val="94A3B8"/>
                </a:solidFill>
                <a:latin typeface="Aptos" panose="020B0004020202020204" pitchFamily="34" charset="0"/>
                <a:ea typeface="Calibri" pitchFamily="34" charset="-122"/>
                <a:cs typeface="Calibri" pitchFamily="34" charset="-120"/>
              </a:rPr>
              <a:t>Mata Kuliah: Big Data Analytics</a:t>
            </a:r>
            <a:endParaRPr lang="en-US" sz="1100" dirty="0">
              <a:latin typeface="Aptos" panose="020B0004020202020204" pitchFamily="34" charset="0"/>
            </a:endParaRPr>
          </a:p>
          <a:p>
            <a:pPr marL="0" indent="0" algn="ctr">
              <a:lnSpc>
                <a:spcPct val="150000"/>
              </a:lnSpc>
              <a:buNone/>
            </a:pPr>
            <a:r>
              <a:rPr lang="en-US" sz="1100" dirty="0">
                <a:solidFill>
                  <a:srgbClr val="94A3B8"/>
                </a:solidFill>
                <a:latin typeface="Aptos" panose="020B0004020202020204" pitchFamily="34" charset="0"/>
                <a:ea typeface="Calibri" pitchFamily="34" charset="-122"/>
                <a:cs typeface="Calibri" pitchFamily="34" charset="-120"/>
              </a:rPr>
              <a:t>Dr. Donny Maha Putra</a:t>
            </a:r>
            <a:endParaRPr lang="en-US" sz="1100" dirty="0">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b="1" dirty="0">
                <a:solidFill>
                  <a:srgbClr val="1E293B"/>
                </a:solidFill>
                <a:latin typeface="Aptos" panose="020B0004020202020204" pitchFamily="34" charset="0"/>
                <a:ea typeface="Trebuchet MS" pitchFamily="34" charset="-122"/>
                <a:cs typeface="Trebuchet MS" pitchFamily="34" charset="-120"/>
              </a:rPr>
              <a:t>Gambaran Umum Tugas</a:t>
            </a:r>
            <a:endParaRPr lang="en-US" sz="2800" dirty="0">
              <a:latin typeface="Aptos" panose="020B0004020202020204" pitchFamily="34" charset="0"/>
            </a:endParaRPr>
          </a:p>
        </p:txBody>
      </p:sp>
      <p:sp>
        <p:nvSpPr>
          <p:cNvPr id="3" name="Shape 1"/>
          <p:cNvSpPr/>
          <p:nvPr/>
        </p:nvSpPr>
        <p:spPr>
          <a:xfrm>
            <a:off x="640080" y="1097280"/>
            <a:ext cx="7863840" cy="1463040"/>
          </a:xfrm>
          <a:prstGeom prst="rect">
            <a:avLst/>
          </a:prstGeom>
          <a:solidFill>
            <a:schemeClr val="accent5">
              <a:lumMod val="20000"/>
              <a:lumOff val="80000"/>
            </a:schemeClr>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4" name="Shape 2"/>
          <p:cNvSpPr/>
          <p:nvPr/>
        </p:nvSpPr>
        <p:spPr>
          <a:xfrm>
            <a:off x="640080" y="1097280"/>
            <a:ext cx="64008" cy="1463040"/>
          </a:xfrm>
          <a:prstGeom prst="rect">
            <a:avLst/>
          </a:prstGeom>
          <a:solidFill>
            <a:srgbClr val="0891B2"/>
          </a:solidFill>
          <a:ln/>
        </p:spPr>
        <p:txBody>
          <a:bodyPr/>
          <a:lstStyle/>
          <a:p>
            <a:endParaRPr lang="en-ID">
              <a:latin typeface="Aptos" panose="020B0004020202020204" pitchFamily="34" charset="0"/>
            </a:endParaRPr>
          </a:p>
        </p:txBody>
      </p:sp>
      <p:sp>
        <p:nvSpPr>
          <p:cNvPr id="5" name="Text 3"/>
          <p:cNvSpPr/>
          <p:nvPr/>
        </p:nvSpPr>
        <p:spPr>
          <a:xfrm>
            <a:off x="1005840" y="1234440"/>
            <a:ext cx="7223760" cy="1188720"/>
          </a:xfrm>
          <a:prstGeom prst="rect">
            <a:avLst/>
          </a:prstGeom>
          <a:noFill/>
          <a:ln/>
        </p:spPr>
        <p:txBody>
          <a:bodyPr wrap="square" rtlCol="0" anchor="ctr"/>
          <a:lstStyle/>
          <a:p>
            <a:pPr marL="0" indent="0">
              <a:lnSpc>
                <a:spcPct val="150000"/>
              </a:lnSpc>
              <a:buNone/>
            </a:pPr>
            <a:r>
              <a:rPr lang="en-US" sz="1300" dirty="0">
                <a:solidFill>
                  <a:srgbClr val="475569"/>
                </a:solidFill>
                <a:latin typeface="Aptos" panose="020B0004020202020204" pitchFamily="34" charset="0"/>
                <a:ea typeface="Calibri" pitchFamily="34" charset="-122"/>
                <a:cs typeface="Calibri" pitchFamily="34" charset="-120"/>
              </a:rPr>
              <a:t>Mahasiswa diwajibkan mengikuti kursus online mandiri bertema Big Data Analytics pada tingkat basic (dasar). Kursus dapat diambil dari salah satu platform yang direkomendasikan. Bukti kelulusan berupa sertifikat digital wajib diunggah ke folder Google Drive / link yang telah disediakan oleh dosen. Tugas ini memiliki bobot 25% dari nilai akhir.</a:t>
            </a:r>
            <a:endParaRPr lang="en-US" sz="1300" dirty="0">
              <a:latin typeface="Aptos" panose="020B0004020202020204" pitchFamily="34" charset="0"/>
            </a:endParaRPr>
          </a:p>
        </p:txBody>
      </p:sp>
      <p:sp>
        <p:nvSpPr>
          <p:cNvPr id="6" name="Shape 4"/>
          <p:cNvSpPr/>
          <p:nvPr/>
        </p:nvSpPr>
        <p:spPr>
          <a:xfrm>
            <a:off x="640080" y="2926080"/>
            <a:ext cx="182880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7" name="Shape 5"/>
          <p:cNvSpPr/>
          <p:nvPr/>
        </p:nvSpPr>
        <p:spPr>
          <a:xfrm>
            <a:off x="640080" y="2926080"/>
            <a:ext cx="1828800" cy="54864"/>
          </a:xfrm>
          <a:prstGeom prst="rect">
            <a:avLst/>
          </a:prstGeom>
          <a:solidFill>
            <a:srgbClr val="0891B2"/>
          </a:solidFill>
          <a:ln/>
        </p:spPr>
        <p:txBody>
          <a:bodyPr/>
          <a:lstStyle/>
          <a:p>
            <a:endParaRPr lang="en-ID">
              <a:latin typeface="Aptos" panose="020B0004020202020204" pitchFamily="34" charset="0"/>
            </a:endParaRPr>
          </a:p>
        </p:txBody>
      </p:sp>
      <p:sp>
        <p:nvSpPr>
          <p:cNvPr id="8" name="Text 6"/>
          <p:cNvSpPr/>
          <p:nvPr/>
        </p:nvSpPr>
        <p:spPr>
          <a:xfrm>
            <a:off x="640080" y="3154680"/>
            <a:ext cx="1828800" cy="320040"/>
          </a:xfrm>
          <a:prstGeom prst="rect">
            <a:avLst/>
          </a:prstGeom>
          <a:noFill/>
          <a:ln/>
        </p:spPr>
        <p:txBody>
          <a:bodyPr wrap="square" lIns="0" tIns="0" rIns="0" bIns="0" rtlCol="0" anchor="ctr"/>
          <a:lstStyle/>
          <a:p>
            <a:pPr marL="0" indent="0" algn="ctr">
              <a:buNone/>
            </a:pPr>
            <a:r>
              <a:rPr lang="en-US" sz="1000" b="1" kern="0" spc="200" dirty="0">
                <a:solidFill>
                  <a:srgbClr val="94A3B8"/>
                </a:solidFill>
                <a:latin typeface="Aptos" panose="020B0004020202020204" pitchFamily="34" charset="0"/>
                <a:ea typeface="Calibri" pitchFamily="34" charset="-122"/>
                <a:cs typeface="Calibri" pitchFamily="34" charset="-120"/>
              </a:rPr>
              <a:t>Tingkat</a:t>
            </a:r>
            <a:endParaRPr lang="en-US" sz="1000" dirty="0">
              <a:latin typeface="Aptos" panose="020B0004020202020204" pitchFamily="34" charset="0"/>
            </a:endParaRPr>
          </a:p>
        </p:txBody>
      </p:sp>
      <p:sp>
        <p:nvSpPr>
          <p:cNvPr id="9" name="Text 7"/>
          <p:cNvSpPr/>
          <p:nvPr/>
        </p:nvSpPr>
        <p:spPr>
          <a:xfrm>
            <a:off x="640080" y="3520440"/>
            <a:ext cx="1828800"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Aptos" panose="020B0004020202020204" pitchFamily="34" charset="0"/>
                <a:ea typeface="Trebuchet MS" pitchFamily="34" charset="-122"/>
                <a:cs typeface="Trebuchet MS" pitchFamily="34" charset="-120"/>
              </a:rPr>
              <a:t>Basic / Beginner</a:t>
            </a:r>
            <a:endParaRPr lang="en-US" sz="1600" dirty="0">
              <a:latin typeface="Aptos" panose="020B0004020202020204" pitchFamily="34" charset="0"/>
            </a:endParaRPr>
          </a:p>
        </p:txBody>
      </p:sp>
      <p:sp>
        <p:nvSpPr>
          <p:cNvPr id="10" name="Shape 8"/>
          <p:cNvSpPr/>
          <p:nvPr/>
        </p:nvSpPr>
        <p:spPr>
          <a:xfrm>
            <a:off x="2697480" y="2926080"/>
            <a:ext cx="182880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11" name="Shape 9"/>
          <p:cNvSpPr/>
          <p:nvPr/>
        </p:nvSpPr>
        <p:spPr>
          <a:xfrm>
            <a:off x="2697480" y="2926080"/>
            <a:ext cx="1828800" cy="54864"/>
          </a:xfrm>
          <a:prstGeom prst="rect">
            <a:avLst/>
          </a:prstGeom>
          <a:solidFill>
            <a:srgbClr val="065A82"/>
          </a:solidFill>
          <a:ln/>
        </p:spPr>
        <p:txBody>
          <a:bodyPr/>
          <a:lstStyle/>
          <a:p>
            <a:endParaRPr lang="en-ID">
              <a:latin typeface="Aptos" panose="020B0004020202020204" pitchFamily="34" charset="0"/>
            </a:endParaRPr>
          </a:p>
        </p:txBody>
      </p:sp>
      <p:sp>
        <p:nvSpPr>
          <p:cNvPr id="12" name="Text 10"/>
          <p:cNvSpPr/>
          <p:nvPr/>
        </p:nvSpPr>
        <p:spPr>
          <a:xfrm>
            <a:off x="2697480" y="3154680"/>
            <a:ext cx="1828800" cy="320040"/>
          </a:xfrm>
          <a:prstGeom prst="rect">
            <a:avLst/>
          </a:prstGeom>
          <a:noFill/>
          <a:ln/>
        </p:spPr>
        <p:txBody>
          <a:bodyPr wrap="square" lIns="0" tIns="0" rIns="0" bIns="0" rtlCol="0" anchor="ctr"/>
          <a:lstStyle/>
          <a:p>
            <a:pPr marL="0" indent="0" algn="ctr">
              <a:buNone/>
            </a:pPr>
            <a:r>
              <a:rPr lang="en-US" sz="1000" b="1" kern="0" spc="200" dirty="0">
                <a:solidFill>
                  <a:srgbClr val="94A3B8"/>
                </a:solidFill>
                <a:latin typeface="Aptos" panose="020B0004020202020204" pitchFamily="34" charset="0"/>
                <a:ea typeface="Calibri" pitchFamily="34" charset="-122"/>
                <a:cs typeface="Calibri" pitchFamily="34" charset="-120"/>
              </a:rPr>
              <a:t>Bobot Nilai</a:t>
            </a:r>
            <a:endParaRPr lang="en-US" sz="1000" dirty="0">
              <a:latin typeface="Aptos" panose="020B0004020202020204" pitchFamily="34" charset="0"/>
            </a:endParaRPr>
          </a:p>
        </p:txBody>
      </p:sp>
      <p:sp>
        <p:nvSpPr>
          <p:cNvPr id="13" name="Text 11"/>
          <p:cNvSpPr/>
          <p:nvPr/>
        </p:nvSpPr>
        <p:spPr>
          <a:xfrm>
            <a:off x="2697480" y="3520440"/>
            <a:ext cx="1828800"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Aptos" panose="020B0004020202020204" pitchFamily="34" charset="0"/>
                <a:ea typeface="Trebuchet MS" pitchFamily="34" charset="-122"/>
                <a:cs typeface="Trebuchet MS" pitchFamily="34" charset="-120"/>
              </a:rPr>
              <a:t>25%</a:t>
            </a:r>
            <a:endParaRPr lang="en-US" sz="1600" dirty="0">
              <a:latin typeface="Aptos" panose="020B0004020202020204" pitchFamily="34" charset="0"/>
            </a:endParaRPr>
          </a:p>
        </p:txBody>
      </p:sp>
      <p:sp>
        <p:nvSpPr>
          <p:cNvPr id="14" name="Shape 12"/>
          <p:cNvSpPr/>
          <p:nvPr/>
        </p:nvSpPr>
        <p:spPr>
          <a:xfrm>
            <a:off x="4754880" y="2926080"/>
            <a:ext cx="182880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15" name="Shape 13"/>
          <p:cNvSpPr/>
          <p:nvPr/>
        </p:nvSpPr>
        <p:spPr>
          <a:xfrm>
            <a:off x="4754880" y="2926080"/>
            <a:ext cx="1828800" cy="54864"/>
          </a:xfrm>
          <a:prstGeom prst="rect">
            <a:avLst/>
          </a:prstGeom>
          <a:solidFill>
            <a:srgbClr val="D97706"/>
          </a:solidFill>
          <a:ln/>
        </p:spPr>
        <p:txBody>
          <a:bodyPr/>
          <a:lstStyle/>
          <a:p>
            <a:endParaRPr lang="en-ID">
              <a:latin typeface="Aptos" panose="020B0004020202020204" pitchFamily="34" charset="0"/>
            </a:endParaRPr>
          </a:p>
        </p:txBody>
      </p:sp>
      <p:sp>
        <p:nvSpPr>
          <p:cNvPr id="16" name="Text 14"/>
          <p:cNvSpPr/>
          <p:nvPr/>
        </p:nvSpPr>
        <p:spPr>
          <a:xfrm>
            <a:off x="4754880" y="3154680"/>
            <a:ext cx="1828800" cy="320040"/>
          </a:xfrm>
          <a:prstGeom prst="rect">
            <a:avLst/>
          </a:prstGeom>
          <a:noFill/>
          <a:ln/>
        </p:spPr>
        <p:txBody>
          <a:bodyPr wrap="square" lIns="0" tIns="0" rIns="0" bIns="0" rtlCol="0" anchor="ctr"/>
          <a:lstStyle/>
          <a:p>
            <a:pPr marL="0" indent="0" algn="ctr">
              <a:buNone/>
            </a:pPr>
            <a:r>
              <a:rPr lang="en-US" sz="1000" b="1" kern="0" spc="200" dirty="0">
                <a:solidFill>
                  <a:srgbClr val="94A3B8"/>
                </a:solidFill>
                <a:latin typeface="Aptos" panose="020B0004020202020204" pitchFamily="34" charset="0"/>
                <a:ea typeface="Calibri" pitchFamily="34" charset="-122"/>
                <a:cs typeface="Calibri" pitchFamily="34" charset="-120"/>
              </a:rPr>
              <a:t>Batas Waktu</a:t>
            </a:r>
            <a:endParaRPr lang="en-US" sz="1000" dirty="0">
              <a:latin typeface="Aptos" panose="020B0004020202020204" pitchFamily="34" charset="0"/>
            </a:endParaRPr>
          </a:p>
        </p:txBody>
      </p:sp>
      <p:sp>
        <p:nvSpPr>
          <p:cNvPr id="17" name="Text 15"/>
          <p:cNvSpPr/>
          <p:nvPr/>
        </p:nvSpPr>
        <p:spPr>
          <a:xfrm>
            <a:off x="4754880" y="3520440"/>
            <a:ext cx="1828800"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Aptos" panose="020B0004020202020204" pitchFamily="34" charset="0"/>
                <a:ea typeface="Trebuchet MS" pitchFamily="34" charset="-122"/>
                <a:cs typeface="Trebuchet MS" pitchFamily="34" charset="-120"/>
              </a:rPr>
              <a:t>Pertemuan ke-15</a:t>
            </a:r>
            <a:endParaRPr lang="en-US" sz="1600" dirty="0">
              <a:latin typeface="Aptos" panose="020B0004020202020204" pitchFamily="34" charset="0"/>
            </a:endParaRPr>
          </a:p>
        </p:txBody>
      </p:sp>
      <p:sp>
        <p:nvSpPr>
          <p:cNvPr id="18" name="Shape 16"/>
          <p:cNvSpPr/>
          <p:nvPr/>
        </p:nvSpPr>
        <p:spPr>
          <a:xfrm>
            <a:off x="6812280" y="2926080"/>
            <a:ext cx="182880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19" name="Shape 17"/>
          <p:cNvSpPr/>
          <p:nvPr/>
        </p:nvSpPr>
        <p:spPr>
          <a:xfrm>
            <a:off x="6812280" y="2926080"/>
            <a:ext cx="1828800" cy="54864"/>
          </a:xfrm>
          <a:prstGeom prst="rect">
            <a:avLst/>
          </a:prstGeom>
          <a:solidFill>
            <a:srgbClr val="059669"/>
          </a:solidFill>
          <a:ln/>
        </p:spPr>
        <p:txBody>
          <a:bodyPr/>
          <a:lstStyle/>
          <a:p>
            <a:endParaRPr lang="en-ID">
              <a:latin typeface="Aptos" panose="020B0004020202020204" pitchFamily="34" charset="0"/>
            </a:endParaRPr>
          </a:p>
        </p:txBody>
      </p:sp>
      <p:sp>
        <p:nvSpPr>
          <p:cNvPr id="20" name="Text 18"/>
          <p:cNvSpPr/>
          <p:nvPr/>
        </p:nvSpPr>
        <p:spPr>
          <a:xfrm>
            <a:off x="6812280" y="3154680"/>
            <a:ext cx="1828800" cy="320040"/>
          </a:xfrm>
          <a:prstGeom prst="rect">
            <a:avLst/>
          </a:prstGeom>
          <a:noFill/>
          <a:ln/>
        </p:spPr>
        <p:txBody>
          <a:bodyPr wrap="square" lIns="0" tIns="0" rIns="0" bIns="0" rtlCol="0" anchor="ctr"/>
          <a:lstStyle/>
          <a:p>
            <a:pPr marL="0" indent="0" algn="ctr">
              <a:buNone/>
            </a:pPr>
            <a:r>
              <a:rPr lang="en-US" sz="1000" b="1" kern="0" spc="200" dirty="0">
                <a:solidFill>
                  <a:srgbClr val="94A3B8"/>
                </a:solidFill>
                <a:latin typeface="Aptos" panose="020B0004020202020204" pitchFamily="34" charset="0"/>
                <a:ea typeface="Calibri" pitchFamily="34" charset="-122"/>
                <a:cs typeface="Calibri" pitchFamily="34" charset="-120"/>
              </a:rPr>
              <a:t>Bukti</a:t>
            </a:r>
            <a:endParaRPr lang="en-US" sz="1000" dirty="0">
              <a:latin typeface="Aptos" panose="020B0004020202020204" pitchFamily="34" charset="0"/>
            </a:endParaRPr>
          </a:p>
        </p:txBody>
      </p:sp>
      <p:sp>
        <p:nvSpPr>
          <p:cNvPr id="21" name="Text 19"/>
          <p:cNvSpPr/>
          <p:nvPr/>
        </p:nvSpPr>
        <p:spPr>
          <a:xfrm>
            <a:off x="6812280" y="3520440"/>
            <a:ext cx="1828800" cy="457200"/>
          </a:xfrm>
          <a:prstGeom prst="rect">
            <a:avLst/>
          </a:prstGeom>
          <a:noFill/>
          <a:ln/>
        </p:spPr>
        <p:txBody>
          <a:bodyPr wrap="square" lIns="0" tIns="0" rIns="0" bIns="0" rtlCol="0" anchor="ctr"/>
          <a:lstStyle/>
          <a:p>
            <a:pPr marL="0" indent="0" algn="ctr">
              <a:buNone/>
            </a:pPr>
            <a:r>
              <a:rPr lang="en-US" sz="1600" b="1" dirty="0">
                <a:solidFill>
                  <a:srgbClr val="1E293B"/>
                </a:solidFill>
                <a:latin typeface="Aptos" panose="020B0004020202020204" pitchFamily="34" charset="0"/>
                <a:ea typeface="Trebuchet MS" pitchFamily="34" charset="-122"/>
                <a:cs typeface="Trebuchet MS" pitchFamily="34" charset="-120"/>
              </a:rPr>
              <a:t>Sertifikat Digital</a:t>
            </a:r>
            <a:endParaRPr lang="en-US" sz="1600" dirty="0">
              <a:latin typeface="Aptos" panose="020B0004020202020204" pitchFamily="34" charset="0"/>
            </a:endParaRPr>
          </a:p>
        </p:txBody>
      </p:sp>
      <p:sp>
        <p:nvSpPr>
          <p:cNvPr id="22" name="Shape 20"/>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23" name="Text 21"/>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b="1" dirty="0">
                <a:solidFill>
                  <a:srgbClr val="1E293B"/>
                </a:solidFill>
                <a:latin typeface="Aptos" panose="020B0004020202020204" pitchFamily="34" charset="0"/>
                <a:ea typeface="Trebuchet MS" pitchFamily="34" charset="-122"/>
                <a:cs typeface="Trebuchet MS" pitchFamily="34" charset="-120"/>
              </a:rPr>
              <a:t>Pilihan Platform Kursus</a:t>
            </a:r>
            <a:endParaRPr lang="en-US" sz="2800" dirty="0">
              <a:latin typeface="Aptos" panose="020B0004020202020204" pitchFamily="34" charset="0"/>
            </a:endParaRPr>
          </a:p>
        </p:txBody>
      </p:sp>
      <p:sp>
        <p:nvSpPr>
          <p:cNvPr id="3" name="Text 1"/>
          <p:cNvSpPr/>
          <p:nvPr/>
        </p:nvSpPr>
        <p:spPr>
          <a:xfrm>
            <a:off x="640080" y="914400"/>
            <a:ext cx="7863840" cy="365760"/>
          </a:xfrm>
          <a:prstGeom prst="rect">
            <a:avLst/>
          </a:prstGeom>
          <a:noFill/>
          <a:ln/>
        </p:spPr>
        <p:txBody>
          <a:bodyPr wrap="square" lIns="0" tIns="0" rIns="0" bIns="0" rtlCol="0" anchor="ctr"/>
          <a:lstStyle/>
          <a:p>
            <a:pPr marL="0" indent="0">
              <a:buNone/>
            </a:pPr>
            <a:r>
              <a:rPr lang="en-US" sz="1200" dirty="0">
                <a:solidFill>
                  <a:srgbClr val="475569"/>
                </a:solidFill>
                <a:latin typeface="Aptos" panose="020B0004020202020204" pitchFamily="34" charset="0"/>
                <a:ea typeface="Calibri" pitchFamily="34" charset="-122"/>
                <a:cs typeface="Calibri" pitchFamily="34" charset="-120"/>
              </a:rPr>
              <a:t>Pilih salah satu kursus berikut (atau kursus serupa bertema Big Data Analytics level basic):</a:t>
            </a:r>
            <a:endParaRPr lang="en-US" sz="1200" dirty="0">
              <a:latin typeface="Aptos" panose="020B0004020202020204" pitchFamily="34" charset="0"/>
            </a:endParaRPr>
          </a:p>
        </p:txBody>
      </p:sp>
      <p:sp>
        <p:nvSpPr>
          <p:cNvPr id="4" name="Shape 2"/>
          <p:cNvSpPr/>
          <p:nvPr/>
        </p:nvSpPr>
        <p:spPr>
          <a:xfrm>
            <a:off x="640080" y="1325880"/>
            <a:ext cx="786384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5" name="Shape 3"/>
          <p:cNvSpPr/>
          <p:nvPr/>
        </p:nvSpPr>
        <p:spPr>
          <a:xfrm>
            <a:off x="868680" y="1581912"/>
            <a:ext cx="457200" cy="457200"/>
          </a:xfrm>
          <a:prstGeom prst="ellipse">
            <a:avLst/>
          </a:prstGeom>
          <a:solidFill>
            <a:srgbClr val="0891B2"/>
          </a:solidFill>
          <a:ln/>
        </p:spPr>
        <p:txBody>
          <a:bodyPr/>
          <a:lstStyle/>
          <a:p>
            <a:endParaRPr lang="en-ID">
              <a:latin typeface="Aptos" panose="020B0004020202020204" pitchFamily="34" charset="0"/>
            </a:endParaRPr>
          </a:p>
        </p:txBody>
      </p:sp>
      <p:sp>
        <p:nvSpPr>
          <p:cNvPr id="6" name="Text 4"/>
          <p:cNvSpPr/>
          <p:nvPr/>
        </p:nvSpPr>
        <p:spPr>
          <a:xfrm>
            <a:off x="868680" y="158191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Trebuchet MS" pitchFamily="34" charset="-122"/>
                <a:cs typeface="Trebuchet MS" pitchFamily="34" charset="-120"/>
              </a:rPr>
              <a:t>1</a:t>
            </a:r>
            <a:endParaRPr lang="en-US" sz="1600" dirty="0">
              <a:latin typeface="Aptos" panose="020B0004020202020204" pitchFamily="34" charset="0"/>
            </a:endParaRPr>
          </a:p>
        </p:txBody>
      </p:sp>
      <p:sp>
        <p:nvSpPr>
          <p:cNvPr id="7" name="Text 5"/>
          <p:cNvSpPr/>
          <p:nvPr/>
        </p:nvSpPr>
        <p:spPr>
          <a:xfrm>
            <a:off x="1508760" y="1399032"/>
            <a:ext cx="4114800" cy="320040"/>
          </a:xfrm>
          <a:prstGeom prst="rect">
            <a:avLst/>
          </a:prstGeom>
          <a:noFill/>
          <a:ln/>
        </p:spPr>
        <p:txBody>
          <a:bodyPr wrap="square" lIns="0" tIns="0" rIns="0" bIns="0" rtlCol="0" anchor="ctr"/>
          <a:lstStyle/>
          <a:p>
            <a:pPr marL="0" indent="0">
              <a:buNone/>
            </a:pPr>
            <a:r>
              <a:rPr lang="en-US" sz="1400" b="1" dirty="0">
                <a:solidFill>
                  <a:srgbClr val="1E293B"/>
                </a:solidFill>
                <a:latin typeface="Aptos" panose="020B0004020202020204" pitchFamily="34" charset="0"/>
                <a:ea typeface="Trebuchet MS" pitchFamily="34" charset="-122"/>
                <a:cs typeface="Trebuchet MS" pitchFamily="34" charset="-120"/>
              </a:rPr>
              <a:t>Mastering Big Data Analytics</a:t>
            </a:r>
            <a:endParaRPr lang="en-US" sz="1400" dirty="0">
              <a:latin typeface="Aptos" panose="020B0004020202020204" pitchFamily="34" charset="0"/>
            </a:endParaRPr>
          </a:p>
        </p:txBody>
      </p:sp>
      <p:sp>
        <p:nvSpPr>
          <p:cNvPr id="8" name="Text 6"/>
          <p:cNvSpPr/>
          <p:nvPr/>
        </p:nvSpPr>
        <p:spPr>
          <a:xfrm>
            <a:off x="1508760" y="1645920"/>
            <a:ext cx="4114800" cy="201168"/>
          </a:xfrm>
          <a:prstGeom prst="rect">
            <a:avLst/>
          </a:prstGeom>
          <a:noFill/>
          <a:ln/>
        </p:spPr>
        <p:txBody>
          <a:bodyPr wrap="square" lIns="0" tIns="0" rIns="0" bIns="0" rtlCol="0" anchor="ctr"/>
          <a:lstStyle/>
          <a:p>
            <a:pPr marL="0" indent="0">
              <a:buNone/>
            </a:pPr>
            <a:r>
              <a:rPr lang="en-US" sz="1100" dirty="0">
                <a:solidFill>
                  <a:srgbClr val="0891B2"/>
                </a:solidFill>
                <a:latin typeface="Aptos" panose="020B0004020202020204" pitchFamily="34" charset="0"/>
                <a:ea typeface="Calibri" pitchFamily="34" charset="-122"/>
                <a:cs typeface="Calibri" pitchFamily="34" charset="-120"/>
              </a:rPr>
              <a:t>Great Learning Academy</a:t>
            </a:r>
            <a:endParaRPr lang="en-US" sz="1100" dirty="0">
              <a:latin typeface="Aptos" panose="020B0004020202020204" pitchFamily="34" charset="0"/>
            </a:endParaRPr>
          </a:p>
        </p:txBody>
      </p:sp>
      <p:sp>
        <p:nvSpPr>
          <p:cNvPr id="9" name="Text 7">
            <a:hlinkClick r:id="rId3"/>
          </p:cNvPr>
          <p:cNvSpPr/>
          <p:nvPr/>
        </p:nvSpPr>
        <p:spPr>
          <a:xfrm>
            <a:off x="1508760" y="1828800"/>
            <a:ext cx="6766560" cy="201168"/>
          </a:xfrm>
          <a:prstGeom prst="rect">
            <a:avLst/>
          </a:prstGeom>
          <a:noFill/>
          <a:ln/>
        </p:spPr>
        <p:txBody>
          <a:bodyPr wrap="square" lIns="0" tIns="0" rIns="0" bIns="0" rtlCol="0" anchor="ctr"/>
          <a:lstStyle/>
          <a:p>
            <a:pPr marL="0" indent="0">
              <a:buNone/>
            </a:pPr>
            <a:r>
              <a:rPr lang="en-US" sz="850" u="sng" dirty="0">
                <a:solidFill>
                  <a:srgbClr val="94A3B8"/>
                </a:solidFill>
                <a:latin typeface="Aptos" panose="020B0004020202020204" pitchFamily="34" charset="0"/>
                <a:ea typeface="Consolas" pitchFamily="34" charset="-122"/>
                <a:cs typeface="Consolas" pitchFamily="34" charset="-120"/>
                <a:hlinkClick r:id="rId3">
                  <a:extLst>
                    <a:ext uri="{A12FA001-AC4F-418D-AE19-62706E023703}">
                      <ahyp:hlinkClr xmlns:ahyp="http://schemas.microsoft.com/office/drawing/2018/hyperlinkcolor" val="tx"/>
                    </a:ext>
                  </a:extLst>
                </a:hlinkClick>
              </a:rPr>
              <a:t>https://mygreatlearning.com/academy/learn-for-free/courses/mastering-big-data-analytics</a:t>
            </a:r>
            <a:endParaRPr lang="en-US" sz="850" dirty="0">
              <a:latin typeface="Aptos" panose="020B0004020202020204" pitchFamily="34" charset="0"/>
            </a:endParaRPr>
          </a:p>
        </p:txBody>
      </p:sp>
      <p:sp>
        <p:nvSpPr>
          <p:cNvPr id="10" name="Text 8"/>
          <p:cNvSpPr/>
          <p:nvPr/>
        </p:nvSpPr>
        <p:spPr>
          <a:xfrm>
            <a:off x="1508760" y="2029968"/>
            <a:ext cx="4114800" cy="182880"/>
          </a:xfrm>
          <a:prstGeom prst="rect">
            <a:avLst/>
          </a:prstGeom>
          <a:noFill/>
          <a:ln/>
        </p:spPr>
        <p:txBody>
          <a:bodyPr wrap="square" lIns="0" tIns="0" rIns="0" bIns="0" rtlCol="0" anchor="ctr"/>
          <a:lstStyle/>
          <a:p>
            <a:pPr marL="0" indent="0">
              <a:buNone/>
            </a:pPr>
            <a:r>
              <a:rPr lang="en-US" sz="950" dirty="0">
                <a:solidFill>
                  <a:srgbClr val="94A3B8"/>
                </a:solidFill>
                <a:latin typeface="Aptos" panose="020B0004020202020204" pitchFamily="34" charset="0"/>
                <a:ea typeface="Calibri" pitchFamily="34" charset="-122"/>
                <a:cs typeface="Calibri" pitchFamily="34" charset="-120"/>
              </a:rPr>
              <a:t>Hadoop, Hive, Spark, PySpark, Kafka</a:t>
            </a:r>
            <a:endParaRPr lang="en-US" sz="950" dirty="0">
              <a:latin typeface="Aptos" panose="020B0004020202020204" pitchFamily="34" charset="0"/>
            </a:endParaRPr>
          </a:p>
        </p:txBody>
      </p:sp>
      <p:sp>
        <p:nvSpPr>
          <p:cNvPr id="11" name="Shape 9"/>
          <p:cNvSpPr/>
          <p:nvPr/>
        </p:nvSpPr>
        <p:spPr>
          <a:xfrm>
            <a:off x="6035040" y="1463040"/>
            <a:ext cx="2194560" cy="320040"/>
          </a:xfrm>
          <a:prstGeom prst="rect">
            <a:avLst/>
          </a:prstGeom>
          <a:solidFill>
            <a:srgbClr val="E0F7FA"/>
          </a:solidFill>
          <a:ln/>
        </p:spPr>
        <p:txBody>
          <a:bodyPr/>
          <a:lstStyle/>
          <a:p>
            <a:endParaRPr lang="en-ID">
              <a:latin typeface="Aptos" panose="020B0004020202020204" pitchFamily="34" charset="0"/>
            </a:endParaRPr>
          </a:p>
        </p:txBody>
      </p:sp>
      <p:sp>
        <p:nvSpPr>
          <p:cNvPr id="12" name="Text 10"/>
          <p:cNvSpPr/>
          <p:nvPr/>
        </p:nvSpPr>
        <p:spPr>
          <a:xfrm>
            <a:off x="6035040" y="1463040"/>
            <a:ext cx="2194560" cy="320040"/>
          </a:xfrm>
          <a:prstGeom prst="rect">
            <a:avLst/>
          </a:prstGeom>
          <a:noFill/>
          <a:ln/>
        </p:spPr>
        <p:txBody>
          <a:bodyPr wrap="square" lIns="0" tIns="0" rIns="0" bIns="0" rtlCol="0" anchor="ctr"/>
          <a:lstStyle/>
          <a:p>
            <a:pPr marL="0" indent="0" algn="ctr">
              <a:buNone/>
            </a:pPr>
            <a:r>
              <a:rPr lang="en-US" sz="950" b="1" dirty="0">
                <a:solidFill>
                  <a:srgbClr val="065A82"/>
                </a:solidFill>
                <a:latin typeface="Aptos" panose="020B0004020202020204" pitchFamily="34" charset="0"/>
                <a:ea typeface="Calibri" pitchFamily="34" charset="-122"/>
                <a:cs typeface="Calibri" pitchFamily="34" charset="-120"/>
              </a:rPr>
              <a:t>Gratis (Sertifikat Gratis)</a:t>
            </a:r>
            <a:endParaRPr lang="en-US" sz="950" dirty="0">
              <a:latin typeface="Aptos" panose="020B0004020202020204" pitchFamily="34" charset="0"/>
            </a:endParaRPr>
          </a:p>
        </p:txBody>
      </p:sp>
      <p:sp>
        <p:nvSpPr>
          <p:cNvPr id="13" name="Shape 11"/>
          <p:cNvSpPr/>
          <p:nvPr/>
        </p:nvSpPr>
        <p:spPr>
          <a:xfrm>
            <a:off x="640080" y="2377440"/>
            <a:ext cx="786384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14" name="Shape 12"/>
          <p:cNvSpPr/>
          <p:nvPr/>
        </p:nvSpPr>
        <p:spPr>
          <a:xfrm>
            <a:off x="868680" y="2633472"/>
            <a:ext cx="457200" cy="457200"/>
          </a:xfrm>
          <a:prstGeom prst="ellipse">
            <a:avLst/>
          </a:prstGeom>
          <a:solidFill>
            <a:srgbClr val="0891B2"/>
          </a:solidFill>
          <a:ln/>
        </p:spPr>
        <p:txBody>
          <a:bodyPr/>
          <a:lstStyle/>
          <a:p>
            <a:endParaRPr lang="en-ID">
              <a:latin typeface="Aptos" panose="020B0004020202020204" pitchFamily="34" charset="0"/>
            </a:endParaRPr>
          </a:p>
        </p:txBody>
      </p:sp>
      <p:sp>
        <p:nvSpPr>
          <p:cNvPr id="15" name="Text 13"/>
          <p:cNvSpPr/>
          <p:nvPr/>
        </p:nvSpPr>
        <p:spPr>
          <a:xfrm>
            <a:off x="868680" y="263347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Trebuchet MS" pitchFamily="34" charset="-122"/>
                <a:cs typeface="Trebuchet MS" pitchFamily="34" charset="-120"/>
              </a:rPr>
              <a:t>2</a:t>
            </a:r>
            <a:endParaRPr lang="en-US" sz="1600" dirty="0">
              <a:latin typeface="Aptos" panose="020B0004020202020204" pitchFamily="34" charset="0"/>
            </a:endParaRPr>
          </a:p>
        </p:txBody>
      </p:sp>
      <p:sp>
        <p:nvSpPr>
          <p:cNvPr id="16" name="Text 14"/>
          <p:cNvSpPr/>
          <p:nvPr/>
        </p:nvSpPr>
        <p:spPr>
          <a:xfrm>
            <a:off x="1508760" y="2450592"/>
            <a:ext cx="4114800" cy="320040"/>
          </a:xfrm>
          <a:prstGeom prst="rect">
            <a:avLst/>
          </a:prstGeom>
          <a:noFill/>
          <a:ln/>
        </p:spPr>
        <p:txBody>
          <a:bodyPr wrap="square" lIns="0" tIns="0" rIns="0" bIns="0" rtlCol="0" anchor="ctr"/>
          <a:lstStyle/>
          <a:p>
            <a:pPr marL="0" indent="0">
              <a:buNone/>
            </a:pPr>
            <a:r>
              <a:rPr lang="en-US" sz="1400" b="1" dirty="0">
                <a:solidFill>
                  <a:srgbClr val="1E293B"/>
                </a:solidFill>
                <a:latin typeface="Aptos" panose="020B0004020202020204" pitchFamily="34" charset="0"/>
                <a:ea typeface="Trebuchet MS" pitchFamily="34" charset="-122"/>
                <a:cs typeface="Trebuchet MS" pitchFamily="34" charset="-120"/>
              </a:rPr>
              <a:t>Introduction to Big Data</a:t>
            </a:r>
            <a:endParaRPr lang="en-US" sz="1400" dirty="0">
              <a:latin typeface="Aptos" panose="020B0004020202020204" pitchFamily="34" charset="0"/>
            </a:endParaRPr>
          </a:p>
        </p:txBody>
      </p:sp>
      <p:sp>
        <p:nvSpPr>
          <p:cNvPr id="17" name="Text 15"/>
          <p:cNvSpPr/>
          <p:nvPr/>
        </p:nvSpPr>
        <p:spPr>
          <a:xfrm>
            <a:off x="1508760" y="2697480"/>
            <a:ext cx="4114800" cy="201168"/>
          </a:xfrm>
          <a:prstGeom prst="rect">
            <a:avLst/>
          </a:prstGeom>
          <a:noFill/>
          <a:ln/>
        </p:spPr>
        <p:txBody>
          <a:bodyPr wrap="square" lIns="0" tIns="0" rIns="0" bIns="0" rtlCol="0" anchor="ctr"/>
          <a:lstStyle/>
          <a:p>
            <a:pPr marL="0" indent="0">
              <a:buNone/>
            </a:pPr>
            <a:r>
              <a:rPr lang="en-US" sz="1100" dirty="0">
                <a:solidFill>
                  <a:srgbClr val="0891B2"/>
                </a:solidFill>
                <a:latin typeface="Aptos" panose="020B0004020202020204" pitchFamily="34" charset="0"/>
                <a:ea typeface="Calibri" pitchFamily="34" charset="-122"/>
                <a:cs typeface="Calibri" pitchFamily="34" charset="-120"/>
              </a:rPr>
              <a:t>Coursera — UC San Diego</a:t>
            </a:r>
            <a:endParaRPr lang="en-US" sz="1100" dirty="0">
              <a:latin typeface="Aptos" panose="020B0004020202020204" pitchFamily="34" charset="0"/>
            </a:endParaRPr>
          </a:p>
        </p:txBody>
      </p:sp>
      <p:sp>
        <p:nvSpPr>
          <p:cNvPr id="18" name="Text 16">
            <a:hlinkClick r:id="rId4"/>
          </p:cNvPr>
          <p:cNvSpPr/>
          <p:nvPr/>
        </p:nvSpPr>
        <p:spPr>
          <a:xfrm>
            <a:off x="1508760" y="2880360"/>
            <a:ext cx="6766560" cy="201168"/>
          </a:xfrm>
          <a:prstGeom prst="rect">
            <a:avLst/>
          </a:prstGeom>
          <a:noFill/>
          <a:ln/>
        </p:spPr>
        <p:txBody>
          <a:bodyPr wrap="square" lIns="0" tIns="0" rIns="0" bIns="0" rtlCol="0" anchor="ctr"/>
          <a:lstStyle/>
          <a:p>
            <a:pPr marL="0" indent="0">
              <a:buNone/>
            </a:pPr>
            <a:r>
              <a:rPr lang="en-US" sz="850" u="sng" dirty="0">
                <a:solidFill>
                  <a:srgbClr val="94A3B8"/>
                </a:solidFill>
                <a:latin typeface="Aptos" panose="020B0004020202020204" pitchFamily="34" charset="0"/>
                <a:ea typeface="Consolas" pitchFamily="34" charset="-122"/>
                <a:cs typeface="Consolas" pitchFamily="34" charset="-120"/>
                <a:hlinkClick r:id="rId4">
                  <a:extLst>
                    <a:ext uri="{A12FA001-AC4F-418D-AE19-62706E023703}">
                      <ahyp:hlinkClr xmlns:ahyp="http://schemas.microsoft.com/office/drawing/2018/hyperlinkcolor" val="tx"/>
                    </a:ext>
                  </a:extLst>
                </a:hlinkClick>
              </a:rPr>
              <a:t>https://www.coursera.org/learn/big-data-introduction</a:t>
            </a:r>
            <a:endParaRPr lang="en-US" sz="850" dirty="0">
              <a:latin typeface="Aptos" panose="020B0004020202020204" pitchFamily="34" charset="0"/>
            </a:endParaRPr>
          </a:p>
        </p:txBody>
      </p:sp>
      <p:sp>
        <p:nvSpPr>
          <p:cNvPr id="19" name="Text 17"/>
          <p:cNvSpPr/>
          <p:nvPr/>
        </p:nvSpPr>
        <p:spPr>
          <a:xfrm>
            <a:off x="1508760" y="3081528"/>
            <a:ext cx="4114800" cy="182880"/>
          </a:xfrm>
          <a:prstGeom prst="rect">
            <a:avLst/>
          </a:prstGeom>
          <a:noFill/>
          <a:ln/>
        </p:spPr>
        <p:txBody>
          <a:bodyPr wrap="square" lIns="0" tIns="0" rIns="0" bIns="0" rtlCol="0" anchor="ctr"/>
          <a:lstStyle/>
          <a:p>
            <a:pPr marL="0" indent="0">
              <a:buNone/>
            </a:pPr>
            <a:r>
              <a:rPr lang="en-US" sz="950" dirty="0">
                <a:solidFill>
                  <a:srgbClr val="94A3B8"/>
                </a:solidFill>
                <a:latin typeface="Aptos" panose="020B0004020202020204" pitchFamily="34" charset="0"/>
                <a:ea typeface="Calibri" pitchFamily="34" charset="-122"/>
                <a:cs typeface="Calibri" pitchFamily="34" charset="-120"/>
              </a:rPr>
              <a:t>Konsep Big Data, 5V, Hadoop Ecosystem</a:t>
            </a:r>
            <a:endParaRPr lang="en-US" sz="950" dirty="0">
              <a:latin typeface="Aptos" panose="020B0004020202020204" pitchFamily="34" charset="0"/>
            </a:endParaRPr>
          </a:p>
        </p:txBody>
      </p:sp>
      <p:sp>
        <p:nvSpPr>
          <p:cNvPr id="20" name="Shape 18"/>
          <p:cNvSpPr/>
          <p:nvPr/>
        </p:nvSpPr>
        <p:spPr>
          <a:xfrm>
            <a:off x="6035040" y="2514600"/>
            <a:ext cx="2194560" cy="320040"/>
          </a:xfrm>
          <a:prstGeom prst="rect">
            <a:avLst/>
          </a:prstGeom>
          <a:solidFill>
            <a:srgbClr val="E0F7FA"/>
          </a:solidFill>
          <a:ln/>
        </p:spPr>
        <p:txBody>
          <a:bodyPr/>
          <a:lstStyle/>
          <a:p>
            <a:endParaRPr lang="en-ID">
              <a:latin typeface="Aptos" panose="020B0004020202020204" pitchFamily="34" charset="0"/>
            </a:endParaRPr>
          </a:p>
        </p:txBody>
      </p:sp>
      <p:sp>
        <p:nvSpPr>
          <p:cNvPr id="21" name="Text 19"/>
          <p:cNvSpPr/>
          <p:nvPr/>
        </p:nvSpPr>
        <p:spPr>
          <a:xfrm>
            <a:off x="6035040" y="2514600"/>
            <a:ext cx="2194560" cy="320040"/>
          </a:xfrm>
          <a:prstGeom prst="rect">
            <a:avLst/>
          </a:prstGeom>
          <a:noFill/>
          <a:ln/>
        </p:spPr>
        <p:txBody>
          <a:bodyPr wrap="square" lIns="0" tIns="0" rIns="0" bIns="0" rtlCol="0" anchor="ctr"/>
          <a:lstStyle/>
          <a:p>
            <a:pPr marL="0" indent="0" algn="ctr">
              <a:buNone/>
            </a:pPr>
            <a:r>
              <a:rPr lang="en-US" sz="950" b="1" dirty="0">
                <a:solidFill>
                  <a:srgbClr val="065A82"/>
                </a:solidFill>
                <a:latin typeface="Aptos" panose="020B0004020202020204" pitchFamily="34" charset="0"/>
                <a:ea typeface="Calibri" pitchFamily="34" charset="-122"/>
                <a:cs typeface="Calibri" pitchFamily="34" charset="-120"/>
              </a:rPr>
              <a:t>Gratis (Audit) / Bayar Sertifikat</a:t>
            </a:r>
            <a:endParaRPr lang="en-US" sz="950" dirty="0">
              <a:latin typeface="Aptos" panose="020B0004020202020204" pitchFamily="34" charset="0"/>
            </a:endParaRPr>
          </a:p>
        </p:txBody>
      </p:sp>
      <p:sp>
        <p:nvSpPr>
          <p:cNvPr id="22" name="Shape 20"/>
          <p:cNvSpPr/>
          <p:nvPr/>
        </p:nvSpPr>
        <p:spPr>
          <a:xfrm>
            <a:off x="640080" y="3429000"/>
            <a:ext cx="7863840" cy="9601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23" name="Shape 21"/>
          <p:cNvSpPr/>
          <p:nvPr/>
        </p:nvSpPr>
        <p:spPr>
          <a:xfrm>
            <a:off x="868680" y="3685032"/>
            <a:ext cx="457200" cy="457200"/>
          </a:xfrm>
          <a:prstGeom prst="ellipse">
            <a:avLst/>
          </a:prstGeom>
          <a:solidFill>
            <a:srgbClr val="0891B2"/>
          </a:solidFill>
          <a:ln/>
        </p:spPr>
        <p:txBody>
          <a:bodyPr/>
          <a:lstStyle/>
          <a:p>
            <a:endParaRPr lang="en-ID">
              <a:latin typeface="Aptos" panose="020B0004020202020204" pitchFamily="34" charset="0"/>
            </a:endParaRPr>
          </a:p>
        </p:txBody>
      </p:sp>
      <p:sp>
        <p:nvSpPr>
          <p:cNvPr id="24" name="Text 22"/>
          <p:cNvSpPr/>
          <p:nvPr/>
        </p:nvSpPr>
        <p:spPr>
          <a:xfrm>
            <a:off x="868680" y="368503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anose="020B0004020202020204" pitchFamily="34" charset="0"/>
                <a:ea typeface="Trebuchet MS" pitchFamily="34" charset="-122"/>
                <a:cs typeface="Trebuchet MS" pitchFamily="34" charset="-120"/>
              </a:rPr>
              <a:t>3</a:t>
            </a:r>
            <a:endParaRPr lang="en-US" sz="1600" dirty="0">
              <a:latin typeface="Aptos" panose="020B0004020202020204" pitchFamily="34" charset="0"/>
            </a:endParaRPr>
          </a:p>
        </p:txBody>
      </p:sp>
      <p:sp>
        <p:nvSpPr>
          <p:cNvPr id="25" name="Text 23"/>
          <p:cNvSpPr/>
          <p:nvPr/>
        </p:nvSpPr>
        <p:spPr>
          <a:xfrm>
            <a:off x="1508760" y="3502152"/>
            <a:ext cx="4114800" cy="320040"/>
          </a:xfrm>
          <a:prstGeom prst="rect">
            <a:avLst/>
          </a:prstGeom>
          <a:noFill/>
          <a:ln/>
        </p:spPr>
        <p:txBody>
          <a:bodyPr wrap="square" lIns="0" tIns="0" rIns="0" bIns="0" rtlCol="0" anchor="ctr"/>
          <a:lstStyle/>
          <a:p>
            <a:pPr marL="0" indent="0">
              <a:buNone/>
            </a:pPr>
            <a:r>
              <a:rPr lang="en-US" sz="1400" b="1" dirty="0">
                <a:solidFill>
                  <a:srgbClr val="1E293B"/>
                </a:solidFill>
                <a:latin typeface="Aptos" panose="020B0004020202020204" pitchFamily="34" charset="0"/>
                <a:ea typeface="Trebuchet MS" pitchFamily="34" charset="-122"/>
                <a:cs typeface="Trebuchet MS" pitchFamily="34" charset="-120"/>
              </a:rPr>
              <a:t>Big Data and AI</a:t>
            </a:r>
            <a:endParaRPr lang="en-US" sz="1400" dirty="0">
              <a:latin typeface="Aptos" panose="020B0004020202020204" pitchFamily="34" charset="0"/>
            </a:endParaRPr>
          </a:p>
        </p:txBody>
      </p:sp>
      <p:sp>
        <p:nvSpPr>
          <p:cNvPr id="26" name="Text 24"/>
          <p:cNvSpPr/>
          <p:nvPr/>
        </p:nvSpPr>
        <p:spPr>
          <a:xfrm>
            <a:off x="1508760" y="3749040"/>
            <a:ext cx="4114800" cy="201168"/>
          </a:xfrm>
          <a:prstGeom prst="rect">
            <a:avLst/>
          </a:prstGeom>
          <a:noFill/>
          <a:ln/>
        </p:spPr>
        <p:txBody>
          <a:bodyPr wrap="square" lIns="0" tIns="0" rIns="0" bIns="0" rtlCol="0" anchor="ctr"/>
          <a:lstStyle/>
          <a:p>
            <a:pPr marL="0" indent="0">
              <a:buNone/>
            </a:pPr>
            <a:r>
              <a:rPr lang="en-US" sz="1100" dirty="0">
                <a:solidFill>
                  <a:srgbClr val="0891B2"/>
                </a:solidFill>
                <a:latin typeface="Aptos" panose="020B0004020202020204" pitchFamily="34" charset="0"/>
                <a:ea typeface="Calibri" pitchFamily="34" charset="-122"/>
                <a:cs typeface="Calibri" pitchFamily="34" charset="-120"/>
              </a:rPr>
              <a:t>Great Learning Academy</a:t>
            </a:r>
            <a:endParaRPr lang="en-US" sz="1100" dirty="0">
              <a:latin typeface="Aptos" panose="020B0004020202020204" pitchFamily="34" charset="0"/>
            </a:endParaRPr>
          </a:p>
        </p:txBody>
      </p:sp>
      <p:sp>
        <p:nvSpPr>
          <p:cNvPr id="27" name="Text 25">
            <a:hlinkClick r:id="rId5"/>
          </p:cNvPr>
          <p:cNvSpPr/>
          <p:nvPr/>
        </p:nvSpPr>
        <p:spPr>
          <a:xfrm>
            <a:off x="1508760" y="3931920"/>
            <a:ext cx="6766560" cy="201168"/>
          </a:xfrm>
          <a:prstGeom prst="rect">
            <a:avLst/>
          </a:prstGeom>
          <a:noFill/>
          <a:ln/>
        </p:spPr>
        <p:txBody>
          <a:bodyPr wrap="square" lIns="0" tIns="0" rIns="0" bIns="0" rtlCol="0" anchor="ctr"/>
          <a:lstStyle/>
          <a:p>
            <a:pPr marL="0" indent="0">
              <a:buNone/>
            </a:pPr>
            <a:r>
              <a:rPr lang="en-US" sz="850" u="sng" dirty="0">
                <a:solidFill>
                  <a:srgbClr val="94A3B8"/>
                </a:solidFill>
                <a:latin typeface="Aptos" panose="020B0004020202020204" pitchFamily="34" charset="0"/>
                <a:ea typeface="Consolas" pitchFamily="34" charset="-122"/>
                <a:cs typeface="Consolas" pitchFamily="34" charset="-120"/>
                <a:hlinkClick r:id="rId5">
                  <a:extLst>
                    <a:ext uri="{A12FA001-AC4F-418D-AE19-62706E023703}">
                      <ahyp:hlinkClr xmlns:ahyp="http://schemas.microsoft.com/office/drawing/2018/hyperlinkcolor" val="tx"/>
                    </a:ext>
                  </a:extLst>
                </a:hlinkClick>
              </a:rPr>
              <a:t>https://mygreatlearning.com/academy/learn-for-free/courses/big-data-and-ai</a:t>
            </a:r>
            <a:endParaRPr lang="en-US" sz="850" dirty="0">
              <a:latin typeface="Aptos" panose="020B0004020202020204" pitchFamily="34" charset="0"/>
            </a:endParaRPr>
          </a:p>
        </p:txBody>
      </p:sp>
      <p:sp>
        <p:nvSpPr>
          <p:cNvPr id="28" name="Text 26"/>
          <p:cNvSpPr/>
          <p:nvPr/>
        </p:nvSpPr>
        <p:spPr>
          <a:xfrm>
            <a:off x="1508760" y="4133088"/>
            <a:ext cx="4114800" cy="182880"/>
          </a:xfrm>
          <a:prstGeom prst="rect">
            <a:avLst/>
          </a:prstGeom>
          <a:noFill/>
          <a:ln/>
        </p:spPr>
        <p:txBody>
          <a:bodyPr wrap="square" lIns="0" tIns="0" rIns="0" bIns="0" rtlCol="0" anchor="ctr"/>
          <a:lstStyle/>
          <a:p>
            <a:pPr marL="0" indent="0">
              <a:buNone/>
            </a:pPr>
            <a:r>
              <a:rPr lang="en-US" sz="950" dirty="0">
                <a:solidFill>
                  <a:srgbClr val="94A3B8"/>
                </a:solidFill>
                <a:latin typeface="Aptos" panose="020B0004020202020204" pitchFamily="34" charset="0"/>
                <a:ea typeface="Calibri" pitchFamily="34" charset="-122"/>
                <a:cs typeface="Calibri" pitchFamily="34" charset="-120"/>
              </a:rPr>
              <a:t>Big Data, AI, Data Lifecycle, Machine Learning Basics</a:t>
            </a:r>
            <a:endParaRPr lang="en-US" sz="950" dirty="0">
              <a:latin typeface="Aptos" panose="020B0004020202020204" pitchFamily="34" charset="0"/>
            </a:endParaRPr>
          </a:p>
        </p:txBody>
      </p:sp>
      <p:sp>
        <p:nvSpPr>
          <p:cNvPr id="29" name="Shape 27"/>
          <p:cNvSpPr/>
          <p:nvPr/>
        </p:nvSpPr>
        <p:spPr>
          <a:xfrm>
            <a:off x="6035040" y="3566160"/>
            <a:ext cx="2194560" cy="320040"/>
          </a:xfrm>
          <a:prstGeom prst="rect">
            <a:avLst/>
          </a:prstGeom>
          <a:solidFill>
            <a:srgbClr val="E0F7FA"/>
          </a:solidFill>
          <a:ln/>
        </p:spPr>
        <p:txBody>
          <a:bodyPr/>
          <a:lstStyle/>
          <a:p>
            <a:endParaRPr lang="en-ID">
              <a:latin typeface="Aptos" panose="020B0004020202020204" pitchFamily="34" charset="0"/>
            </a:endParaRPr>
          </a:p>
        </p:txBody>
      </p:sp>
      <p:sp>
        <p:nvSpPr>
          <p:cNvPr id="30" name="Text 28"/>
          <p:cNvSpPr/>
          <p:nvPr/>
        </p:nvSpPr>
        <p:spPr>
          <a:xfrm>
            <a:off x="6035040" y="3566160"/>
            <a:ext cx="2194560" cy="320040"/>
          </a:xfrm>
          <a:prstGeom prst="rect">
            <a:avLst/>
          </a:prstGeom>
          <a:noFill/>
          <a:ln/>
        </p:spPr>
        <p:txBody>
          <a:bodyPr wrap="square" lIns="0" tIns="0" rIns="0" bIns="0" rtlCol="0" anchor="ctr"/>
          <a:lstStyle/>
          <a:p>
            <a:pPr marL="0" indent="0" algn="ctr">
              <a:buNone/>
            </a:pPr>
            <a:r>
              <a:rPr lang="en-US" sz="950" b="1" dirty="0">
                <a:solidFill>
                  <a:srgbClr val="065A82"/>
                </a:solidFill>
                <a:latin typeface="Aptos" panose="020B0004020202020204" pitchFamily="34" charset="0"/>
                <a:ea typeface="Calibri" pitchFamily="34" charset="-122"/>
                <a:cs typeface="Calibri" pitchFamily="34" charset="-120"/>
              </a:rPr>
              <a:t>Gratis (Sertifikat Gratis)</a:t>
            </a:r>
            <a:endParaRPr lang="en-US" sz="950" dirty="0">
              <a:latin typeface="Aptos" panose="020B0004020202020204" pitchFamily="34" charset="0"/>
            </a:endParaRPr>
          </a:p>
        </p:txBody>
      </p:sp>
      <p:sp>
        <p:nvSpPr>
          <p:cNvPr id="32" name="Shape 30"/>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33" name="Text 31"/>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40080" y="320040"/>
            <a:ext cx="914400" cy="365760"/>
          </a:xfrm>
          <a:prstGeom prst="rect">
            <a:avLst/>
          </a:prstGeom>
          <a:solidFill>
            <a:srgbClr val="0891B2"/>
          </a:solidFill>
          <a:ln/>
        </p:spPr>
        <p:txBody>
          <a:bodyPr/>
          <a:lstStyle/>
          <a:p>
            <a:endParaRPr lang="en-ID">
              <a:latin typeface="Aptos" panose="020B0004020202020204" pitchFamily="34" charset="0"/>
            </a:endParaRPr>
          </a:p>
        </p:txBody>
      </p:sp>
      <p:sp>
        <p:nvSpPr>
          <p:cNvPr id="3" name="Text 1"/>
          <p:cNvSpPr/>
          <p:nvPr/>
        </p:nvSpPr>
        <p:spPr>
          <a:xfrm>
            <a:off x="640080" y="32004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anose="020B0004020202020204" pitchFamily="34" charset="0"/>
                <a:ea typeface="Calibri" pitchFamily="34" charset="-122"/>
                <a:cs typeface="Calibri" pitchFamily="34" charset="-120"/>
              </a:rPr>
              <a:t>STEP 1</a:t>
            </a:r>
            <a:endParaRPr lang="en-US" sz="1200" dirty="0">
              <a:latin typeface="Aptos" panose="020B0004020202020204" pitchFamily="34" charset="0"/>
            </a:endParaRPr>
          </a:p>
        </p:txBody>
      </p:sp>
      <p:sp>
        <p:nvSpPr>
          <p:cNvPr id="4" name="Text 2"/>
          <p:cNvSpPr/>
          <p:nvPr/>
        </p:nvSpPr>
        <p:spPr>
          <a:xfrm>
            <a:off x="1737360" y="320040"/>
            <a:ext cx="6766560" cy="365760"/>
          </a:xfrm>
          <a:prstGeom prst="rect">
            <a:avLst/>
          </a:prstGeom>
          <a:noFill/>
          <a:ln/>
        </p:spPr>
        <p:txBody>
          <a:bodyPr wrap="square" lIns="0" tIns="0" rIns="0" bIns="0" rtlCol="0" anchor="ctr"/>
          <a:lstStyle/>
          <a:p>
            <a:pPr marL="0" indent="0">
              <a:buNone/>
            </a:pPr>
            <a:r>
              <a:rPr lang="en-US" sz="2200" b="1" dirty="0">
                <a:solidFill>
                  <a:srgbClr val="1E293B"/>
                </a:solidFill>
                <a:latin typeface="Aptos" panose="020B0004020202020204" pitchFamily="34" charset="0"/>
                <a:ea typeface="Trebuchet MS" pitchFamily="34" charset="-122"/>
                <a:cs typeface="Trebuchet MS" pitchFamily="34" charset="-120"/>
              </a:rPr>
              <a:t>Pendaftaran Akun &amp; Enrollment Kursus</a:t>
            </a:r>
            <a:endParaRPr lang="en-US" sz="2200" dirty="0">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822960" y="1005840"/>
            <a:ext cx="411480" cy="411480"/>
          </a:xfrm>
          <a:prstGeom prst="rect">
            <a:avLst/>
          </a:prstGeom>
        </p:spPr>
      </p:pic>
      <p:sp>
        <p:nvSpPr>
          <p:cNvPr id="6" name="Text 3"/>
          <p:cNvSpPr/>
          <p:nvPr/>
        </p:nvSpPr>
        <p:spPr>
          <a:xfrm>
            <a:off x="1371600" y="1051560"/>
            <a:ext cx="4572000" cy="320040"/>
          </a:xfrm>
          <a:prstGeom prst="rect">
            <a:avLst/>
          </a:prstGeom>
          <a:noFill/>
          <a:ln/>
        </p:spPr>
        <p:txBody>
          <a:bodyPr wrap="square" lIns="0" tIns="0" rIns="0" bIns="0" rtlCol="0" anchor="ctr"/>
          <a:lstStyle/>
          <a:p>
            <a:pPr marL="0" indent="0">
              <a:buNone/>
            </a:pPr>
            <a:r>
              <a:rPr lang="en-US" sz="1300" b="1" dirty="0">
                <a:solidFill>
                  <a:srgbClr val="0891B2"/>
                </a:solidFill>
                <a:latin typeface="Aptos" panose="020B0004020202020204" pitchFamily="34" charset="0"/>
                <a:ea typeface="Calibri" pitchFamily="34" charset="-122"/>
                <a:cs typeface="Calibri" pitchFamily="34" charset="-120"/>
              </a:rPr>
              <a:t>Contoh: Great Learning Academy</a:t>
            </a:r>
            <a:endParaRPr lang="en-US" sz="1300" dirty="0">
              <a:latin typeface="Aptos" panose="020B0004020202020204" pitchFamily="34" charset="0"/>
            </a:endParaRPr>
          </a:p>
        </p:txBody>
      </p:sp>
      <p:sp>
        <p:nvSpPr>
          <p:cNvPr id="7" name="Shape 4"/>
          <p:cNvSpPr/>
          <p:nvPr/>
        </p:nvSpPr>
        <p:spPr>
          <a:xfrm>
            <a:off x="640080" y="1508760"/>
            <a:ext cx="7863840" cy="29260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8" name="Text 5"/>
          <p:cNvSpPr/>
          <p:nvPr/>
        </p:nvSpPr>
        <p:spPr>
          <a:xfrm>
            <a:off x="914400" y="1691640"/>
            <a:ext cx="457200" cy="365760"/>
          </a:xfrm>
          <a:prstGeom prst="rect">
            <a:avLst/>
          </a:prstGeom>
          <a:noFill/>
          <a:ln/>
        </p:spPr>
        <p:txBody>
          <a:bodyPr wrap="square" lIns="0" tIns="0" rIns="0" bIns="0" rtlCol="0" anchor="ctr"/>
          <a:lstStyle/>
          <a:p>
            <a:pPr marL="0" indent="0">
              <a:buNone/>
            </a:pPr>
            <a:r>
              <a:rPr lang="en-US" sz="2000" b="1" dirty="0">
                <a:solidFill>
                  <a:srgbClr val="0891B2"/>
                </a:solidFill>
                <a:latin typeface="Aptos" panose="020B0004020202020204" pitchFamily="34" charset="0"/>
                <a:ea typeface="Trebuchet MS" pitchFamily="34" charset="-122"/>
                <a:cs typeface="Trebuchet MS" pitchFamily="34" charset="-120"/>
              </a:rPr>
              <a:t>01</a:t>
            </a:r>
            <a:endParaRPr lang="en-US" sz="2000" dirty="0">
              <a:latin typeface="Aptos" panose="020B0004020202020204" pitchFamily="34" charset="0"/>
            </a:endParaRPr>
          </a:p>
        </p:txBody>
      </p:sp>
      <p:sp>
        <p:nvSpPr>
          <p:cNvPr id="9" name="Shape 6"/>
          <p:cNvSpPr/>
          <p:nvPr/>
        </p:nvSpPr>
        <p:spPr>
          <a:xfrm>
            <a:off x="1417320" y="1828800"/>
            <a:ext cx="91440" cy="91440"/>
          </a:xfrm>
          <a:prstGeom prst="ellipse">
            <a:avLst/>
          </a:prstGeom>
          <a:solidFill>
            <a:srgbClr val="E8ECF1"/>
          </a:solidFill>
          <a:ln/>
        </p:spPr>
        <p:txBody>
          <a:bodyPr/>
          <a:lstStyle/>
          <a:p>
            <a:endParaRPr lang="en-ID">
              <a:latin typeface="Aptos" panose="020B0004020202020204" pitchFamily="34" charset="0"/>
            </a:endParaRPr>
          </a:p>
        </p:txBody>
      </p:sp>
      <p:sp>
        <p:nvSpPr>
          <p:cNvPr id="10" name="Text 7"/>
          <p:cNvSpPr/>
          <p:nvPr/>
        </p:nvSpPr>
        <p:spPr>
          <a:xfrm>
            <a:off x="1691640" y="1673352"/>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Aptos" panose="020B0004020202020204" pitchFamily="34" charset="0"/>
                <a:ea typeface="Trebuchet MS" pitchFamily="34" charset="-122"/>
                <a:cs typeface="Trebuchet MS" pitchFamily="34" charset="-120"/>
              </a:rPr>
              <a:t>Buka Website</a:t>
            </a:r>
            <a:endParaRPr lang="en-US" sz="1300" dirty="0">
              <a:latin typeface="Aptos" panose="020B0004020202020204" pitchFamily="34" charset="0"/>
            </a:endParaRPr>
          </a:p>
        </p:txBody>
      </p:sp>
      <p:sp>
        <p:nvSpPr>
          <p:cNvPr id="11" name="Text 8"/>
          <p:cNvSpPr/>
          <p:nvPr/>
        </p:nvSpPr>
        <p:spPr>
          <a:xfrm>
            <a:off x="1691640" y="1920240"/>
            <a:ext cx="649224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Kunjungi mygreatlearning.com/academy lalu cari kursus "Mastering Big Data Analytics" atau kursus pilihan Anda.</a:t>
            </a:r>
            <a:endParaRPr lang="en-US" sz="1100" dirty="0">
              <a:latin typeface="Aptos" panose="020B0004020202020204" pitchFamily="34" charset="0"/>
            </a:endParaRPr>
          </a:p>
        </p:txBody>
      </p:sp>
      <p:sp>
        <p:nvSpPr>
          <p:cNvPr id="12" name="Text 9"/>
          <p:cNvSpPr/>
          <p:nvPr/>
        </p:nvSpPr>
        <p:spPr>
          <a:xfrm>
            <a:off x="914400" y="2377440"/>
            <a:ext cx="457200" cy="365760"/>
          </a:xfrm>
          <a:prstGeom prst="rect">
            <a:avLst/>
          </a:prstGeom>
          <a:noFill/>
          <a:ln/>
        </p:spPr>
        <p:txBody>
          <a:bodyPr wrap="square" lIns="0" tIns="0" rIns="0" bIns="0" rtlCol="0" anchor="ctr"/>
          <a:lstStyle/>
          <a:p>
            <a:pPr marL="0" indent="0">
              <a:buNone/>
            </a:pPr>
            <a:r>
              <a:rPr lang="en-US" sz="2000" b="1" dirty="0">
                <a:solidFill>
                  <a:srgbClr val="0891B2"/>
                </a:solidFill>
                <a:latin typeface="Aptos" panose="020B0004020202020204" pitchFamily="34" charset="0"/>
                <a:ea typeface="Trebuchet MS" pitchFamily="34" charset="-122"/>
                <a:cs typeface="Trebuchet MS" pitchFamily="34" charset="-120"/>
              </a:rPr>
              <a:t>02</a:t>
            </a:r>
            <a:endParaRPr lang="en-US" sz="2000" dirty="0">
              <a:latin typeface="Aptos" panose="020B0004020202020204" pitchFamily="34" charset="0"/>
            </a:endParaRPr>
          </a:p>
        </p:txBody>
      </p:sp>
      <p:sp>
        <p:nvSpPr>
          <p:cNvPr id="13" name="Shape 10"/>
          <p:cNvSpPr/>
          <p:nvPr/>
        </p:nvSpPr>
        <p:spPr>
          <a:xfrm>
            <a:off x="1417320" y="2514600"/>
            <a:ext cx="91440" cy="91440"/>
          </a:xfrm>
          <a:prstGeom prst="ellipse">
            <a:avLst/>
          </a:prstGeom>
          <a:solidFill>
            <a:srgbClr val="E8ECF1"/>
          </a:solidFill>
          <a:ln/>
        </p:spPr>
        <p:txBody>
          <a:bodyPr/>
          <a:lstStyle/>
          <a:p>
            <a:endParaRPr lang="en-ID">
              <a:latin typeface="Aptos" panose="020B0004020202020204" pitchFamily="34" charset="0"/>
            </a:endParaRPr>
          </a:p>
        </p:txBody>
      </p:sp>
      <p:sp>
        <p:nvSpPr>
          <p:cNvPr id="14" name="Text 11"/>
          <p:cNvSpPr/>
          <p:nvPr/>
        </p:nvSpPr>
        <p:spPr>
          <a:xfrm>
            <a:off x="1691640" y="2359152"/>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Aptos" panose="020B0004020202020204" pitchFamily="34" charset="0"/>
                <a:ea typeface="Trebuchet MS" pitchFamily="34" charset="-122"/>
                <a:cs typeface="Trebuchet MS" pitchFamily="34" charset="-120"/>
              </a:rPr>
              <a:t>Klik "Enroll Now"</a:t>
            </a:r>
            <a:endParaRPr lang="en-US" sz="1300" dirty="0">
              <a:latin typeface="Aptos" panose="020B0004020202020204" pitchFamily="34" charset="0"/>
            </a:endParaRPr>
          </a:p>
        </p:txBody>
      </p:sp>
      <p:sp>
        <p:nvSpPr>
          <p:cNvPr id="15" name="Text 12"/>
          <p:cNvSpPr/>
          <p:nvPr/>
        </p:nvSpPr>
        <p:spPr>
          <a:xfrm>
            <a:off x="1691640" y="2606040"/>
            <a:ext cx="649224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Tekan tombol "Enroll Now" atau "Enroll for Free" pada halaman kursus yang dipilih.</a:t>
            </a:r>
            <a:endParaRPr lang="en-US" sz="1100" dirty="0">
              <a:latin typeface="Aptos" panose="020B0004020202020204" pitchFamily="34" charset="0"/>
            </a:endParaRPr>
          </a:p>
        </p:txBody>
      </p:sp>
      <p:sp>
        <p:nvSpPr>
          <p:cNvPr id="16" name="Text 13"/>
          <p:cNvSpPr/>
          <p:nvPr/>
        </p:nvSpPr>
        <p:spPr>
          <a:xfrm>
            <a:off x="914400" y="3063240"/>
            <a:ext cx="457200" cy="365760"/>
          </a:xfrm>
          <a:prstGeom prst="rect">
            <a:avLst/>
          </a:prstGeom>
          <a:noFill/>
          <a:ln/>
        </p:spPr>
        <p:txBody>
          <a:bodyPr wrap="square" lIns="0" tIns="0" rIns="0" bIns="0" rtlCol="0" anchor="ctr"/>
          <a:lstStyle/>
          <a:p>
            <a:pPr marL="0" indent="0">
              <a:buNone/>
            </a:pPr>
            <a:r>
              <a:rPr lang="en-US" sz="2000" b="1" dirty="0">
                <a:solidFill>
                  <a:srgbClr val="0891B2"/>
                </a:solidFill>
                <a:latin typeface="Aptos" panose="020B0004020202020204" pitchFamily="34" charset="0"/>
                <a:ea typeface="Trebuchet MS" pitchFamily="34" charset="-122"/>
                <a:cs typeface="Trebuchet MS" pitchFamily="34" charset="-120"/>
              </a:rPr>
              <a:t>03</a:t>
            </a:r>
            <a:endParaRPr lang="en-US" sz="2000" dirty="0">
              <a:latin typeface="Aptos" panose="020B0004020202020204" pitchFamily="34" charset="0"/>
            </a:endParaRPr>
          </a:p>
        </p:txBody>
      </p:sp>
      <p:sp>
        <p:nvSpPr>
          <p:cNvPr id="17" name="Shape 14"/>
          <p:cNvSpPr/>
          <p:nvPr/>
        </p:nvSpPr>
        <p:spPr>
          <a:xfrm>
            <a:off x="1417320" y="3200400"/>
            <a:ext cx="91440" cy="91440"/>
          </a:xfrm>
          <a:prstGeom prst="ellipse">
            <a:avLst/>
          </a:prstGeom>
          <a:solidFill>
            <a:srgbClr val="E8ECF1"/>
          </a:solidFill>
          <a:ln/>
        </p:spPr>
        <p:txBody>
          <a:bodyPr/>
          <a:lstStyle/>
          <a:p>
            <a:endParaRPr lang="en-ID">
              <a:latin typeface="Aptos" panose="020B0004020202020204" pitchFamily="34" charset="0"/>
            </a:endParaRPr>
          </a:p>
        </p:txBody>
      </p:sp>
      <p:sp>
        <p:nvSpPr>
          <p:cNvPr id="18" name="Text 15"/>
          <p:cNvSpPr/>
          <p:nvPr/>
        </p:nvSpPr>
        <p:spPr>
          <a:xfrm>
            <a:off x="1691640" y="3044952"/>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Aptos" panose="020B0004020202020204" pitchFamily="34" charset="0"/>
                <a:ea typeface="Trebuchet MS" pitchFamily="34" charset="-122"/>
                <a:cs typeface="Trebuchet MS" pitchFamily="34" charset="-120"/>
              </a:rPr>
              <a:t>Daftar / Sign Up</a:t>
            </a:r>
            <a:endParaRPr lang="en-US" sz="1300" dirty="0">
              <a:latin typeface="Aptos" panose="020B0004020202020204" pitchFamily="34" charset="0"/>
            </a:endParaRPr>
          </a:p>
        </p:txBody>
      </p:sp>
      <p:sp>
        <p:nvSpPr>
          <p:cNvPr id="19" name="Text 16"/>
          <p:cNvSpPr/>
          <p:nvPr/>
        </p:nvSpPr>
        <p:spPr>
          <a:xfrm>
            <a:off x="1691640" y="3291840"/>
            <a:ext cx="649224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Buat akun menggunakan email aktif (bisa dengan Google Account). Isi nama lengkap sesuai data mahasiswa.</a:t>
            </a:r>
            <a:endParaRPr lang="en-US" sz="1100" dirty="0">
              <a:latin typeface="Aptos" panose="020B0004020202020204" pitchFamily="34" charset="0"/>
            </a:endParaRPr>
          </a:p>
        </p:txBody>
      </p:sp>
      <p:sp>
        <p:nvSpPr>
          <p:cNvPr id="20" name="Text 17"/>
          <p:cNvSpPr/>
          <p:nvPr/>
        </p:nvSpPr>
        <p:spPr>
          <a:xfrm>
            <a:off x="914400" y="3749040"/>
            <a:ext cx="457200" cy="365760"/>
          </a:xfrm>
          <a:prstGeom prst="rect">
            <a:avLst/>
          </a:prstGeom>
          <a:noFill/>
          <a:ln/>
        </p:spPr>
        <p:txBody>
          <a:bodyPr wrap="square" lIns="0" tIns="0" rIns="0" bIns="0" rtlCol="0" anchor="ctr"/>
          <a:lstStyle/>
          <a:p>
            <a:pPr marL="0" indent="0">
              <a:buNone/>
            </a:pPr>
            <a:r>
              <a:rPr lang="en-US" sz="2000" b="1" dirty="0">
                <a:solidFill>
                  <a:srgbClr val="0891B2"/>
                </a:solidFill>
                <a:latin typeface="Aptos" panose="020B0004020202020204" pitchFamily="34" charset="0"/>
                <a:ea typeface="Trebuchet MS" pitchFamily="34" charset="-122"/>
                <a:cs typeface="Trebuchet MS" pitchFamily="34" charset="-120"/>
              </a:rPr>
              <a:t>04</a:t>
            </a:r>
            <a:endParaRPr lang="en-US" sz="2000" dirty="0">
              <a:latin typeface="Aptos" panose="020B0004020202020204" pitchFamily="34" charset="0"/>
            </a:endParaRPr>
          </a:p>
        </p:txBody>
      </p:sp>
      <p:sp>
        <p:nvSpPr>
          <p:cNvPr id="21" name="Shape 18"/>
          <p:cNvSpPr/>
          <p:nvPr/>
        </p:nvSpPr>
        <p:spPr>
          <a:xfrm>
            <a:off x="1417320" y="3886200"/>
            <a:ext cx="91440" cy="91440"/>
          </a:xfrm>
          <a:prstGeom prst="ellipse">
            <a:avLst/>
          </a:prstGeom>
          <a:solidFill>
            <a:srgbClr val="E8ECF1"/>
          </a:solidFill>
          <a:ln/>
        </p:spPr>
        <p:txBody>
          <a:bodyPr/>
          <a:lstStyle/>
          <a:p>
            <a:endParaRPr lang="en-ID">
              <a:latin typeface="Aptos" panose="020B0004020202020204" pitchFamily="34" charset="0"/>
            </a:endParaRPr>
          </a:p>
        </p:txBody>
      </p:sp>
      <p:sp>
        <p:nvSpPr>
          <p:cNvPr id="22" name="Text 19"/>
          <p:cNvSpPr/>
          <p:nvPr/>
        </p:nvSpPr>
        <p:spPr>
          <a:xfrm>
            <a:off x="1691640" y="3730752"/>
            <a:ext cx="2743200" cy="274320"/>
          </a:xfrm>
          <a:prstGeom prst="rect">
            <a:avLst/>
          </a:prstGeom>
          <a:noFill/>
          <a:ln/>
        </p:spPr>
        <p:txBody>
          <a:bodyPr wrap="square" lIns="0" tIns="0" rIns="0" bIns="0" rtlCol="0" anchor="ctr"/>
          <a:lstStyle/>
          <a:p>
            <a:pPr marL="0" indent="0">
              <a:buNone/>
            </a:pPr>
            <a:r>
              <a:rPr lang="en-US" sz="1300" b="1" dirty="0">
                <a:solidFill>
                  <a:srgbClr val="1E293B"/>
                </a:solidFill>
                <a:latin typeface="Aptos" panose="020B0004020202020204" pitchFamily="34" charset="0"/>
                <a:ea typeface="Trebuchet MS" pitchFamily="34" charset="-122"/>
                <a:cs typeface="Trebuchet MS" pitchFamily="34" charset="-120"/>
              </a:rPr>
              <a:t>Mulai Belajar</a:t>
            </a:r>
            <a:endParaRPr lang="en-US" sz="1300" dirty="0">
              <a:latin typeface="Aptos" panose="020B0004020202020204" pitchFamily="34" charset="0"/>
            </a:endParaRPr>
          </a:p>
        </p:txBody>
      </p:sp>
      <p:sp>
        <p:nvSpPr>
          <p:cNvPr id="23" name="Text 20"/>
          <p:cNvSpPr/>
          <p:nvPr/>
        </p:nvSpPr>
        <p:spPr>
          <a:xfrm>
            <a:off x="1691640" y="3977640"/>
            <a:ext cx="649224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Setelah berhasil mendaftar, kursus akan muncul di dashboard. Klik "Start Learning" untuk memulai.</a:t>
            </a:r>
            <a:endParaRPr lang="en-US" sz="1100" dirty="0">
              <a:latin typeface="Aptos" panose="020B0004020202020204" pitchFamily="34" charset="0"/>
            </a:endParaRPr>
          </a:p>
        </p:txBody>
      </p:sp>
      <p:sp>
        <p:nvSpPr>
          <p:cNvPr id="24" name="Shape 21"/>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25" name="Text 22"/>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40080" y="320040"/>
            <a:ext cx="914400" cy="365760"/>
          </a:xfrm>
          <a:prstGeom prst="rect">
            <a:avLst/>
          </a:prstGeom>
          <a:solidFill>
            <a:srgbClr val="0891B2"/>
          </a:solidFill>
          <a:ln/>
        </p:spPr>
        <p:txBody>
          <a:bodyPr/>
          <a:lstStyle/>
          <a:p>
            <a:endParaRPr lang="en-ID">
              <a:latin typeface="Aptos" panose="020B0004020202020204" pitchFamily="34" charset="0"/>
            </a:endParaRPr>
          </a:p>
        </p:txBody>
      </p:sp>
      <p:sp>
        <p:nvSpPr>
          <p:cNvPr id="3" name="Text 1"/>
          <p:cNvSpPr/>
          <p:nvPr/>
        </p:nvSpPr>
        <p:spPr>
          <a:xfrm>
            <a:off x="640080" y="32004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anose="020B0004020202020204" pitchFamily="34" charset="0"/>
                <a:ea typeface="Calibri" pitchFamily="34" charset="-122"/>
                <a:cs typeface="Calibri" pitchFamily="34" charset="-120"/>
              </a:rPr>
              <a:t>STEP 2</a:t>
            </a:r>
            <a:endParaRPr lang="en-US" sz="1200" dirty="0">
              <a:latin typeface="Aptos" panose="020B0004020202020204" pitchFamily="34" charset="0"/>
            </a:endParaRPr>
          </a:p>
        </p:txBody>
      </p:sp>
      <p:sp>
        <p:nvSpPr>
          <p:cNvPr id="4" name="Text 2"/>
          <p:cNvSpPr/>
          <p:nvPr/>
        </p:nvSpPr>
        <p:spPr>
          <a:xfrm>
            <a:off x="1737360" y="320040"/>
            <a:ext cx="6766560" cy="365760"/>
          </a:xfrm>
          <a:prstGeom prst="rect">
            <a:avLst/>
          </a:prstGeom>
          <a:noFill/>
          <a:ln/>
        </p:spPr>
        <p:txBody>
          <a:bodyPr wrap="square" lIns="0" tIns="0" rIns="0" bIns="0" rtlCol="0" anchor="ctr"/>
          <a:lstStyle/>
          <a:p>
            <a:pPr marL="0" indent="0">
              <a:buNone/>
            </a:pPr>
            <a:r>
              <a:rPr lang="en-US" sz="2200" b="1" dirty="0">
                <a:solidFill>
                  <a:srgbClr val="1E293B"/>
                </a:solidFill>
                <a:latin typeface="Aptos" panose="020B0004020202020204" pitchFamily="34" charset="0"/>
                <a:ea typeface="Trebuchet MS" pitchFamily="34" charset="-122"/>
                <a:cs typeface="Trebuchet MS" pitchFamily="34" charset="-120"/>
              </a:rPr>
              <a:t>Pelaksanaan Kursus</a:t>
            </a:r>
            <a:endParaRPr lang="en-US" sz="2200" dirty="0">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822960" y="1005840"/>
            <a:ext cx="411480" cy="411480"/>
          </a:xfrm>
          <a:prstGeom prst="rect">
            <a:avLst/>
          </a:prstGeom>
        </p:spPr>
      </p:pic>
      <p:sp>
        <p:nvSpPr>
          <p:cNvPr id="6" name="Text 3"/>
          <p:cNvSpPr/>
          <p:nvPr/>
        </p:nvSpPr>
        <p:spPr>
          <a:xfrm>
            <a:off x="1371600" y="1051560"/>
            <a:ext cx="4572000" cy="320040"/>
          </a:xfrm>
          <a:prstGeom prst="rect">
            <a:avLst/>
          </a:prstGeom>
          <a:noFill/>
          <a:ln/>
        </p:spPr>
        <p:txBody>
          <a:bodyPr wrap="square" lIns="0" tIns="0" rIns="0" bIns="0" rtlCol="0" anchor="ctr"/>
          <a:lstStyle/>
          <a:p>
            <a:pPr marL="0" indent="0">
              <a:buNone/>
            </a:pPr>
            <a:r>
              <a:rPr lang="en-US" sz="1300" b="1" dirty="0">
                <a:solidFill>
                  <a:srgbClr val="0891B2"/>
                </a:solidFill>
                <a:latin typeface="Aptos" panose="020B0004020202020204" pitchFamily="34" charset="0"/>
                <a:ea typeface="Calibri" pitchFamily="34" charset="-122"/>
                <a:cs typeface="Calibri" pitchFamily="34" charset="-120"/>
              </a:rPr>
              <a:t>Tips Menyelesaikan Kursus dengan Efektif</a:t>
            </a:r>
            <a:endParaRPr lang="en-US" sz="1300" dirty="0">
              <a:latin typeface="Aptos" panose="020B0004020202020204" pitchFamily="34" charset="0"/>
            </a:endParaRPr>
          </a:p>
        </p:txBody>
      </p:sp>
      <p:sp>
        <p:nvSpPr>
          <p:cNvPr id="7" name="Shape 4"/>
          <p:cNvSpPr/>
          <p:nvPr/>
        </p:nvSpPr>
        <p:spPr>
          <a:xfrm>
            <a:off x="640080" y="1554480"/>
            <a:ext cx="374904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8" name="Text 5"/>
          <p:cNvSpPr/>
          <p:nvPr/>
        </p:nvSpPr>
        <p:spPr>
          <a:xfrm>
            <a:off x="640080" y="1554480"/>
            <a:ext cx="3749040" cy="411480"/>
          </a:xfrm>
          <a:prstGeom prst="rect">
            <a:avLst/>
          </a:prstGeom>
          <a:solidFill>
            <a:srgbClr val="0891B2"/>
          </a:solidFill>
          <a:ln/>
        </p:spPr>
        <p:txBody>
          <a:bodyPr wrap="square" lIns="0" tIns="0" rIns="0" bIns="0" rtlCol="0" anchor="ctr"/>
          <a:lstStyle/>
          <a:p>
            <a:pPr marL="0" indent="0" algn="ctr">
              <a:buNone/>
            </a:pPr>
            <a:r>
              <a:rPr lang="en-US" sz="1300" b="1" dirty="0">
                <a:solidFill>
                  <a:srgbClr val="FFFFFF"/>
                </a:solidFill>
                <a:latin typeface="Aptos" panose="020B0004020202020204" pitchFamily="34" charset="0"/>
                <a:ea typeface="Trebuchet MS" pitchFamily="34" charset="-122"/>
                <a:cs typeface="Trebuchet MS" pitchFamily="34" charset="-120"/>
              </a:rPr>
              <a:t>Yang Harus Dilakukan</a:t>
            </a:r>
            <a:endParaRPr lang="en-US" sz="1300" dirty="0">
              <a:latin typeface="Aptos" panose="020B0004020202020204" pitchFamily="34" charset="0"/>
            </a:endParaRPr>
          </a:p>
        </p:txBody>
      </p:sp>
      <p:pic>
        <p:nvPicPr>
          <p:cNvPr id="9" name="Image 1" descr="preencoded.png"/>
          <p:cNvPicPr>
            <a:picLocks noChangeAspect="1"/>
          </p:cNvPicPr>
          <p:nvPr/>
        </p:nvPicPr>
        <p:blipFill>
          <a:blip r:embed="rId4"/>
          <a:stretch>
            <a:fillRect/>
          </a:stretch>
        </p:blipFill>
        <p:spPr>
          <a:xfrm>
            <a:off x="914400" y="2130552"/>
            <a:ext cx="201168" cy="201168"/>
          </a:xfrm>
          <a:prstGeom prst="rect">
            <a:avLst/>
          </a:prstGeom>
        </p:spPr>
      </p:pic>
      <p:sp>
        <p:nvSpPr>
          <p:cNvPr id="10" name="Text 6"/>
          <p:cNvSpPr/>
          <p:nvPr/>
        </p:nvSpPr>
        <p:spPr>
          <a:xfrm>
            <a:off x="1234440" y="210312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Tonton semua video materi secara berurutan</a:t>
            </a:r>
            <a:endParaRPr lang="en-US" sz="1100" dirty="0">
              <a:latin typeface="Aptos" panose="020B0004020202020204" pitchFamily="34" charset="0"/>
            </a:endParaRPr>
          </a:p>
        </p:txBody>
      </p:sp>
      <p:pic>
        <p:nvPicPr>
          <p:cNvPr id="11" name="Image 2" descr="preencoded.png"/>
          <p:cNvPicPr>
            <a:picLocks noChangeAspect="1"/>
          </p:cNvPicPr>
          <p:nvPr/>
        </p:nvPicPr>
        <p:blipFill>
          <a:blip r:embed="rId4"/>
          <a:stretch>
            <a:fillRect/>
          </a:stretch>
        </p:blipFill>
        <p:spPr>
          <a:xfrm>
            <a:off x="914400" y="2560320"/>
            <a:ext cx="201168" cy="201168"/>
          </a:xfrm>
          <a:prstGeom prst="rect">
            <a:avLst/>
          </a:prstGeom>
        </p:spPr>
      </p:pic>
      <p:sp>
        <p:nvSpPr>
          <p:cNvPr id="12" name="Text 7"/>
          <p:cNvSpPr/>
          <p:nvPr/>
        </p:nvSpPr>
        <p:spPr>
          <a:xfrm>
            <a:off x="1234440" y="2532888"/>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Kerjakan quiz / assessment di setiap modul</a:t>
            </a:r>
            <a:endParaRPr lang="en-US" sz="1100" dirty="0">
              <a:latin typeface="Aptos" panose="020B0004020202020204" pitchFamily="34" charset="0"/>
            </a:endParaRPr>
          </a:p>
        </p:txBody>
      </p:sp>
      <p:pic>
        <p:nvPicPr>
          <p:cNvPr id="13" name="Image 3" descr="preencoded.png"/>
          <p:cNvPicPr>
            <a:picLocks noChangeAspect="1"/>
          </p:cNvPicPr>
          <p:nvPr/>
        </p:nvPicPr>
        <p:blipFill>
          <a:blip r:embed="rId4"/>
          <a:stretch>
            <a:fillRect/>
          </a:stretch>
        </p:blipFill>
        <p:spPr>
          <a:xfrm>
            <a:off x="914400" y="2990088"/>
            <a:ext cx="201168" cy="201168"/>
          </a:xfrm>
          <a:prstGeom prst="rect">
            <a:avLst/>
          </a:prstGeom>
        </p:spPr>
      </p:pic>
      <p:sp>
        <p:nvSpPr>
          <p:cNvPr id="14" name="Text 8"/>
          <p:cNvSpPr/>
          <p:nvPr/>
        </p:nvSpPr>
        <p:spPr>
          <a:xfrm>
            <a:off x="1234440" y="2962656"/>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Catat poin-poin penting selama belajar</a:t>
            </a:r>
            <a:endParaRPr lang="en-US" sz="1100" dirty="0">
              <a:latin typeface="Aptos" panose="020B0004020202020204" pitchFamily="34" charset="0"/>
            </a:endParaRPr>
          </a:p>
        </p:txBody>
      </p:sp>
      <p:pic>
        <p:nvPicPr>
          <p:cNvPr id="15" name="Image 4" descr="preencoded.png"/>
          <p:cNvPicPr>
            <a:picLocks noChangeAspect="1"/>
          </p:cNvPicPr>
          <p:nvPr/>
        </p:nvPicPr>
        <p:blipFill>
          <a:blip r:embed="rId4"/>
          <a:stretch>
            <a:fillRect/>
          </a:stretch>
        </p:blipFill>
        <p:spPr>
          <a:xfrm>
            <a:off x="914400" y="3419856"/>
            <a:ext cx="201168" cy="201168"/>
          </a:xfrm>
          <a:prstGeom prst="rect">
            <a:avLst/>
          </a:prstGeom>
        </p:spPr>
      </p:pic>
      <p:sp>
        <p:nvSpPr>
          <p:cNvPr id="16" name="Text 9"/>
          <p:cNvSpPr/>
          <p:nvPr/>
        </p:nvSpPr>
        <p:spPr>
          <a:xfrm>
            <a:off x="1234440" y="3392424"/>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Selesaikan project akhir (jika ada)</a:t>
            </a:r>
            <a:endParaRPr lang="en-US" sz="1100" dirty="0">
              <a:latin typeface="Aptos" panose="020B0004020202020204" pitchFamily="34" charset="0"/>
            </a:endParaRPr>
          </a:p>
        </p:txBody>
      </p:sp>
      <p:pic>
        <p:nvPicPr>
          <p:cNvPr id="17" name="Image 5" descr="preencoded.png"/>
          <p:cNvPicPr>
            <a:picLocks noChangeAspect="1"/>
          </p:cNvPicPr>
          <p:nvPr/>
        </p:nvPicPr>
        <p:blipFill>
          <a:blip r:embed="rId4"/>
          <a:stretch>
            <a:fillRect/>
          </a:stretch>
        </p:blipFill>
        <p:spPr>
          <a:xfrm>
            <a:off x="914400" y="3849624"/>
            <a:ext cx="201168" cy="201168"/>
          </a:xfrm>
          <a:prstGeom prst="rect">
            <a:avLst/>
          </a:prstGeom>
        </p:spPr>
      </p:pic>
      <p:sp>
        <p:nvSpPr>
          <p:cNvPr id="18" name="Text 10"/>
          <p:cNvSpPr/>
          <p:nvPr/>
        </p:nvSpPr>
        <p:spPr>
          <a:xfrm>
            <a:off x="1234440" y="3822192"/>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Pastikan progress mencapai 100%</a:t>
            </a:r>
            <a:endParaRPr lang="en-US" sz="1100" dirty="0">
              <a:latin typeface="Aptos" panose="020B0004020202020204" pitchFamily="34" charset="0"/>
            </a:endParaRPr>
          </a:p>
        </p:txBody>
      </p:sp>
      <p:sp>
        <p:nvSpPr>
          <p:cNvPr id="19" name="Shape 11"/>
          <p:cNvSpPr/>
          <p:nvPr/>
        </p:nvSpPr>
        <p:spPr>
          <a:xfrm>
            <a:off x="4754880" y="1554480"/>
            <a:ext cx="374904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20" name="Text 12"/>
          <p:cNvSpPr/>
          <p:nvPr/>
        </p:nvSpPr>
        <p:spPr>
          <a:xfrm>
            <a:off x="4754880" y="1554480"/>
            <a:ext cx="3749040" cy="411480"/>
          </a:xfrm>
          <a:prstGeom prst="rect">
            <a:avLst/>
          </a:prstGeom>
          <a:solidFill>
            <a:srgbClr val="16213E"/>
          </a:solidFill>
          <a:ln/>
        </p:spPr>
        <p:txBody>
          <a:bodyPr wrap="square" lIns="0" tIns="0" rIns="0" bIns="0" rtlCol="0" anchor="ctr"/>
          <a:lstStyle/>
          <a:p>
            <a:pPr marL="0" indent="0" algn="ctr">
              <a:buNone/>
            </a:pPr>
            <a:r>
              <a:rPr lang="en-US" sz="1300" b="1" dirty="0">
                <a:solidFill>
                  <a:srgbClr val="FFFFFF"/>
                </a:solidFill>
                <a:latin typeface="Aptos" panose="020B0004020202020204" pitchFamily="34" charset="0"/>
                <a:ea typeface="Trebuchet MS" pitchFamily="34" charset="-122"/>
                <a:cs typeface="Trebuchet MS" pitchFamily="34" charset="-120"/>
              </a:rPr>
              <a:t>Estimasi &amp; Catatan</a:t>
            </a:r>
            <a:endParaRPr lang="en-US" sz="1300" dirty="0">
              <a:latin typeface="Aptos" panose="020B0004020202020204" pitchFamily="34" charset="0"/>
            </a:endParaRPr>
          </a:p>
        </p:txBody>
      </p:sp>
      <p:sp>
        <p:nvSpPr>
          <p:cNvPr id="21" name="Text 13"/>
          <p:cNvSpPr/>
          <p:nvPr/>
        </p:nvSpPr>
        <p:spPr>
          <a:xfrm>
            <a:off x="5029200" y="2148840"/>
            <a:ext cx="1463040" cy="274320"/>
          </a:xfrm>
          <a:prstGeom prst="rect">
            <a:avLst/>
          </a:prstGeom>
          <a:noFill/>
          <a:ln/>
        </p:spPr>
        <p:txBody>
          <a:bodyPr wrap="square" lIns="0" tIns="0" rIns="0" bIns="0" rtlCol="0" anchor="ctr"/>
          <a:lstStyle/>
          <a:p>
            <a:pPr marL="0" indent="0">
              <a:buNone/>
            </a:pPr>
            <a:r>
              <a:rPr lang="en-US" sz="1100" b="1" dirty="0">
                <a:solidFill>
                  <a:srgbClr val="1E293B"/>
                </a:solidFill>
                <a:latin typeface="Aptos" panose="020B0004020202020204" pitchFamily="34" charset="0"/>
                <a:ea typeface="Calibri" pitchFamily="34" charset="-122"/>
                <a:cs typeface="Calibri" pitchFamily="34" charset="-120"/>
              </a:rPr>
              <a:t>Durasi Kursus</a:t>
            </a:r>
            <a:endParaRPr lang="en-US" sz="1100" dirty="0">
              <a:latin typeface="Aptos" panose="020B0004020202020204" pitchFamily="34" charset="0"/>
            </a:endParaRPr>
          </a:p>
        </p:txBody>
      </p:sp>
      <p:sp>
        <p:nvSpPr>
          <p:cNvPr id="22" name="Text 14"/>
          <p:cNvSpPr/>
          <p:nvPr/>
        </p:nvSpPr>
        <p:spPr>
          <a:xfrm>
            <a:off x="6537960" y="2148840"/>
            <a:ext cx="1737360" cy="27432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3 — 10 jam (self-paced)</a:t>
            </a:r>
            <a:endParaRPr lang="en-US" sz="1100" dirty="0">
              <a:latin typeface="Aptos" panose="020B0004020202020204" pitchFamily="34" charset="0"/>
            </a:endParaRPr>
          </a:p>
        </p:txBody>
      </p:sp>
      <p:sp>
        <p:nvSpPr>
          <p:cNvPr id="23" name="Text 15"/>
          <p:cNvSpPr/>
          <p:nvPr/>
        </p:nvSpPr>
        <p:spPr>
          <a:xfrm>
            <a:off x="5029200" y="2578608"/>
            <a:ext cx="1463040" cy="274320"/>
          </a:xfrm>
          <a:prstGeom prst="rect">
            <a:avLst/>
          </a:prstGeom>
          <a:noFill/>
          <a:ln/>
        </p:spPr>
        <p:txBody>
          <a:bodyPr wrap="square" lIns="0" tIns="0" rIns="0" bIns="0" rtlCol="0" anchor="ctr"/>
          <a:lstStyle/>
          <a:p>
            <a:pPr marL="0" indent="0">
              <a:buNone/>
            </a:pPr>
            <a:r>
              <a:rPr lang="en-US" sz="1100" b="1" dirty="0">
                <a:solidFill>
                  <a:srgbClr val="1E293B"/>
                </a:solidFill>
                <a:latin typeface="Aptos" panose="020B0004020202020204" pitchFamily="34" charset="0"/>
                <a:ea typeface="Calibri" pitchFamily="34" charset="-122"/>
                <a:cs typeface="Calibri" pitchFamily="34" charset="-120"/>
              </a:rPr>
              <a:t>Bahasa</a:t>
            </a:r>
            <a:endParaRPr lang="en-US" sz="1100" dirty="0">
              <a:latin typeface="Aptos" panose="020B0004020202020204" pitchFamily="34" charset="0"/>
            </a:endParaRPr>
          </a:p>
        </p:txBody>
      </p:sp>
      <p:sp>
        <p:nvSpPr>
          <p:cNvPr id="24" name="Text 16"/>
          <p:cNvSpPr/>
          <p:nvPr/>
        </p:nvSpPr>
        <p:spPr>
          <a:xfrm>
            <a:off x="6537960" y="2578608"/>
            <a:ext cx="1737360" cy="27432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Bahasa Inggris</a:t>
            </a:r>
            <a:endParaRPr lang="en-US" sz="1100" dirty="0">
              <a:latin typeface="Aptos" panose="020B0004020202020204" pitchFamily="34" charset="0"/>
            </a:endParaRPr>
          </a:p>
        </p:txBody>
      </p:sp>
      <p:sp>
        <p:nvSpPr>
          <p:cNvPr id="25" name="Text 17"/>
          <p:cNvSpPr/>
          <p:nvPr/>
        </p:nvSpPr>
        <p:spPr>
          <a:xfrm>
            <a:off x="5029200" y="3008376"/>
            <a:ext cx="1463040" cy="274320"/>
          </a:xfrm>
          <a:prstGeom prst="rect">
            <a:avLst/>
          </a:prstGeom>
          <a:noFill/>
          <a:ln/>
        </p:spPr>
        <p:txBody>
          <a:bodyPr wrap="square" lIns="0" tIns="0" rIns="0" bIns="0" rtlCol="0" anchor="ctr"/>
          <a:lstStyle/>
          <a:p>
            <a:pPr marL="0" indent="0">
              <a:buNone/>
            </a:pPr>
            <a:r>
              <a:rPr lang="en-US" sz="1100" b="1" dirty="0">
                <a:solidFill>
                  <a:srgbClr val="1E293B"/>
                </a:solidFill>
                <a:latin typeface="Aptos" panose="020B0004020202020204" pitchFamily="34" charset="0"/>
                <a:ea typeface="Calibri" pitchFamily="34" charset="-122"/>
                <a:cs typeface="Calibri" pitchFamily="34" charset="-120"/>
              </a:rPr>
              <a:t>Perangkat</a:t>
            </a:r>
            <a:endParaRPr lang="en-US" sz="1100" dirty="0">
              <a:latin typeface="Aptos" panose="020B0004020202020204" pitchFamily="34" charset="0"/>
            </a:endParaRPr>
          </a:p>
        </p:txBody>
      </p:sp>
      <p:sp>
        <p:nvSpPr>
          <p:cNvPr id="26" name="Text 18"/>
          <p:cNvSpPr/>
          <p:nvPr/>
        </p:nvSpPr>
        <p:spPr>
          <a:xfrm>
            <a:off x="6537960" y="3008376"/>
            <a:ext cx="1737360" cy="27432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Laptop / Smartphone</a:t>
            </a:r>
            <a:endParaRPr lang="en-US" sz="1100" dirty="0">
              <a:latin typeface="Aptos" panose="020B0004020202020204" pitchFamily="34" charset="0"/>
            </a:endParaRPr>
          </a:p>
        </p:txBody>
      </p:sp>
      <p:sp>
        <p:nvSpPr>
          <p:cNvPr id="27" name="Text 19"/>
          <p:cNvSpPr/>
          <p:nvPr/>
        </p:nvSpPr>
        <p:spPr>
          <a:xfrm>
            <a:off x="5029200" y="3438144"/>
            <a:ext cx="1463040" cy="274320"/>
          </a:xfrm>
          <a:prstGeom prst="rect">
            <a:avLst/>
          </a:prstGeom>
          <a:noFill/>
          <a:ln/>
        </p:spPr>
        <p:txBody>
          <a:bodyPr wrap="square" lIns="0" tIns="0" rIns="0" bIns="0" rtlCol="0" anchor="ctr"/>
          <a:lstStyle/>
          <a:p>
            <a:pPr marL="0" indent="0">
              <a:buNone/>
            </a:pPr>
            <a:r>
              <a:rPr lang="en-US" sz="1100" b="1" dirty="0">
                <a:solidFill>
                  <a:srgbClr val="1E293B"/>
                </a:solidFill>
                <a:latin typeface="Aptos" panose="020B0004020202020204" pitchFamily="34" charset="0"/>
                <a:ea typeface="Calibri" pitchFamily="34" charset="-122"/>
                <a:cs typeface="Calibri" pitchFamily="34" charset="-120"/>
              </a:rPr>
              <a:t>Koneksi</a:t>
            </a:r>
            <a:endParaRPr lang="en-US" sz="1100" dirty="0">
              <a:latin typeface="Aptos" panose="020B0004020202020204" pitchFamily="34" charset="0"/>
            </a:endParaRPr>
          </a:p>
        </p:txBody>
      </p:sp>
      <p:sp>
        <p:nvSpPr>
          <p:cNvPr id="28" name="Text 20"/>
          <p:cNvSpPr/>
          <p:nvPr/>
        </p:nvSpPr>
        <p:spPr>
          <a:xfrm>
            <a:off x="6537960" y="3438144"/>
            <a:ext cx="1737360" cy="27432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Internet stabil</a:t>
            </a:r>
            <a:endParaRPr lang="en-US" sz="1100" dirty="0">
              <a:latin typeface="Aptos" panose="020B0004020202020204" pitchFamily="34" charset="0"/>
            </a:endParaRPr>
          </a:p>
        </p:txBody>
      </p:sp>
      <p:sp>
        <p:nvSpPr>
          <p:cNvPr id="29" name="Text 21"/>
          <p:cNvSpPr/>
          <p:nvPr/>
        </p:nvSpPr>
        <p:spPr>
          <a:xfrm>
            <a:off x="5029200" y="3867912"/>
            <a:ext cx="1463040" cy="274320"/>
          </a:xfrm>
          <a:prstGeom prst="rect">
            <a:avLst/>
          </a:prstGeom>
          <a:noFill/>
          <a:ln/>
        </p:spPr>
        <p:txBody>
          <a:bodyPr wrap="square" lIns="0" tIns="0" rIns="0" bIns="0" rtlCol="0" anchor="ctr"/>
          <a:lstStyle/>
          <a:p>
            <a:pPr marL="0" indent="0">
              <a:buNone/>
            </a:pPr>
            <a:r>
              <a:rPr lang="en-US" sz="1100" b="1" dirty="0">
                <a:solidFill>
                  <a:srgbClr val="1E293B"/>
                </a:solidFill>
                <a:latin typeface="Aptos" panose="020B0004020202020204" pitchFamily="34" charset="0"/>
                <a:ea typeface="Calibri" pitchFamily="34" charset="-122"/>
                <a:cs typeface="Calibri" pitchFamily="34" charset="-120"/>
              </a:rPr>
              <a:t>Strategi</a:t>
            </a:r>
            <a:endParaRPr lang="en-US" sz="1100" dirty="0">
              <a:latin typeface="Aptos" panose="020B0004020202020204" pitchFamily="34" charset="0"/>
            </a:endParaRPr>
          </a:p>
        </p:txBody>
      </p:sp>
      <p:sp>
        <p:nvSpPr>
          <p:cNvPr id="30" name="Text 22"/>
          <p:cNvSpPr/>
          <p:nvPr/>
        </p:nvSpPr>
        <p:spPr>
          <a:xfrm>
            <a:off x="6537960" y="3867912"/>
            <a:ext cx="1737360" cy="27432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Cicil 1-2 jam per minggu</a:t>
            </a:r>
            <a:endParaRPr lang="en-US" sz="1100" dirty="0">
              <a:latin typeface="Aptos" panose="020B0004020202020204" pitchFamily="34" charset="0"/>
            </a:endParaRPr>
          </a:p>
        </p:txBody>
      </p:sp>
      <p:sp>
        <p:nvSpPr>
          <p:cNvPr id="31" name="Shape 23"/>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32" name="Text 24"/>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40080" y="320040"/>
            <a:ext cx="914400" cy="365760"/>
          </a:xfrm>
          <a:prstGeom prst="rect">
            <a:avLst/>
          </a:prstGeom>
          <a:solidFill>
            <a:srgbClr val="0891B2"/>
          </a:solidFill>
          <a:ln/>
        </p:spPr>
        <p:txBody>
          <a:bodyPr/>
          <a:lstStyle/>
          <a:p>
            <a:endParaRPr lang="en-ID">
              <a:latin typeface="Aptos" panose="020B0004020202020204" pitchFamily="34" charset="0"/>
            </a:endParaRPr>
          </a:p>
        </p:txBody>
      </p:sp>
      <p:sp>
        <p:nvSpPr>
          <p:cNvPr id="3" name="Text 1"/>
          <p:cNvSpPr/>
          <p:nvPr/>
        </p:nvSpPr>
        <p:spPr>
          <a:xfrm>
            <a:off x="640080" y="32004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anose="020B0004020202020204" pitchFamily="34" charset="0"/>
                <a:ea typeface="Calibri" pitchFamily="34" charset="-122"/>
                <a:cs typeface="Calibri" pitchFamily="34" charset="-120"/>
              </a:rPr>
              <a:t>STEP 3</a:t>
            </a:r>
            <a:endParaRPr lang="en-US" sz="1200" dirty="0">
              <a:latin typeface="Aptos" panose="020B0004020202020204" pitchFamily="34" charset="0"/>
            </a:endParaRPr>
          </a:p>
        </p:txBody>
      </p:sp>
      <p:sp>
        <p:nvSpPr>
          <p:cNvPr id="4" name="Text 2"/>
          <p:cNvSpPr/>
          <p:nvPr/>
        </p:nvSpPr>
        <p:spPr>
          <a:xfrm>
            <a:off x="1737360" y="320040"/>
            <a:ext cx="6766560" cy="365760"/>
          </a:xfrm>
          <a:prstGeom prst="rect">
            <a:avLst/>
          </a:prstGeom>
          <a:noFill/>
          <a:ln/>
        </p:spPr>
        <p:txBody>
          <a:bodyPr wrap="square" lIns="0" tIns="0" rIns="0" bIns="0" rtlCol="0" anchor="ctr"/>
          <a:lstStyle/>
          <a:p>
            <a:pPr marL="0" indent="0">
              <a:buNone/>
            </a:pPr>
            <a:r>
              <a:rPr lang="en-US" sz="2200" b="1" dirty="0" err="1">
                <a:solidFill>
                  <a:srgbClr val="1E293B"/>
                </a:solidFill>
                <a:latin typeface="Aptos" panose="020B0004020202020204" pitchFamily="34" charset="0"/>
                <a:ea typeface="Trebuchet MS" pitchFamily="34" charset="-122"/>
                <a:cs typeface="Trebuchet MS" pitchFamily="34" charset="-120"/>
              </a:rPr>
              <a:t>Unduh</a:t>
            </a:r>
            <a:r>
              <a:rPr lang="en-US" sz="2200" b="1" dirty="0">
                <a:solidFill>
                  <a:srgbClr val="1E293B"/>
                </a:solidFill>
                <a:latin typeface="Aptos" panose="020B0004020202020204" pitchFamily="34" charset="0"/>
                <a:ea typeface="Trebuchet MS" pitchFamily="34" charset="-122"/>
                <a:cs typeface="Trebuchet MS" pitchFamily="34" charset="-120"/>
              </a:rPr>
              <a:t> dan Simpan Sertifikat</a:t>
            </a:r>
            <a:endParaRPr lang="en-US" sz="2200" dirty="0">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822960" y="1005840"/>
            <a:ext cx="411480" cy="411480"/>
          </a:xfrm>
          <a:prstGeom prst="rect">
            <a:avLst/>
          </a:prstGeom>
        </p:spPr>
      </p:pic>
      <p:sp>
        <p:nvSpPr>
          <p:cNvPr id="6" name="Text 3"/>
          <p:cNvSpPr/>
          <p:nvPr/>
        </p:nvSpPr>
        <p:spPr>
          <a:xfrm>
            <a:off x="1371600" y="1051560"/>
            <a:ext cx="4572000" cy="320040"/>
          </a:xfrm>
          <a:prstGeom prst="rect">
            <a:avLst/>
          </a:prstGeom>
          <a:noFill/>
          <a:ln/>
        </p:spPr>
        <p:txBody>
          <a:bodyPr wrap="square" lIns="0" tIns="0" rIns="0" bIns="0" rtlCol="0" anchor="ctr"/>
          <a:lstStyle/>
          <a:p>
            <a:pPr marL="0" indent="0">
              <a:buNone/>
            </a:pPr>
            <a:r>
              <a:rPr lang="en-US" sz="1300" b="1" dirty="0">
                <a:solidFill>
                  <a:srgbClr val="0891B2"/>
                </a:solidFill>
                <a:latin typeface="Aptos" panose="020B0004020202020204" pitchFamily="34" charset="0"/>
                <a:ea typeface="Calibri" pitchFamily="34" charset="-122"/>
                <a:cs typeface="Calibri" pitchFamily="34" charset="-120"/>
              </a:rPr>
              <a:t>Setelah Kursus Selesai 100%</a:t>
            </a:r>
            <a:endParaRPr lang="en-US" sz="1300" dirty="0">
              <a:latin typeface="Aptos" panose="020B0004020202020204" pitchFamily="34" charset="0"/>
            </a:endParaRPr>
          </a:p>
        </p:txBody>
      </p:sp>
      <p:sp>
        <p:nvSpPr>
          <p:cNvPr id="7" name="Shape 4"/>
          <p:cNvSpPr/>
          <p:nvPr/>
        </p:nvSpPr>
        <p:spPr>
          <a:xfrm>
            <a:off x="640080" y="1508760"/>
            <a:ext cx="786384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8" name="Text 5"/>
          <p:cNvSpPr/>
          <p:nvPr/>
        </p:nvSpPr>
        <p:spPr>
          <a:xfrm>
            <a:off x="914400" y="1664208"/>
            <a:ext cx="45720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01</a:t>
            </a:r>
            <a:endParaRPr lang="en-US" sz="1800" dirty="0">
              <a:latin typeface="Aptos" panose="020B0004020202020204" pitchFamily="34" charset="0"/>
            </a:endParaRPr>
          </a:p>
        </p:txBody>
      </p:sp>
      <p:sp>
        <p:nvSpPr>
          <p:cNvPr id="9" name="Text 6"/>
          <p:cNvSpPr/>
          <p:nvPr/>
        </p:nvSpPr>
        <p:spPr>
          <a:xfrm>
            <a:off x="1463040" y="1664208"/>
            <a:ext cx="6766560" cy="365760"/>
          </a:xfrm>
          <a:prstGeom prst="rect">
            <a:avLst/>
          </a:prstGeom>
          <a:noFill/>
          <a:ln/>
        </p:spPr>
        <p:txBody>
          <a:bodyPr wrap="square" lIns="0" tIns="0" rIns="0" bIns="0" rtlCol="0" anchor="ctr"/>
          <a:lstStyle/>
          <a:p>
            <a:pPr marL="0" indent="0">
              <a:buNone/>
            </a:pPr>
            <a:r>
              <a:rPr lang="en-US" sz="1150" dirty="0">
                <a:solidFill>
                  <a:srgbClr val="475569"/>
                </a:solidFill>
                <a:latin typeface="Aptos" panose="020B0004020202020204" pitchFamily="34" charset="0"/>
                <a:ea typeface="Calibri" pitchFamily="34" charset="-122"/>
                <a:cs typeface="Calibri" pitchFamily="34" charset="-120"/>
              </a:rPr>
              <a:t>Setelah semua modul dan quiz selesai, buka menu "My Certificates" atau "My Courses" di dashboard akun Anda.</a:t>
            </a:r>
            <a:endParaRPr lang="en-US" sz="1150" dirty="0">
              <a:latin typeface="Aptos" panose="020B0004020202020204" pitchFamily="34" charset="0"/>
            </a:endParaRPr>
          </a:p>
        </p:txBody>
      </p:sp>
      <p:sp>
        <p:nvSpPr>
          <p:cNvPr id="10" name="Text 7"/>
          <p:cNvSpPr/>
          <p:nvPr/>
        </p:nvSpPr>
        <p:spPr>
          <a:xfrm>
            <a:off x="914400" y="2121408"/>
            <a:ext cx="45720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02</a:t>
            </a:r>
            <a:endParaRPr lang="en-US" sz="1800" dirty="0">
              <a:latin typeface="Aptos" panose="020B0004020202020204" pitchFamily="34" charset="0"/>
            </a:endParaRPr>
          </a:p>
        </p:txBody>
      </p:sp>
      <p:sp>
        <p:nvSpPr>
          <p:cNvPr id="11" name="Text 8"/>
          <p:cNvSpPr/>
          <p:nvPr/>
        </p:nvSpPr>
        <p:spPr>
          <a:xfrm>
            <a:off x="1463040" y="2121408"/>
            <a:ext cx="6766560" cy="365760"/>
          </a:xfrm>
          <a:prstGeom prst="rect">
            <a:avLst/>
          </a:prstGeom>
          <a:noFill/>
          <a:ln/>
        </p:spPr>
        <p:txBody>
          <a:bodyPr wrap="square" lIns="0" tIns="0" rIns="0" bIns="0" rtlCol="0" anchor="ctr"/>
          <a:lstStyle/>
          <a:p>
            <a:pPr marL="0" indent="0">
              <a:buNone/>
            </a:pPr>
            <a:r>
              <a:rPr lang="en-US" sz="1150" dirty="0">
                <a:solidFill>
                  <a:srgbClr val="475569"/>
                </a:solidFill>
                <a:latin typeface="Aptos" panose="020B0004020202020204" pitchFamily="34" charset="0"/>
                <a:ea typeface="Calibri" pitchFamily="34" charset="-122"/>
                <a:cs typeface="Calibri" pitchFamily="34" charset="-120"/>
              </a:rPr>
              <a:t>Klik tombol "Download Certificate" atau "Get Certificate" untuk mengunduh sertifikat dalam format PDF.</a:t>
            </a:r>
            <a:endParaRPr lang="en-US" sz="1150" dirty="0">
              <a:latin typeface="Aptos" panose="020B0004020202020204" pitchFamily="34" charset="0"/>
            </a:endParaRPr>
          </a:p>
        </p:txBody>
      </p:sp>
      <p:sp>
        <p:nvSpPr>
          <p:cNvPr id="12" name="Text 9"/>
          <p:cNvSpPr/>
          <p:nvPr/>
        </p:nvSpPr>
        <p:spPr>
          <a:xfrm>
            <a:off x="914400" y="2578608"/>
            <a:ext cx="45720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03</a:t>
            </a:r>
            <a:endParaRPr lang="en-US" sz="1800" dirty="0">
              <a:latin typeface="Aptos" panose="020B0004020202020204" pitchFamily="34" charset="0"/>
            </a:endParaRPr>
          </a:p>
        </p:txBody>
      </p:sp>
      <p:sp>
        <p:nvSpPr>
          <p:cNvPr id="13" name="Text 10"/>
          <p:cNvSpPr/>
          <p:nvPr/>
        </p:nvSpPr>
        <p:spPr>
          <a:xfrm>
            <a:off x="1463040" y="2578608"/>
            <a:ext cx="6766560" cy="365760"/>
          </a:xfrm>
          <a:prstGeom prst="rect">
            <a:avLst/>
          </a:prstGeom>
          <a:noFill/>
          <a:ln/>
        </p:spPr>
        <p:txBody>
          <a:bodyPr wrap="square" lIns="0" tIns="0" rIns="0" bIns="0" rtlCol="0" anchor="ctr"/>
          <a:lstStyle/>
          <a:p>
            <a:pPr marL="0" indent="0">
              <a:buNone/>
            </a:pPr>
            <a:r>
              <a:rPr lang="en-US" sz="1150" dirty="0">
                <a:solidFill>
                  <a:srgbClr val="475569"/>
                </a:solidFill>
                <a:latin typeface="Aptos" panose="020B0004020202020204" pitchFamily="34" charset="0"/>
                <a:ea typeface="Calibri" pitchFamily="34" charset="-122"/>
                <a:cs typeface="Calibri" pitchFamily="34" charset="-120"/>
              </a:rPr>
              <a:t>Simpan file dengan format nama: NamaLengkap_NIM_BigDataCertificate.pdf</a:t>
            </a:r>
            <a:endParaRPr lang="en-US" sz="1150" dirty="0">
              <a:latin typeface="Aptos" panose="020B0004020202020204" pitchFamily="34" charset="0"/>
            </a:endParaRPr>
          </a:p>
        </p:txBody>
      </p:sp>
      <p:sp>
        <p:nvSpPr>
          <p:cNvPr id="14" name="Shape 11"/>
          <p:cNvSpPr/>
          <p:nvPr/>
        </p:nvSpPr>
        <p:spPr>
          <a:xfrm>
            <a:off x="640080" y="3383280"/>
            <a:ext cx="7863840" cy="914400"/>
          </a:xfrm>
          <a:prstGeom prst="rect">
            <a:avLst/>
          </a:prstGeom>
          <a:solidFill>
            <a:srgbClr val="E0F7FA"/>
          </a:solidFill>
          <a:ln/>
        </p:spPr>
        <p:txBody>
          <a:bodyPr/>
          <a:lstStyle/>
          <a:p>
            <a:endParaRPr lang="en-ID">
              <a:latin typeface="Aptos" panose="020B0004020202020204" pitchFamily="34" charset="0"/>
            </a:endParaRPr>
          </a:p>
        </p:txBody>
      </p:sp>
      <p:sp>
        <p:nvSpPr>
          <p:cNvPr id="15" name="Text 12"/>
          <p:cNvSpPr/>
          <p:nvPr/>
        </p:nvSpPr>
        <p:spPr>
          <a:xfrm>
            <a:off x="914400" y="3456432"/>
            <a:ext cx="2743200" cy="274320"/>
          </a:xfrm>
          <a:prstGeom prst="rect">
            <a:avLst/>
          </a:prstGeom>
          <a:noFill/>
          <a:ln/>
        </p:spPr>
        <p:txBody>
          <a:bodyPr wrap="square" lIns="0" tIns="0" rIns="0" bIns="0" rtlCol="0" anchor="ctr"/>
          <a:lstStyle/>
          <a:p>
            <a:pPr marL="0" indent="0">
              <a:buNone/>
            </a:pPr>
            <a:r>
              <a:rPr lang="en-US" sz="1100" b="1" dirty="0">
                <a:solidFill>
                  <a:srgbClr val="065A82"/>
                </a:solidFill>
                <a:latin typeface="Aptos" panose="020B0004020202020204" pitchFamily="34" charset="0"/>
                <a:ea typeface="Calibri" pitchFamily="34" charset="-122"/>
                <a:cs typeface="Calibri" pitchFamily="34" charset="-120"/>
              </a:rPr>
              <a:t>Contoh Penamaan File:</a:t>
            </a:r>
            <a:endParaRPr lang="en-US" sz="1100" dirty="0">
              <a:latin typeface="Aptos" panose="020B0004020202020204" pitchFamily="34" charset="0"/>
            </a:endParaRPr>
          </a:p>
        </p:txBody>
      </p:sp>
      <p:sp>
        <p:nvSpPr>
          <p:cNvPr id="16" name="Text 13"/>
          <p:cNvSpPr/>
          <p:nvPr/>
        </p:nvSpPr>
        <p:spPr>
          <a:xfrm>
            <a:off x="914400" y="3749040"/>
            <a:ext cx="7315200" cy="320040"/>
          </a:xfrm>
          <a:prstGeom prst="rect">
            <a:avLst/>
          </a:prstGeom>
          <a:noFill/>
          <a:ln/>
        </p:spPr>
        <p:txBody>
          <a:bodyPr wrap="square" lIns="0" tIns="0" rIns="0" bIns="0" rtlCol="0" anchor="ctr"/>
          <a:lstStyle/>
          <a:p>
            <a:pPr marL="0" indent="0">
              <a:buNone/>
            </a:pPr>
            <a:r>
              <a:rPr lang="en-US" sz="1400" dirty="0">
                <a:solidFill>
                  <a:srgbClr val="1E293B"/>
                </a:solidFill>
                <a:latin typeface="Aptos" panose="020B0004020202020204" pitchFamily="34" charset="0"/>
                <a:ea typeface="Consolas" pitchFamily="34" charset="-122"/>
                <a:cs typeface="Consolas" pitchFamily="34" charset="-120"/>
              </a:rPr>
              <a:t>Angelica </a:t>
            </a:r>
            <a:r>
              <a:rPr lang="en-US" sz="1400" dirty="0" err="1">
                <a:solidFill>
                  <a:srgbClr val="1E293B"/>
                </a:solidFill>
                <a:latin typeface="Aptos" panose="020B0004020202020204" pitchFamily="34" charset="0"/>
                <a:ea typeface="Consolas" pitchFamily="34" charset="-122"/>
                <a:cs typeface="Consolas" pitchFamily="34" charset="-120"/>
              </a:rPr>
              <a:t>Fajarina</a:t>
            </a:r>
            <a:r>
              <a:rPr lang="en-US" sz="1400" dirty="0">
                <a:solidFill>
                  <a:srgbClr val="1E293B"/>
                </a:solidFill>
                <a:latin typeface="Aptos" panose="020B0004020202020204" pitchFamily="34" charset="0"/>
                <a:ea typeface="Consolas" pitchFamily="34" charset="-122"/>
                <a:cs typeface="Consolas" pitchFamily="34" charset="-120"/>
              </a:rPr>
              <a:t> Nugroho_A_2310112191_BigDataCertificate.pdf</a:t>
            </a:r>
            <a:endParaRPr lang="en-US" sz="1400" dirty="0">
              <a:latin typeface="Aptos" panose="020B0004020202020204" pitchFamily="34" charset="0"/>
            </a:endParaRPr>
          </a:p>
        </p:txBody>
      </p:sp>
      <p:sp>
        <p:nvSpPr>
          <p:cNvPr id="17" name="Shape 14"/>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18" name="Text 15"/>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640080" y="320040"/>
            <a:ext cx="914400" cy="365760"/>
          </a:xfrm>
          <a:prstGeom prst="rect">
            <a:avLst/>
          </a:prstGeom>
          <a:solidFill>
            <a:srgbClr val="0891B2"/>
          </a:solidFill>
          <a:ln/>
        </p:spPr>
        <p:txBody>
          <a:bodyPr/>
          <a:lstStyle/>
          <a:p>
            <a:endParaRPr lang="en-ID">
              <a:latin typeface="Aptos" panose="020B0004020202020204" pitchFamily="34" charset="0"/>
            </a:endParaRPr>
          </a:p>
        </p:txBody>
      </p:sp>
      <p:sp>
        <p:nvSpPr>
          <p:cNvPr id="3" name="Text 1"/>
          <p:cNvSpPr/>
          <p:nvPr/>
        </p:nvSpPr>
        <p:spPr>
          <a:xfrm>
            <a:off x="640080" y="320040"/>
            <a:ext cx="91440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anose="020B0004020202020204" pitchFamily="34" charset="0"/>
                <a:ea typeface="Calibri" pitchFamily="34" charset="-122"/>
                <a:cs typeface="Calibri" pitchFamily="34" charset="-120"/>
              </a:rPr>
              <a:t>STEP 4</a:t>
            </a:r>
            <a:endParaRPr lang="en-US" sz="1200" dirty="0">
              <a:latin typeface="Aptos" panose="020B0004020202020204" pitchFamily="34" charset="0"/>
            </a:endParaRPr>
          </a:p>
        </p:txBody>
      </p:sp>
      <p:sp>
        <p:nvSpPr>
          <p:cNvPr id="4" name="Text 2"/>
          <p:cNvSpPr/>
          <p:nvPr/>
        </p:nvSpPr>
        <p:spPr>
          <a:xfrm>
            <a:off x="1737360" y="320040"/>
            <a:ext cx="6766560" cy="365760"/>
          </a:xfrm>
          <a:prstGeom prst="rect">
            <a:avLst/>
          </a:prstGeom>
          <a:noFill/>
          <a:ln/>
        </p:spPr>
        <p:txBody>
          <a:bodyPr wrap="square" lIns="0" tIns="0" rIns="0" bIns="0" rtlCol="0" anchor="ctr"/>
          <a:lstStyle/>
          <a:p>
            <a:pPr marL="0" indent="0">
              <a:buNone/>
            </a:pPr>
            <a:r>
              <a:rPr lang="en-US" sz="2200" b="1" dirty="0">
                <a:solidFill>
                  <a:srgbClr val="1E293B"/>
                </a:solidFill>
                <a:latin typeface="Aptos" panose="020B0004020202020204" pitchFamily="34" charset="0"/>
                <a:ea typeface="Trebuchet MS" pitchFamily="34" charset="-122"/>
                <a:cs typeface="Trebuchet MS" pitchFamily="34" charset="-120"/>
              </a:rPr>
              <a:t>Upload Sertifikat</a:t>
            </a:r>
            <a:endParaRPr lang="en-US" sz="2200" dirty="0">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822960" y="1005840"/>
            <a:ext cx="411480" cy="411480"/>
          </a:xfrm>
          <a:prstGeom prst="rect">
            <a:avLst/>
          </a:prstGeom>
        </p:spPr>
      </p:pic>
      <p:sp>
        <p:nvSpPr>
          <p:cNvPr id="6" name="Text 3"/>
          <p:cNvSpPr/>
          <p:nvPr/>
        </p:nvSpPr>
        <p:spPr>
          <a:xfrm>
            <a:off x="1371600" y="1051560"/>
            <a:ext cx="4572000" cy="320040"/>
          </a:xfrm>
          <a:prstGeom prst="rect">
            <a:avLst/>
          </a:prstGeom>
          <a:noFill/>
          <a:ln/>
        </p:spPr>
        <p:txBody>
          <a:bodyPr wrap="square" lIns="0" tIns="0" rIns="0" bIns="0" rtlCol="0" anchor="ctr"/>
          <a:lstStyle/>
          <a:p>
            <a:pPr marL="0" indent="0">
              <a:buNone/>
            </a:pPr>
            <a:r>
              <a:rPr lang="en-US" sz="1300" b="1" dirty="0">
                <a:solidFill>
                  <a:srgbClr val="0891B2"/>
                </a:solidFill>
                <a:latin typeface="Aptos" panose="020B0004020202020204" pitchFamily="34" charset="0"/>
                <a:ea typeface="Calibri" pitchFamily="34" charset="-122"/>
                <a:cs typeface="Calibri" pitchFamily="34" charset="-120"/>
              </a:rPr>
              <a:t>Unggah ke Folder yang Telah Disediakan</a:t>
            </a:r>
            <a:endParaRPr lang="en-US" sz="1300" dirty="0">
              <a:latin typeface="Aptos" panose="020B0004020202020204" pitchFamily="34" charset="0"/>
            </a:endParaRPr>
          </a:p>
        </p:txBody>
      </p:sp>
      <p:sp>
        <p:nvSpPr>
          <p:cNvPr id="7" name="Shape 4"/>
          <p:cNvSpPr/>
          <p:nvPr/>
        </p:nvSpPr>
        <p:spPr>
          <a:xfrm>
            <a:off x="640080" y="1508760"/>
            <a:ext cx="786384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8" name="Text 5"/>
          <p:cNvSpPr/>
          <p:nvPr/>
        </p:nvSpPr>
        <p:spPr>
          <a:xfrm>
            <a:off x="914400" y="1645920"/>
            <a:ext cx="41148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01</a:t>
            </a:r>
            <a:endParaRPr lang="en-US" sz="1800" dirty="0">
              <a:latin typeface="Aptos" panose="020B0004020202020204" pitchFamily="34" charset="0"/>
            </a:endParaRPr>
          </a:p>
        </p:txBody>
      </p:sp>
      <p:sp>
        <p:nvSpPr>
          <p:cNvPr id="9" name="Text 6"/>
          <p:cNvSpPr/>
          <p:nvPr/>
        </p:nvSpPr>
        <p:spPr>
          <a:xfrm>
            <a:off x="1417320" y="1645920"/>
            <a:ext cx="1371600" cy="27432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Trebuchet MS" pitchFamily="34" charset="-122"/>
                <a:cs typeface="Trebuchet MS" pitchFamily="34" charset="-120"/>
              </a:rPr>
              <a:t>Akses Link</a:t>
            </a:r>
            <a:endParaRPr lang="en-US" sz="1200" dirty="0">
              <a:latin typeface="Aptos" panose="020B0004020202020204" pitchFamily="34" charset="0"/>
            </a:endParaRPr>
          </a:p>
        </p:txBody>
      </p:sp>
      <p:sp>
        <p:nvSpPr>
          <p:cNvPr id="10" name="Text 7"/>
          <p:cNvSpPr/>
          <p:nvPr/>
        </p:nvSpPr>
        <p:spPr>
          <a:xfrm>
            <a:off x="2834640" y="1645920"/>
            <a:ext cx="539496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Buka link Google Drive / folder yang telah dibagikan oleh dosen pengampu melalui LMS atau grup kelas.</a:t>
            </a:r>
            <a:endParaRPr lang="en-US" sz="1100" dirty="0">
              <a:latin typeface="Aptos" panose="020B0004020202020204" pitchFamily="34" charset="0"/>
            </a:endParaRPr>
          </a:p>
        </p:txBody>
      </p:sp>
      <p:sp>
        <p:nvSpPr>
          <p:cNvPr id="11" name="Text 8"/>
          <p:cNvSpPr/>
          <p:nvPr/>
        </p:nvSpPr>
        <p:spPr>
          <a:xfrm>
            <a:off x="914400" y="2103120"/>
            <a:ext cx="41148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02</a:t>
            </a:r>
            <a:endParaRPr lang="en-US" sz="1800" dirty="0">
              <a:latin typeface="Aptos" panose="020B0004020202020204" pitchFamily="34" charset="0"/>
            </a:endParaRPr>
          </a:p>
        </p:txBody>
      </p:sp>
      <p:sp>
        <p:nvSpPr>
          <p:cNvPr id="12" name="Text 9"/>
          <p:cNvSpPr/>
          <p:nvPr/>
        </p:nvSpPr>
        <p:spPr>
          <a:xfrm>
            <a:off x="1417320" y="2103120"/>
            <a:ext cx="1371600" cy="27432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Trebuchet MS" pitchFamily="34" charset="-122"/>
                <a:cs typeface="Trebuchet MS" pitchFamily="34" charset="-120"/>
              </a:rPr>
              <a:t>Upload File</a:t>
            </a:r>
            <a:endParaRPr lang="en-US" sz="1200" dirty="0">
              <a:latin typeface="Aptos" panose="020B0004020202020204" pitchFamily="34" charset="0"/>
            </a:endParaRPr>
          </a:p>
        </p:txBody>
      </p:sp>
      <p:sp>
        <p:nvSpPr>
          <p:cNvPr id="13" name="Text 10"/>
          <p:cNvSpPr/>
          <p:nvPr/>
        </p:nvSpPr>
        <p:spPr>
          <a:xfrm>
            <a:off x="2834640" y="2103120"/>
            <a:ext cx="539496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Klik tombol "+ New" atau drag-and-drop file sertifikat PDF Anda ke dalam folder yang sesuai.</a:t>
            </a:r>
            <a:endParaRPr lang="en-US" sz="1100" dirty="0">
              <a:latin typeface="Aptos" panose="020B0004020202020204" pitchFamily="34" charset="0"/>
            </a:endParaRPr>
          </a:p>
        </p:txBody>
      </p:sp>
      <p:sp>
        <p:nvSpPr>
          <p:cNvPr id="14" name="Text 11"/>
          <p:cNvSpPr/>
          <p:nvPr/>
        </p:nvSpPr>
        <p:spPr>
          <a:xfrm>
            <a:off x="914400" y="2560320"/>
            <a:ext cx="41148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03</a:t>
            </a:r>
            <a:endParaRPr lang="en-US" sz="1800" dirty="0">
              <a:latin typeface="Aptos" panose="020B0004020202020204" pitchFamily="34" charset="0"/>
            </a:endParaRPr>
          </a:p>
        </p:txBody>
      </p:sp>
      <p:sp>
        <p:nvSpPr>
          <p:cNvPr id="15" name="Text 12"/>
          <p:cNvSpPr/>
          <p:nvPr/>
        </p:nvSpPr>
        <p:spPr>
          <a:xfrm>
            <a:off x="1417320" y="2560320"/>
            <a:ext cx="1371600" cy="27432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Trebuchet MS" pitchFamily="34" charset="-122"/>
                <a:cs typeface="Trebuchet MS" pitchFamily="34" charset="-120"/>
              </a:rPr>
              <a:t>Verifikasi</a:t>
            </a:r>
            <a:endParaRPr lang="en-US" sz="1200" dirty="0">
              <a:latin typeface="Aptos" panose="020B0004020202020204" pitchFamily="34" charset="0"/>
            </a:endParaRPr>
          </a:p>
        </p:txBody>
      </p:sp>
      <p:sp>
        <p:nvSpPr>
          <p:cNvPr id="16" name="Text 13"/>
          <p:cNvSpPr/>
          <p:nvPr/>
        </p:nvSpPr>
        <p:spPr>
          <a:xfrm>
            <a:off x="2834640" y="2560320"/>
            <a:ext cx="539496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Pastikan file sudah terunggah dengan benar — cek nama file, ukuran file, dan pastikan bisa dibuka.</a:t>
            </a:r>
            <a:endParaRPr lang="en-US" sz="1100" dirty="0">
              <a:latin typeface="Aptos" panose="020B0004020202020204" pitchFamily="34" charset="0"/>
            </a:endParaRPr>
          </a:p>
        </p:txBody>
      </p:sp>
      <p:sp>
        <p:nvSpPr>
          <p:cNvPr id="17" name="Text 14"/>
          <p:cNvSpPr/>
          <p:nvPr/>
        </p:nvSpPr>
        <p:spPr>
          <a:xfrm>
            <a:off x="914400" y="3017520"/>
            <a:ext cx="411480" cy="320040"/>
          </a:xfrm>
          <a:prstGeom prst="rect">
            <a:avLst/>
          </a:prstGeom>
          <a:noFill/>
          <a:ln/>
        </p:spPr>
        <p:txBody>
          <a:bodyPr wrap="square" lIns="0" tIns="0" rIns="0" bIns="0" rtlCol="0" anchor="ctr"/>
          <a:lstStyle/>
          <a:p>
            <a:pPr marL="0" indent="0">
              <a:buNone/>
            </a:pPr>
            <a:r>
              <a:rPr lang="en-US" sz="1800" b="1" dirty="0">
                <a:solidFill>
                  <a:srgbClr val="0891B2"/>
                </a:solidFill>
                <a:latin typeface="Aptos" panose="020B0004020202020204" pitchFamily="34" charset="0"/>
                <a:ea typeface="Trebuchet MS" pitchFamily="34" charset="-122"/>
                <a:cs typeface="Trebuchet MS" pitchFamily="34" charset="-120"/>
              </a:rPr>
              <a:t>04</a:t>
            </a:r>
            <a:endParaRPr lang="en-US" sz="1800" dirty="0">
              <a:latin typeface="Aptos" panose="020B0004020202020204" pitchFamily="34" charset="0"/>
            </a:endParaRPr>
          </a:p>
        </p:txBody>
      </p:sp>
      <p:sp>
        <p:nvSpPr>
          <p:cNvPr id="18" name="Text 15"/>
          <p:cNvSpPr/>
          <p:nvPr/>
        </p:nvSpPr>
        <p:spPr>
          <a:xfrm>
            <a:off x="1417320" y="3017520"/>
            <a:ext cx="1371600" cy="27432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Trebuchet MS" pitchFamily="34" charset="-122"/>
                <a:cs typeface="Trebuchet MS" pitchFamily="34" charset="-120"/>
              </a:rPr>
              <a:t>Konfirmasi</a:t>
            </a:r>
            <a:endParaRPr lang="en-US" sz="1200" dirty="0">
              <a:latin typeface="Aptos" panose="020B0004020202020204" pitchFamily="34" charset="0"/>
            </a:endParaRPr>
          </a:p>
        </p:txBody>
      </p:sp>
      <p:sp>
        <p:nvSpPr>
          <p:cNvPr id="19" name="Text 16"/>
          <p:cNvSpPr/>
          <p:nvPr/>
        </p:nvSpPr>
        <p:spPr>
          <a:xfrm>
            <a:off x="2834640" y="3017520"/>
            <a:ext cx="5394960" cy="36576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Informasikan kepada dosen via LMS / chat bahwa sertifikat sudah diunggah (opsional, sesuai arahan dosen).</a:t>
            </a:r>
            <a:endParaRPr lang="en-US" sz="1100" dirty="0">
              <a:latin typeface="Aptos" panose="020B0004020202020204" pitchFamily="34" charset="0"/>
            </a:endParaRPr>
          </a:p>
        </p:txBody>
      </p:sp>
      <p:sp>
        <p:nvSpPr>
          <p:cNvPr id="20" name="Shape 17"/>
          <p:cNvSpPr/>
          <p:nvPr/>
        </p:nvSpPr>
        <p:spPr>
          <a:xfrm>
            <a:off x="640080" y="3794760"/>
            <a:ext cx="7863840" cy="731520"/>
          </a:xfrm>
          <a:prstGeom prst="rect">
            <a:avLst/>
          </a:prstGeom>
          <a:solidFill>
            <a:srgbClr val="FFF7ED"/>
          </a:solidFill>
          <a:ln/>
        </p:spPr>
        <p:txBody>
          <a:bodyPr/>
          <a:lstStyle/>
          <a:p>
            <a:endParaRPr lang="en-ID">
              <a:latin typeface="Aptos" panose="020B0004020202020204" pitchFamily="34" charset="0"/>
            </a:endParaRPr>
          </a:p>
        </p:txBody>
      </p:sp>
      <p:sp>
        <p:nvSpPr>
          <p:cNvPr id="21" name="Shape 18"/>
          <p:cNvSpPr/>
          <p:nvPr/>
        </p:nvSpPr>
        <p:spPr>
          <a:xfrm>
            <a:off x="640080" y="3794760"/>
            <a:ext cx="64008" cy="731520"/>
          </a:xfrm>
          <a:prstGeom prst="rect">
            <a:avLst/>
          </a:prstGeom>
          <a:solidFill>
            <a:srgbClr val="D97706"/>
          </a:solidFill>
          <a:ln/>
        </p:spPr>
        <p:txBody>
          <a:bodyPr/>
          <a:lstStyle/>
          <a:p>
            <a:endParaRPr lang="en-ID">
              <a:latin typeface="Aptos" panose="020B0004020202020204" pitchFamily="34" charset="0"/>
            </a:endParaRPr>
          </a:p>
        </p:txBody>
      </p:sp>
      <p:pic>
        <p:nvPicPr>
          <p:cNvPr id="22" name="Image 1" descr="preencoded.png"/>
          <p:cNvPicPr>
            <a:picLocks noChangeAspect="1"/>
          </p:cNvPicPr>
          <p:nvPr/>
        </p:nvPicPr>
        <p:blipFill>
          <a:blip r:embed="rId4"/>
          <a:stretch>
            <a:fillRect/>
          </a:stretch>
        </p:blipFill>
        <p:spPr>
          <a:xfrm>
            <a:off x="960120" y="3977640"/>
            <a:ext cx="320040" cy="320040"/>
          </a:xfrm>
          <a:prstGeom prst="rect">
            <a:avLst/>
          </a:prstGeom>
        </p:spPr>
      </p:pic>
      <p:sp>
        <p:nvSpPr>
          <p:cNvPr id="23" name="Text 19"/>
          <p:cNvSpPr/>
          <p:nvPr/>
        </p:nvSpPr>
        <p:spPr>
          <a:xfrm>
            <a:off x="1417320" y="3840480"/>
            <a:ext cx="6858000" cy="640080"/>
          </a:xfrm>
          <a:prstGeom prst="rect">
            <a:avLst/>
          </a:prstGeom>
          <a:noFill/>
          <a:ln/>
        </p:spPr>
        <p:txBody>
          <a:bodyPr wrap="square" lIns="0" tIns="0" rIns="0" bIns="0" rtlCol="0" anchor="ctr"/>
          <a:lstStyle/>
          <a:p>
            <a:pPr marL="0" indent="0">
              <a:buNone/>
            </a:pPr>
            <a:r>
              <a:rPr lang="en-US" sz="1300" b="1" dirty="0">
                <a:solidFill>
                  <a:srgbClr val="D97706"/>
                </a:solidFill>
                <a:latin typeface="Aptos" panose="020B0004020202020204" pitchFamily="34" charset="0"/>
                <a:ea typeface="Calibri" pitchFamily="34" charset="-122"/>
                <a:cs typeface="Calibri" pitchFamily="34" charset="-120"/>
              </a:rPr>
              <a:t>DEADLINE: Paling Lambat Pertemuan ke-15</a:t>
            </a:r>
            <a:endParaRPr lang="en-US" sz="1300" dirty="0">
              <a:latin typeface="Aptos" panose="020B0004020202020204" pitchFamily="34" charset="0"/>
            </a:endParaRPr>
          </a:p>
          <a:p>
            <a:pPr marL="0" indent="0">
              <a:buNone/>
            </a:pPr>
            <a:r>
              <a:rPr lang="en-US" sz="1100" dirty="0">
                <a:solidFill>
                  <a:srgbClr val="475569"/>
                </a:solidFill>
                <a:latin typeface="Aptos" panose="020B0004020202020204" pitchFamily="34" charset="0"/>
                <a:ea typeface="Calibri" pitchFamily="34" charset="-122"/>
                <a:cs typeface="Calibri" pitchFamily="34" charset="-120"/>
              </a:rPr>
              <a:t>Keterlambatan </a:t>
            </a:r>
            <a:r>
              <a:rPr lang="en-US" sz="1100" dirty="0" err="1">
                <a:solidFill>
                  <a:srgbClr val="475569"/>
                </a:solidFill>
                <a:latin typeface="Aptos" panose="020B0004020202020204" pitchFamily="34" charset="0"/>
                <a:ea typeface="Calibri" pitchFamily="34" charset="-122"/>
                <a:cs typeface="Calibri" pitchFamily="34" charset="-120"/>
              </a:rPr>
              <a:t>pengumpulan</a:t>
            </a:r>
            <a:r>
              <a:rPr lang="en-US" sz="1100" dirty="0">
                <a:solidFill>
                  <a:srgbClr val="475569"/>
                </a:solidFill>
                <a:latin typeface="Aptos" panose="020B0004020202020204" pitchFamily="34" charset="0"/>
                <a:ea typeface="Calibri" pitchFamily="34" charset="-122"/>
                <a:cs typeface="Calibri" pitchFamily="34" charset="-120"/>
              </a:rPr>
              <a:t> </a:t>
            </a:r>
            <a:r>
              <a:rPr lang="en-US" sz="1100" dirty="0" err="1">
                <a:solidFill>
                  <a:srgbClr val="475569"/>
                </a:solidFill>
                <a:latin typeface="Aptos" panose="020B0004020202020204" pitchFamily="34" charset="0"/>
                <a:ea typeface="Calibri" pitchFamily="34" charset="-122"/>
                <a:cs typeface="Calibri" pitchFamily="34" charset="-120"/>
              </a:rPr>
              <a:t>sertifikat</a:t>
            </a:r>
            <a:r>
              <a:rPr lang="en-US" sz="1100" dirty="0">
                <a:solidFill>
                  <a:srgbClr val="475569"/>
                </a:solidFill>
                <a:latin typeface="Aptos" panose="020B0004020202020204" pitchFamily="34" charset="0"/>
                <a:ea typeface="Calibri" pitchFamily="34" charset="-122"/>
                <a:cs typeface="Calibri" pitchFamily="34" charset="-120"/>
              </a:rPr>
              <a:t> – </a:t>
            </a:r>
            <a:r>
              <a:rPr lang="en-US" sz="1100" dirty="0" err="1">
                <a:solidFill>
                  <a:srgbClr val="475569"/>
                </a:solidFill>
                <a:latin typeface="Aptos" panose="020B0004020202020204" pitchFamily="34" charset="0"/>
                <a:ea typeface="Calibri" pitchFamily="34" charset="-122"/>
                <a:cs typeface="Calibri" pitchFamily="34" charset="-120"/>
              </a:rPr>
              <a:t>nilai</a:t>
            </a:r>
            <a:r>
              <a:rPr lang="en-US" sz="1100" dirty="0">
                <a:solidFill>
                  <a:srgbClr val="475569"/>
                </a:solidFill>
                <a:latin typeface="Aptos" panose="020B0004020202020204" pitchFamily="34" charset="0"/>
                <a:ea typeface="Calibri" pitchFamily="34" charset="-122"/>
                <a:cs typeface="Calibri" pitchFamily="34" charset="-120"/>
              </a:rPr>
              <a:t> </a:t>
            </a:r>
            <a:r>
              <a:rPr lang="en-US" sz="1100" dirty="0" err="1">
                <a:solidFill>
                  <a:srgbClr val="475569"/>
                </a:solidFill>
                <a:latin typeface="Aptos" panose="020B0004020202020204" pitchFamily="34" charset="0"/>
                <a:ea typeface="Calibri" pitchFamily="34" charset="-122"/>
                <a:cs typeface="Calibri" pitchFamily="34" charset="-120"/>
              </a:rPr>
              <a:t>tugas</a:t>
            </a:r>
            <a:r>
              <a:rPr lang="en-US" sz="1100" dirty="0">
                <a:solidFill>
                  <a:srgbClr val="475569"/>
                </a:solidFill>
                <a:latin typeface="Aptos" panose="020B0004020202020204" pitchFamily="34" charset="0"/>
                <a:ea typeface="Calibri" pitchFamily="34" charset="-122"/>
                <a:cs typeface="Calibri" pitchFamily="34" charset="-120"/>
              </a:rPr>
              <a:t> </a:t>
            </a:r>
            <a:r>
              <a:rPr lang="en-US" sz="1100" dirty="0" err="1">
                <a:solidFill>
                  <a:srgbClr val="475569"/>
                </a:solidFill>
                <a:latin typeface="Aptos" panose="020B0004020202020204" pitchFamily="34" charset="0"/>
                <a:ea typeface="Calibri" pitchFamily="34" charset="-122"/>
                <a:cs typeface="Calibri" pitchFamily="34" charset="-120"/>
              </a:rPr>
              <a:t>bobot</a:t>
            </a:r>
            <a:r>
              <a:rPr lang="en-US" sz="1100" dirty="0">
                <a:solidFill>
                  <a:srgbClr val="475569"/>
                </a:solidFill>
                <a:latin typeface="Aptos" panose="020B0004020202020204" pitchFamily="34" charset="0"/>
                <a:ea typeface="Calibri" pitchFamily="34" charset="-122"/>
                <a:cs typeface="Calibri" pitchFamily="34" charset="-120"/>
              </a:rPr>
              <a:t> 25% Adalah nol.</a:t>
            </a:r>
            <a:endParaRPr lang="en-US" sz="1300" dirty="0">
              <a:latin typeface="Aptos" panose="020B0004020202020204" pitchFamily="34" charset="0"/>
            </a:endParaRPr>
          </a:p>
        </p:txBody>
      </p:sp>
      <p:sp>
        <p:nvSpPr>
          <p:cNvPr id="24" name="Shape 20"/>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25" name="Text 21"/>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lIns="0" tIns="0" rIns="0" bIns="0" rtlCol="0" anchor="ctr"/>
          <a:lstStyle/>
          <a:p>
            <a:pPr marL="0" indent="0">
              <a:buNone/>
            </a:pPr>
            <a:r>
              <a:rPr lang="en-US" sz="2800" b="1" dirty="0">
                <a:solidFill>
                  <a:srgbClr val="1E293B"/>
                </a:solidFill>
                <a:latin typeface="Aptos" panose="020B0004020202020204" pitchFamily="34" charset="0"/>
                <a:ea typeface="Trebuchet MS" pitchFamily="34" charset="-122"/>
                <a:cs typeface="Trebuchet MS" pitchFamily="34" charset="-120"/>
              </a:rPr>
              <a:t>Ketentuan &amp; Penilaian</a:t>
            </a:r>
            <a:endParaRPr lang="en-US" sz="2800" dirty="0">
              <a:latin typeface="Aptos" panose="020B0004020202020204" pitchFamily="34" charset="0"/>
            </a:endParaRPr>
          </a:p>
        </p:txBody>
      </p:sp>
      <p:sp>
        <p:nvSpPr>
          <p:cNvPr id="3" name="Shape 1"/>
          <p:cNvSpPr/>
          <p:nvPr/>
        </p:nvSpPr>
        <p:spPr>
          <a:xfrm>
            <a:off x="640080" y="1097280"/>
            <a:ext cx="374904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4" name="Text 2"/>
          <p:cNvSpPr/>
          <p:nvPr/>
        </p:nvSpPr>
        <p:spPr>
          <a:xfrm>
            <a:off x="640080" y="1097280"/>
            <a:ext cx="3749040" cy="411480"/>
          </a:xfrm>
          <a:prstGeom prst="rect">
            <a:avLst/>
          </a:prstGeom>
          <a:solidFill>
            <a:srgbClr val="0891B2"/>
          </a:solidFill>
          <a:ln/>
        </p:spPr>
        <p:txBody>
          <a:bodyPr wrap="square" lIns="0" tIns="0" rIns="0" bIns="0" rtlCol="0" anchor="ctr"/>
          <a:lstStyle/>
          <a:p>
            <a:pPr marL="0" indent="0" algn="ctr">
              <a:buNone/>
            </a:pPr>
            <a:r>
              <a:rPr lang="en-US" sz="1300" b="1" dirty="0">
                <a:solidFill>
                  <a:srgbClr val="FFFFFF"/>
                </a:solidFill>
                <a:latin typeface="Aptos" panose="020B0004020202020204" pitchFamily="34" charset="0"/>
                <a:ea typeface="Trebuchet MS" pitchFamily="34" charset="-122"/>
                <a:cs typeface="Trebuchet MS" pitchFamily="34" charset="-120"/>
              </a:rPr>
              <a:t>Ketentuan Tugas</a:t>
            </a:r>
            <a:endParaRPr lang="en-US" sz="1300" dirty="0">
              <a:latin typeface="Aptos" panose="020B0004020202020204" pitchFamily="34" charset="0"/>
            </a:endParaRPr>
          </a:p>
        </p:txBody>
      </p:sp>
      <p:pic>
        <p:nvPicPr>
          <p:cNvPr id="5" name="Image 0" descr="preencoded.png"/>
          <p:cNvPicPr>
            <a:picLocks noChangeAspect="1"/>
          </p:cNvPicPr>
          <p:nvPr/>
        </p:nvPicPr>
        <p:blipFill>
          <a:blip r:embed="rId3"/>
          <a:stretch>
            <a:fillRect/>
          </a:stretch>
        </p:blipFill>
        <p:spPr>
          <a:xfrm>
            <a:off x="914400" y="1709928"/>
            <a:ext cx="182880" cy="182880"/>
          </a:xfrm>
          <a:prstGeom prst="rect">
            <a:avLst/>
          </a:prstGeom>
        </p:spPr>
      </p:pic>
      <p:sp>
        <p:nvSpPr>
          <p:cNvPr id="6" name="Text 3"/>
          <p:cNvSpPr/>
          <p:nvPr/>
        </p:nvSpPr>
        <p:spPr>
          <a:xfrm>
            <a:off x="1234440" y="169164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Kursus harus bertema Big Data Analytics tingkat basic</a:t>
            </a:r>
            <a:endParaRPr lang="en-US" sz="1100" dirty="0">
              <a:latin typeface="Aptos" panose="020B0004020202020204" pitchFamily="34" charset="0"/>
            </a:endParaRPr>
          </a:p>
        </p:txBody>
      </p:sp>
      <p:pic>
        <p:nvPicPr>
          <p:cNvPr id="7" name="Image 1" descr="preencoded.png"/>
          <p:cNvPicPr>
            <a:picLocks noChangeAspect="1"/>
          </p:cNvPicPr>
          <p:nvPr/>
        </p:nvPicPr>
        <p:blipFill>
          <a:blip r:embed="rId3"/>
          <a:stretch>
            <a:fillRect/>
          </a:stretch>
        </p:blipFill>
        <p:spPr>
          <a:xfrm>
            <a:off x="914400" y="2121408"/>
            <a:ext cx="182880" cy="182880"/>
          </a:xfrm>
          <a:prstGeom prst="rect">
            <a:avLst/>
          </a:prstGeom>
        </p:spPr>
      </p:pic>
      <p:sp>
        <p:nvSpPr>
          <p:cNvPr id="8" name="Text 4"/>
          <p:cNvSpPr/>
          <p:nvPr/>
        </p:nvSpPr>
        <p:spPr>
          <a:xfrm>
            <a:off x="1234440" y="210312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Sertifikat harus mencantumkan nama lengkap mahasiswa</a:t>
            </a:r>
            <a:endParaRPr lang="en-US" sz="1100" dirty="0">
              <a:latin typeface="Aptos" panose="020B0004020202020204" pitchFamily="34" charset="0"/>
            </a:endParaRPr>
          </a:p>
        </p:txBody>
      </p:sp>
      <p:pic>
        <p:nvPicPr>
          <p:cNvPr id="9" name="Image 2" descr="preencoded.png"/>
          <p:cNvPicPr>
            <a:picLocks noChangeAspect="1"/>
          </p:cNvPicPr>
          <p:nvPr/>
        </p:nvPicPr>
        <p:blipFill>
          <a:blip r:embed="rId3"/>
          <a:stretch>
            <a:fillRect/>
          </a:stretch>
        </p:blipFill>
        <p:spPr>
          <a:xfrm>
            <a:off x="914400" y="2532888"/>
            <a:ext cx="182880" cy="182880"/>
          </a:xfrm>
          <a:prstGeom prst="rect">
            <a:avLst/>
          </a:prstGeom>
        </p:spPr>
      </p:pic>
      <p:sp>
        <p:nvSpPr>
          <p:cNvPr id="10" name="Text 5"/>
          <p:cNvSpPr/>
          <p:nvPr/>
        </p:nvSpPr>
        <p:spPr>
          <a:xfrm>
            <a:off x="1234440" y="251460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Format file: PDF (bukan screenshot)</a:t>
            </a:r>
            <a:endParaRPr lang="en-US" sz="1100" dirty="0">
              <a:latin typeface="Aptos" panose="020B0004020202020204" pitchFamily="34" charset="0"/>
            </a:endParaRPr>
          </a:p>
        </p:txBody>
      </p:sp>
      <p:pic>
        <p:nvPicPr>
          <p:cNvPr id="11" name="Image 3" descr="preencoded.png"/>
          <p:cNvPicPr>
            <a:picLocks noChangeAspect="1"/>
          </p:cNvPicPr>
          <p:nvPr/>
        </p:nvPicPr>
        <p:blipFill>
          <a:blip r:embed="rId3"/>
          <a:stretch>
            <a:fillRect/>
          </a:stretch>
        </p:blipFill>
        <p:spPr>
          <a:xfrm>
            <a:off x="914400" y="2944368"/>
            <a:ext cx="182880" cy="182880"/>
          </a:xfrm>
          <a:prstGeom prst="rect">
            <a:avLst/>
          </a:prstGeom>
        </p:spPr>
      </p:pic>
      <p:sp>
        <p:nvSpPr>
          <p:cNvPr id="12" name="Text 6"/>
          <p:cNvSpPr/>
          <p:nvPr/>
        </p:nvSpPr>
        <p:spPr>
          <a:xfrm>
            <a:off x="1234440" y="292608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Nama file sesuai format yang ditentukan</a:t>
            </a:r>
            <a:endParaRPr lang="en-US" sz="1100" dirty="0">
              <a:latin typeface="Aptos" panose="020B0004020202020204" pitchFamily="34" charset="0"/>
            </a:endParaRPr>
          </a:p>
        </p:txBody>
      </p:sp>
      <p:pic>
        <p:nvPicPr>
          <p:cNvPr id="13" name="Image 4" descr="preencoded.png"/>
          <p:cNvPicPr>
            <a:picLocks noChangeAspect="1"/>
          </p:cNvPicPr>
          <p:nvPr/>
        </p:nvPicPr>
        <p:blipFill>
          <a:blip r:embed="rId3"/>
          <a:stretch>
            <a:fillRect/>
          </a:stretch>
        </p:blipFill>
        <p:spPr>
          <a:xfrm>
            <a:off x="914400" y="3355848"/>
            <a:ext cx="182880" cy="182880"/>
          </a:xfrm>
          <a:prstGeom prst="rect">
            <a:avLst/>
          </a:prstGeom>
        </p:spPr>
      </p:pic>
      <p:sp>
        <p:nvSpPr>
          <p:cNvPr id="14" name="Text 7"/>
          <p:cNvSpPr/>
          <p:nvPr/>
        </p:nvSpPr>
        <p:spPr>
          <a:xfrm>
            <a:off x="1234440" y="333756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Satu mahasiswa = satu sertifikat individual</a:t>
            </a:r>
            <a:endParaRPr lang="en-US" sz="1100" dirty="0">
              <a:latin typeface="Aptos" panose="020B0004020202020204" pitchFamily="34" charset="0"/>
            </a:endParaRPr>
          </a:p>
        </p:txBody>
      </p:sp>
      <p:pic>
        <p:nvPicPr>
          <p:cNvPr id="15" name="Image 5" descr="preencoded.png"/>
          <p:cNvPicPr>
            <a:picLocks noChangeAspect="1"/>
          </p:cNvPicPr>
          <p:nvPr/>
        </p:nvPicPr>
        <p:blipFill>
          <a:blip r:embed="rId3"/>
          <a:stretch>
            <a:fillRect/>
          </a:stretch>
        </p:blipFill>
        <p:spPr>
          <a:xfrm>
            <a:off x="914400" y="3767328"/>
            <a:ext cx="182880" cy="182880"/>
          </a:xfrm>
          <a:prstGeom prst="rect">
            <a:avLst/>
          </a:prstGeom>
        </p:spPr>
      </p:pic>
      <p:sp>
        <p:nvSpPr>
          <p:cNvPr id="16" name="Text 8"/>
          <p:cNvSpPr/>
          <p:nvPr/>
        </p:nvSpPr>
        <p:spPr>
          <a:xfrm>
            <a:off x="1234440" y="3749040"/>
            <a:ext cx="2926080" cy="320040"/>
          </a:xfrm>
          <a:prstGeom prst="rect">
            <a:avLst/>
          </a:prstGeom>
          <a:noFill/>
          <a:ln/>
        </p:spPr>
        <p:txBody>
          <a:bodyPr wrap="square" lIns="0" tIns="0" rIns="0" bIns="0" rtlCol="0" anchor="ctr"/>
          <a:lstStyle/>
          <a:p>
            <a:pPr marL="0" indent="0">
              <a:buNone/>
            </a:pPr>
            <a:r>
              <a:rPr lang="en-US" sz="1100" dirty="0">
                <a:solidFill>
                  <a:srgbClr val="475569"/>
                </a:solidFill>
                <a:latin typeface="Aptos" panose="020B0004020202020204" pitchFamily="34" charset="0"/>
                <a:ea typeface="Calibri" pitchFamily="34" charset="-122"/>
                <a:cs typeface="Calibri" pitchFamily="34" charset="-120"/>
              </a:rPr>
              <a:t>Plagiarisme sertifikat = nilai 0</a:t>
            </a:r>
            <a:endParaRPr lang="en-US" sz="1100" dirty="0">
              <a:latin typeface="Aptos" panose="020B0004020202020204" pitchFamily="34" charset="0"/>
            </a:endParaRPr>
          </a:p>
        </p:txBody>
      </p:sp>
      <p:sp>
        <p:nvSpPr>
          <p:cNvPr id="17" name="Shape 9"/>
          <p:cNvSpPr/>
          <p:nvPr/>
        </p:nvSpPr>
        <p:spPr>
          <a:xfrm>
            <a:off x="4754880" y="1097280"/>
            <a:ext cx="3749040" cy="32004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D">
              <a:latin typeface="Aptos" panose="020B0004020202020204" pitchFamily="34" charset="0"/>
            </a:endParaRPr>
          </a:p>
        </p:txBody>
      </p:sp>
      <p:sp>
        <p:nvSpPr>
          <p:cNvPr id="18" name="Text 10"/>
          <p:cNvSpPr/>
          <p:nvPr/>
        </p:nvSpPr>
        <p:spPr>
          <a:xfrm>
            <a:off x="4754880" y="1097280"/>
            <a:ext cx="3749040" cy="411480"/>
          </a:xfrm>
          <a:prstGeom prst="rect">
            <a:avLst/>
          </a:prstGeom>
          <a:solidFill>
            <a:srgbClr val="16213E"/>
          </a:solidFill>
          <a:ln/>
        </p:spPr>
        <p:txBody>
          <a:bodyPr wrap="square" lIns="0" tIns="0" rIns="0" bIns="0" rtlCol="0" anchor="ctr"/>
          <a:lstStyle/>
          <a:p>
            <a:pPr marL="0" indent="0" algn="ctr">
              <a:buNone/>
            </a:pPr>
            <a:r>
              <a:rPr lang="en-US" sz="1300" b="1" dirty="0">
                <a:solidFill>
                  <a:srgbClr val="FFFFFF"/>
                </a:solidFill>
                <a:latin typeface="Aptos" panose="020B0004020202020204" pitchFamily="34" charset="0"/>
                <a:ea typeface="Trebuchet MS" pitchFamily="34" charset="-122"/>
                <a:cs typeface="Trebuchet MS" pitchFamily="34" charset="-120"/>
              </a:rPr>
              <a:t>Komponen Penilaian</a:t>
            </a:r>
            <a:endParaRPr lang="en-US" sz="1300" dirty="0">
              <a:latin typeface="Aptos" panose="020B0004020202020204" pitchFamily="34" charset="0"/>
            </a:endParaRPr>
          </a:p>
        </p:txBody>
      </p:sp>
      <p:sp>
        <p:nvSpPr>
          <p:cNvPr id="19" name="Shape 11"/>
          <p:cNvSpPr/>
          <p:nvPr/>
        </p:nvSpPr>
        <p:spPr>
          <a:xfrm>
            <a:off x="4983480" y="1691640"/>
            <a:ext cx="3291840" cy="502920"/>
          </a:xfrm>
          <a:prstGeom prst="rect">
            <a:avLst/>
          </a:prstGeom>
          <a:solidFill>
            <a:srgbClr val="F7F8FA"/>
          </a:solidFill>
          <a:ln/>
        </p:spPr>
        <p:txBody>
          <a:bodyPr/>
          <a:lstStyle/>
          <a:p>
            <a:endParaRPr lang="en-ID">
              <a:latin typeface="Aptos" panose="020B0004020202020204" pitchFamily="34" charset="0"/>
            </a:endParaRPr>
          </a:p>
        </p:txBody>
      </p:sp>
      <p:sp>
        <p:nvSpPr>
          <p:cNvPr id="20" name="Text 12"/>
          <p:cNvSpPr/>
          <p:nvPr/>
        </p:nvSpPr>
        <p:spPr>
          <a:xfrm>
            <a:off x="5120640" y="1709928"/>
            <a:ext cx="3017520" cy="22860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Calibri" pitchFamily="34" charset="-122"/>
                <a:cs typeface="Calibri" pitchFamily="34" charset="-120"/>
              </a:rPr>
              <a:t>Kelengkapan Sertifikat</a:t>
            </a:r>
            <a:endParaRPr lang="en-US" sz="1200" dirty="0">
              <a:latin typeface="Aptos" panose="020B0004020202020204" pitchFamily="34" charset="0"/>
            </a:endParaRPr>
          </a:p>
        </p:txBody>
      </p:sp>
      <p:sp>
        <p:nvSpPr>
          <p:cNvPr id="21" name="Text 13"/>
          <p:cNvSpPr/>
          <p:nvPr/>
        </p:nvSpPr>
        <p:spPr>
          <a:xfrm>
            <a:off x="5120640" y="1938528"/>
            <a:ext cx="3017520" cy="201168"/>
          </a:xfrm>
          <a:prstGeom prst="rect">
            <a:avLst/>
          </a:prstGeom>
          <a:noFill/>
          <a:ln/>
        </p:spPr>
        <p:txBody>
          <a:bodyPr wrap="square" lIns="0" tIns="0" rIns="0" bIns="0" rtlCol="0" anchor="ctr"/>
          <a:lstStyle/>
          <a:p>
            <a:pPr marL="0" indent="0">
              <a:buNone/>
            </a:pPr>
            <a:r>
              <a:rPr lang="en-US" sz="1000" dirty="0">
                <a:solidFill>
                  <a:srgbClr val="94A3B8"/>
                </a:solidFill>
                <a:latin typeface="Aptos" panose="020B0004020202020204" pitchFamily="34" charset="0"/>
                <a:ea typeface="Calibri" pitchFamily="34" charset="-122"/>
                <a:cs typeface="Calibri" pitchFamily="34" charset="-120"/>
              </a:rPr>
              <a:t>Nama, tanggal, nama kursus tercantum</a:t>
            </a:r>
            <a:endParaRPr lang="en-US" sz="1000" dirty="0">
              <a:latin typeface="Aptos" panose="020B0004020202020204" pitchFamily="34" charset="0"/>
            </a:endParaRPr>
          </a:p>
        </p:txBody>
      </p:sp>
      <p:sp>
        <p:nvSpPr>
          <p:cNvPr id="22" name="Shape 14"/>
          <p:cNvSpPr/>
          <p:nvPr/>
        </p:nvSpPr>
        <p:spPr>
          <a:xfrm>
            <a:off x="4983480" y="2286000"/>
            <a:ext cx="3291840" cy="502920"/>
          </a:xfrm>
          <a:prstGeom prst="rect">
            <a:avLst/>
          </a:prstGeom>
          <a:solidFill>
            <a:srgbClr val="F7F8FA"/>
          </a:solidFill>
          <a:ln/>
        </p:spPr>
        <p:txBody>
          <a:bodyPr/>
          <a:lstStyle/>
          <a:p>
            <a:endParaRPr lang="en-ID">
              <a:latin typeface="Aptos" panose="020B0004020202020204" pitchFamily="34" charset="0"/>
            </a:endParaRPr>
          </a:p>
        </p:txBody>
      </p:sp>
      <p:sp>
        <p:nvSpPr>
          <p:cNvPr id="23" name="Text 15"/>
          <p:cNvSpPr/>
          <p:nvPr/>
        </p:nvSpPr>
        <p:spPr>
          <a:xfrm>
            <a:off x="5120640" y="2304288"/>
            <a:ext cx="3017520" cy="22860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Calibri" pitchFamily="34" charset="-122"/>
                <a:cs typeface="Calibri" pitchFamily="34" charset="-120"/>
              </a:rPr>
              <a:t>Kesesuaian Tema</a:t>
            </a:r>
            <a:endParaRPr lang="en-US" sz="1200" dirty="0">
              <a:latin typeface="Aptos" panose="020B0004020202020204" pitchFamily="34" charset="0"/>
            </a:endParaRPr>
          </a:p>
        </p:txBody>
      </p:sp>
      <p:sp>
        <p:nvSpPr>
          <p:cNvPr id="24" name="Text 16"/>
          <p:cNvSpPr/>
          <p:nvPr/>
        </p:nvSpPr>
        <p:spPr>
          <a:xfrm>
            <a:off x="5120640" y="2532888"/>
            <a:ext cx="3017520" cy="201168"/>
          </a:xfrm>
          <a:prstGeom prst="rect">
            <a:avLst/>
          </a:prstGeom>
          <a:noFill/>
          <a:ln/>
        </p:spPr>
        <p:txBody>
          <a:bodyPr wrap="square" lIns="0" tIns="0" rIns="0" bIns="0" rtlCol="0" anchor="ctr"/>
          <a:lstStyle/>
          <a:p>
            <a:pPr marL="0" indent="0">
              <a:buNone/>
            </a:pPr>
            <a:r>
              <a:rPr lang="en-US" sz="1000" dirty="0">
                <a:solidFill>
                  <a:srgbClr val="94A3B8"/>
                </a:solidFill>
                <a:latin typeface="Aptos" panose="020B0004020202020204" pitchFamily="34" charset="0"/>
                <a:ea typeface="Calibri" pitchFamily="34" charset="-122"/>
                <a:cs typeface="Calibri" pitchFamily="34" charset="-120"/>
              </a:rPr>
              <a:t>Big Data Analytics level basic</a:t>
            </a:r>
            <a:endParaRPr lang="en-US" sz="1000" dirty="0">
              <a:latin typeface="Aptos" panose="020B0004020202020204" pitchFamily="34" charset="0"/>
            </a:endParaRPr>
          </a:p>
        </p:txBody>
      </p:sp>
      <p:sp>
        <p:nvSpPr>
          <p:cNvPr id="25" name="Shape 17"/>
          <p:cNvSpPr/>
          <p:nvPr/>
        </p:nvSpPr>
        <p:spPr>
          <a:xfrm>
            <a:off x="4983480" y="2880360"/>
            <a:ext cx="3291840" cy="502920"/>
          </a:xfrm>
          <a:prstGeom prst="rect">
            <a:avLst/>
          </a:prstGeom>
          <a:solidFill>
            <a:srgbClr val="F7F8FA"/>
          </a:solidFill>
          <a:ln/>
        </p:spPr>
        <p:txBody>
          <a:bodyPr/>
          <a:lstStyle/>
          <a:p>
            <a:endParaRPr lang="en-ID">
              <a:latin typeface="Aptos" panose="020B0004020202020204" pitchFamily="34" charset="0"/>
            </a:endParaRPr>
          </a:p>
        </p:txBody>
      </p:sp>
      <p:sp>
        <p:nvSpPr>
          <p:cNvPr id="26" name="Text 18"/>
          <p:cNvSpPr/>
          <p:nvPr/>
        </p:nvSpPr>
        <p:spPr>
          <a:xfrm>
            <a:off x="5120640" y="2898648"/>
            <a:ext cx="3017520" cy="22860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Calibri" pitchFamily="34" charset="-122"/>
                <a:cs typeface="Calibri" pitchFamily="34" charset="-120"/>
              </a:rPr>
              <a:t>Ketepatan Waktu</a:t>
            </a:r>
            <a:endParaRPr lang="en-US" sz="1200" dirty="0">
              <a:latin typeface="Aptos" panose="020B0004020202020204" pitchFamily="34" charset="0"/>
            </a:endParaRPr>
          </a:p>
        </p:txBody>
      </p:sp>
      <p:sp>
        <p:nvSpPr>
          <p:cNvPr id="27" name="Text 19"/>
          <p:cNvSpPr/>
          <p:nvPr/>
        </p:nvSpPr>
        <p:spPr>
          <a:xfrm>
            <a:off x="5120640" y="3127248"/>
            <a:ext cx="3017520" cy="201168"/>
          </a:xfrm>
          <a:prstGeom prst="rect">
            <a:avLst/>
          </a:prstGeom>
          <a:noFill/>
          <a:ln/>
        </p:spPr>
        <p:txBody>
          <a:bodyPr wrap="square" lIns="0" tIns="0" rIns="0" bIns="0" rtlCol="0" anchor="ctr"/>
          <a:lstStyle/>
          <a:p>
            <a:pPr marL="0" indent="0">
              <a:buNone/>
            </a:pPr>
            <a:r>
              <a:rPr lang="en-US" sz="1000" dirty="0">
                <a:solidFill>
                  <a:srgbClr val="94A3B8"/>
                </a:solidFill>
                <a:latin typeface="Aptos" panose="020B0004020202020204" pitchFamily="34" charset="0"/>
                <a:ea typeface="Calibri" pitchFamily="34" charset="-122"/>
                <a:cs typeface="Calibri" pitchFamily="34" charset="-120"/>
              </a:rPr>
              <a:t>Upload sebelum Pertemuan 15</a:t>
            </a:r>
            <a:endParaRPr lang="en-US" sz="1000" dirty="0">
              <a:latin typeface="Aptos" panose="020B0004020202020204" pitchFamily="34" charset="0"/>
            </a:endParaRPr>
          </a:p>
        </p:txBody>
      </p:sp>
      <p:sp>
        <p:nvSpPr>
          <p:cNvPr id="28" name="Shape 20"/>
          <p:cNvSpPr/>
          <p:nvPr/>
        </p:nvSpPr>
        <p:spPr>
          <a:xfrm>
            <a:off x="4983480" y="3474720"/>
            <a:ext cx="3291840" cy="502920"/>
          </a:xfrm>
          <a:prstGeom prst="rect">
            <a:avLst/>
          </a:prstGeom>
          <a:solidFill>
            <a:srgbClr val="F7F8FA"/>
          </a:solidFill>
          <a:ln/>
        </p:spPr>
        <p:txBody>
          <a:bodyPr/>
          <a:lstStyle/>
          <a:p>
            <a:endParaRPr lang="en-ID">
              <a:latin typeface="Aptos" panose="020B0004020202020204" pitchFamily="34" charset="0"/>
            </a:endParaRPr>
          </a:p>
        </p:txBody>
      </p:sp>
      <p:sp>
        <p:nvSpPr>
          <p:cNvPr id="29" name="Text 21"/>
          <p:cNvSpPr/>
          <p:nvPr/>
        </p:nvSpPr>
        <p:spPr>
          <a:xfrm>
            <a:off x="5120640" y="3493008"/>
            <a:ext cx="3017520" cy="228600"/>
          </a:xfrm>
          <a:prstGeom prst="rect">
            <a:avLst/>
          </a:prstGeom>
          <a:noFill/>
          <a:ln/>
        </p:spPr>
        <p:txBody>
          <a:bodyPr wrap="square" lIns="0" tIns="0" rIns="0" bIns="0" rtlCol="0" anchor="ctr"/>
          <a:lstStyle/>
          <a:p>
            <a:pPr marL="0" indent="0">
              <a:buNone/>
            </a:pPr>
            <a:r>
              <a:rPr lang="en-US" sz="1200" b="1" dirty="0">
                <a:solidFill>
                  <a:srgbClr val="1E293B"/>
                </a:solidFill>
                <a:latin typeface="Aptos" panose="020B0004020202020204" pitchFamily="34" charset="0"/>
                <a:ea typeface="Calibri" pitchFamily="34" charset="-122"/>
                <a:cs typeface="Calibri" pitchFamily="34" charset="-120"/>
              </a:rPr>
              <a:t>Format &amp; Penamaan</a:t>
            </a:r>
            <a:endParaRPr lang="en-US" sz="1200" dirty="0">
              <a:latin typeface="Aptos" panose="020B0004020202020204" pitchFamily="34" charset="0"/>
            </a:endParaRPr>
          </a:p>
        </p:txBody>
      </p:sp>
      <p:sp>
        <p:nvSpPr>
          <p:cNvPr id="30" name="Text 22"/>
          <p:cNvSpPr/>
          <p:nvPr/>
        </p:nvSpPr>
        <p:spPr>
          <a:xfrm>
            <a:off x="5120640" y="3721608"/>
            <a:ext cx="3017520" cy="201168"/>
          </a:xfrm>
          <a:prstGeom prst="rect">
            <a:avLst/>
          </a:prstGeom>
          <a:noFill/>
          <a:ln/>
        </p:spPr>
        <p:txBody>
          <a:bodyPr wrap="square" lIns="0" tIns="0" rIns="0" bIns="0" rtlCol="0" anchor="ctr"/>
          <a:lstStyle/>
          <a:p>
            <a:pPr marL="0" indent="0">
              <a:buNone/>
            </a:pPr>
            <a:r>
              <a:rPr lang="en-US" sz="1000" dirty="0">
                <a:solidFill>
                  <a:srgbClr val="94A3B8"/>
                </a:solidFill>
                <a:latin typeface="Aptos" panose="020B0004020202020204" pitchFamily="34" charset="0"/>
                <a:ea typeface="Calibri" pitchFamily="34" charset="-122"/>
                <a:cs typeface="Calibri" pitchFamily="34" charset="-120"/>
              </a:rPr>
              <a:t>File PDF, nama file sesuai aturan</a:t>
            </a:r>
            <a:endParaRPr lang="en-US" sz="1000" dirty="0">
              <a:latin typeface="Aptos" panose="020B0004020202020204" pitchFamily="34" charset="0"/>
            </a:endParaRPr>
          </a:p>
        </p:txBody>
      </p:sp>
      <p:sp>
        <p:nvSpPr>
          <p:cNvPr id="31" name="Shape 23"/>
          <p:cNvSpPr/>
          <p:nvPr/>
        </p:nvSpPr>
        <p:spPr>
          <a:xfrm>
            <a:off x="0" y="4709160"/>
            <a:ext cx="9144000" cy="434340"/>
          </a:xfrm>
          <a:prstGeom prst="rect">
            <a:avLst/>
          </a:prstGeom>
          <a:solidFill>
            <a:srgbClr val="1A1A2E"/>
          </a:solidFill>
          <a:ln/>
        </p:spPr>
        <p:txBody>
          <a:bodyPr/>
          <a:lstStyle/>
          <a:p>
            <a:endParaRPr lang="en-ID">
              <a:latin typeface="Aptos" panose="020B0004020202020204" pitchFamily="34" charset="0"/>
            </a:endParaRPr>
          </a:p>
        </p:txBody>
      </p:sp>
      <p:sp>
        <p:nvSpPr>
          <p:cNvPr id="32" name="Text 24"/>
          <p:cNvSpPr/>
          <p:nvPr/>
        </p:nvSpPr>
        <p:spPr>
          <a:xfrm>
            <a:off x="457200" y="4709160"/>
            <a:ext cx="8229600" cy="434340"/>
          </a:xfrm>
          <a:prstGeom prst="rect">
            <a:avLst/>
          </a:prstGeom>
          <a:noFill/>
          <a:ln/>
        </p:spPr>
        <p:txBody>
          <a:bodyPr wrap="square" rtlCol="0" anchor="ctr"/>
          <a:lstStyle/>
          <a:p>
            <a:pPr marL="0" indent="0">
              <a:buNone/>
            </a:pPr>
            <a:r>
              <a:rPr lang="en-US" sz="900" dirty="0">
                <a:solidFill>
                  <a:srgbClr val="94A3B8"/>
                </a:solidFill>
                <a:latin typeface="Aptos" panose="020B0004020202020204" pitchFamily="34" charset="0"/>
                <a:ea typeface="Calibri" pitchFamily="34" charset="-122"/>
                <a:cs typeface="Calibri" pitchFamily="34" charset="-120"/>
              </a:rPr>
              <a:t>Tugas Mandiri — Kursus Online Big Data Analytics</a:t>
            </a:r>
            <a:endParaRPr lang="en-US" sz="900" dirty="0">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112734" y="-490394"/>
            <a:ext cx="9144000" cy="54864"/>
          </a:xfrm>
          <a:prstGeom prst="rect">
            <a:avLst/>
          </a:prstGeom>
          <a:solidFill>
            <a:srgbClr val="0891B2"/>
          </a:solidFill>
          <a:ln/>
        </p:spPr>
        <p:txBody>
          <a:bodyPr/>
          <a:lstStyle/>
          <a:p>
            <a:endParaRPr lang="en-ID">
              <a:latin typeface="Aptos" panose="020B0004020202020204" pitchFamily="34" charset="0"/>
            </a:endParaRPr>
          </a:p>
        </p:txBody>
      </p:sp>
      <p:sp>
        <p:nvSpPr>
          <p:cNvPr id="4" name="Text 1"/>
          <p:cNvSpPr/>
          <p:nvPr/>
        </p:nvSpPr>
        <p:spPr>
          <a:xfrm>
            <a:off x="569934" y="1338406"/>
            <a:ext cx="8229600"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Aptos" panose="020B0004020202020204" pitchFamily="34" charset="0"/>
                <a:ea typeface="Trebuchet MS" pitchFamily="34" charset="-122"/>
                <a:cs typeface="Trebuchet MS" pitchFamily="34" charset="-120"/>
              </a:rPr>
              <a:t>Selamat Mengerjakan!</a:t>
            </a:r>
            <a:endParaRPr lang="en-US" sz="3000" dirty="0">
              <a:latin typeface="Aptos" panose="020B0004020202020204" pitchFamily="34" charset="0"/>
            </a:endParaRPr>
          </a:p>
        </p:txBody>
      </p:sp>
      <p:sp>
        <p:nvSpPr>
          <p:cNvPr id="5" name="Shape 2"/>
          <p:cNvSpPr/>
          <p:nvPr/>
        </p:nvSpPr>
        <p:spPr>
          <a:xfrm>
            <a:off x="3770334" y="2069926"/>
            <a:ext cx="1828800" cy="27432"/>
          </a:xfrm>
          <a:prstGeom prst="rect">
            <a:avLst/>
          </a:prstGeom>
          <a:solidFill>
            <a:srgbClr val="0891B2"/>
          </a:solidFill>
          <a:ln/>
        </p:spPr>
        <p:txBody>
          <a:bodyPr/>
          <a:lstStyle/>
          <a:p>
            <a:endParaRPr lang="en-ID">
              <a:latin typeface="Aptos" panose="020B0004020202020204" pitchFamily="34" charset="0"/>
            </a:endParaRPr>
          </a:p>
        </p:txBody>
      </p:sp>
      <p:sp>
        <p:nvSpPr>
          <p:cNvPr id="6" name="Text 3"/>
          <p:cNvSpPr/>
          <p:nvPr/>
        </p:nvSpPr>
        <p:spPr>
          <a:xfrm>
            <a:off x="1484334" y="2298526"/>
            <a:ext cx="6400800" cy="731520"/>
          </a:xfrm>
          <a:prstGeom prst="rect">
            <a:avLst/>
          </a:prstGeom>
          <a:noFill/>
          <a:ln/>
        </p:spPr>
        <p:txBody>
          <a:bodyPr wrap="square" lIns="0" tIns="0" rIns="0" bIns="0" rtlCol="0" anchor="ctr"/>
          <a:lstStyle/>
          <a:p>
            <a:pPr marL="0" indent="0" algn="ctr">
              <a:lnSpc>
                <a:spcPct val="150000"/>
              </a:lnSpc>
              <a:buNone/>
            </a:pPr>
            <a:r>
              <a:rPr lang="en-US" sz="1300" dirty="0">
                <a:solidFill>
                  <a:srgbClr val="94A3B8"/>
                </a:solidFill>
                <a:latin typeface="Aptos" panose="020B0004020202020204" pitchFamily="34" charset="0"/>
                <a:ea typeface="Calibri" pitchFamily="34" charset="-122"/>
                <a:cs typeface="Calibri" pitchFamily="34" charset="-120"/>
              </a:rPr>
              <a:t>Kerjakan dengan serius, karena kursus ini tidak hanya untuk memenuhi tugas, tetapi juga untuk menambah kompetensi Anda di bidang Big Data Analytics.</a:t>
            </a:r>
            <a:endParaRPr lang="en-US" sz="1300" dirty="0">
              <a:latin typeface="Aptos" panose="020B0004020202020204" pitchFamily="34" charset="0"/>
            </a:endParaRPr>
          </a:p>
        </p:txBody>
      </p:sp>
      <p:sp>
        <p:nvSpPr>
          <p:cNvPr id="7" name="Shape 4"/>
          <p:cNvSpPr/>
          <p:nvPr/>
        </p:nvSpPr>
        <p:spPr>
          <a:xfrm>
            <a:off x="2398734" y="3258646"/>
            <a:ext cx="4572000" cy="640080"/>
          </a:xfrm>
          <a:prstGeom prst="rect">
            <a:avLst/>
          </a:prstGeom>
          <a:solidFill>
            <a:srgbClr val="16213E"/>
          </a:solidFill>
          <a:ln/>
        </p:spPr>
        <p:txBody>
          <a:bodyPr/>
          <a:lstStyle/>
          <a:p>
            <a:endParaRPr lang="en-ID">
              <a:latin typeface="Aptos" panose="020B0004020202020204" pitchFamily="34" charset="0"/>
            </a:endParaRPr>
          </a:p>
        </p:txBody>
      </p:sp>
      <p:pic>
        <p:nvPicPr>
          <p:cNvPr id="8" name="Image 1" descr="preencoded.png"/>
          <p:cNvPicPr>
            <a:picLocks noChangeAspect="1"/>
          </p:cNvPicPr>
          <p:nvPr/>
        </p:nvPicPr>
        <p:blipFill>
          <a:blip r:embed="rId3"/>
          <a:stretch>
            <a:fillRect/>
          </a:stretch>
        </p:blipFill>
        <p:spPr>
          <a:xfrm>
            <a:off x="2673054" y="3395806"/>
            <a:ext cx="274320" cy="274320"/>
          </a:xfrm>
          <a:prstGeom prst="rect">
            <a:avLst/>
          </a:prstGeom>
        </p:spPr>
      </p:pic>
      <p:sp>
        <p:nvSpPr>
          <p:cNvPr id="9" name="Text 5"/>
          <p:cNvSpPr/>
          <p:nvPr/>
        </p:nvSpPr>
        <p:spPr>
          <a:xfrm>
            <a:off x="3038814" y="3258646"/>
            <a:ext cx="3749040" cy="640080"/>
          </a:xfrm>
          <a:prstGeom prst="rect">
            <a:avLst/>
          </a:prstGeom>
          <a:noFill/>
          <a:ln/>
        </p:spPr>
        <p:txBody>
          <a:bodyPr wrap="square" lIns="0" tIns="0" rIns="0" bIns="0" rtlCol="0" anchor="ctr"/>
          <a:lstStyle/>
          <a:p>
            <a:pPr marL="0" indent="0">
              <a:buNone/>
            </a:pPr>
            <a:r>
              <a:rPr lang="en-US" sz="1100" b="1" dirty="0">
                <a:solidFill>
                  <a:srgbClr val="FFFFFF"/>
                </a:solidFill>
                <a:latin typeface="Aptos" panose="020B0004020202020204" pitchFamily="34" charset="0"/>
                <a:ea typeface="Calibri" pitchFamily="34" charset="-122"/>
                <a:cs typeface="Calibri" pitchFamily="34" charset="-120"/>
              </a:rPr>
              <a:t>Pertanyaan? </a:t>
            </a:r>
            <a:r>
              <a:rPr lang="en-US" sz="1100" dirty="0">
                <a:solidFill>
                  <a:srgbClr val="94A3B8"/>
                </a:solidFill>
                <a:latin typeface="Aptos" panose="020B0004020202020204" pitchFamily="34" charset="0"/>
                <a:ea typeface="Calibri" pitchFamily="34" charset="-122"/>
                <a:cs typeface="Calibri" pitchFamily="34" charset="-120"/>
              </a:rPr>
              <a:t>Hubungi dosen pengampu melalui LMS </a:t>
            </a:r>
            <a:r>
              <a:rPr lang="en-US" sz="1100" dirty="0" err="1">
                <a:solidFill>
                  <a:srgbClr val="94A3B8"/>
                </a:solidFill>
                <a:latin typeface="Aptos" panose="020B0004020202020204" pitchFamily="34" charset="0"/>
                <a:ea typeface="Calibri" pitchFamily="34" charset="-122"/>
                <a:cs typeface="Calibri" pitchFamily="34" charset="-120"/>
              </a:rPr>
              <a:t>atau</a:t>
            </a:r>
            <a:r>
              <a:rPr lang="en-US" sz="1100" dirty="0">
                <a:solidFill>
                  <a:srgbClr val="94A3B8"/>
                </a:solidFill>
                <a:latin typeface="Aptos" panose="020B0004020202020204" pitchFamily="34" charset="0"/>
                <a:ea typeface="Calibri" pitchFamily="34" charset="-122"/>
                <a:cs typeface="Calibri" pitchFamily="34" charset="-120"/>
              </a:rPr>
              <a:t> </a:t>
            </a:r>
            <a:r>
              <a:rPr lang="en-US" sz="1100" dirty="0" err="1">
                <a:solidFill>
                  <a:srgbClr val="94A3B8"/>
                </a:solidFill>
                <a:latin typeface="Aptos" panose="020B0004020202020204" pitchFamily="34" charset="0"/>
                <a:ea typeface="Calibri" pitchFamily="34" charset="-122"/>
                <a:cs typeface="Calibri" pitchFamily="34" charset="-120"/>
              </a:rPr>
              <a:t>grup</a:t>
            </a:r>
            <a:r>
              <a:rPr lang="en-US" sz="1100" dirty="0">
                <a:solidFill>
                  <a:srgbClr val="94A3B8"/>
                </a:solidFill>
                <a:latin typeface="Aptos" panose="020B0004020202020204" pitchFamily="34" charset="0"/>
                <a:ea typeface="Calibri" pitchFamily="34" charset="-122"/>
                <a:cs typeface="Calibri" pitchFamily="34" charset="-120"/>
              </a:rPr>
              <a:t> WA  kelas</a:t>
            </a:r>
            <a:endParaRPr lang="en-US" sz="1100" dirty="0">
              <a:latin typeface="Aptos" panose="020B00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774</Words>
  <Application>Microsoft Office PowerPoint</Application>
  <PresentationFormat>On-screen Show (16:9)</PresentationFormat>
  <Paragraphs>134</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Tugas Kursus Online - Big Data Analytics</dc:title>
  <dc:subject>PptxGenJS Presentation</dc:subject>
  <dc:creator>Donny</dc:creator>
  <cp:lastModifiedBy>Donny Maha Putra</cp:lastModifiedBy>
  <cp:revision>3</cp:revision>
  <dcterms:created xsi:type="dcterms:W3CDTF">2026-04-03T22:28:20Z</dcterms:created>
  <dcterms:modified xsi:type="dcterms:W3CDTF">2026-04-03T23:57:59Z</dcterms:modified>
</cp:coreProperties>
</file>