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8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8.0399999999999991</c:v>
                </c:pt>
                <c:pt idx="1">
                  <c:v>6.95</c:v>
                </c:pt>
                <c:pt idx="2">
                  <c:v>7.58</c:v>
                </c:pt>
                <c:pt idx="3">
                  <c:v>8.81</c:v>
                </c:pt>
                <c:pt idx="4">
                  <c:v>8.33</c:v>
                </c:pt>
                <c:pt idx="5">
                  <c:v>9.9600000000000009</c:v>
                </c:pt>
                <c:pt idx="6">
                  <c:v>7.24</c:v>
                </c:pt>
                <c:pt idx="7">
                  <c:v>4.26</c:v>
                </c:pt>
                <c:pt idx="8">
                  <c:v>10.84</c:v>
                </c:pt>
                <c:pt idx="9">
                  <c:v>4.82</c:v>
                </c:pt>
                <c:pt idx="10">
                  <c:v>5.68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BAB-4B23-8189-A8220CA842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9.14</c:v>
                </c:pt>
                <c:pt idx="1">
                  <c:v>8.14</c:v>
                </c:pt>
                <c:pt idx="2">
                  <c:v>8.74</c:v>
                </c:pt>
                <c:pt idx="3">
                  <c:v>8.77</c:v>
                </c:pt>
                <c:pt idx="4">
                  <c:v>9.26</c:v>
                </c:pt>
                <c:pt idx="5">
                  <c:v>8.1</c:v>
                </c:pt>
                <c:pt idx="6">
                  <c:v>6.13</c:v>
                </c:pt>
                <c:pt idx="7">
                  <c:v>3.1</c:v>
                </c:pt>
                <c:pt idx="8">
                  <c:v>9.1300000000000008</c:v>
                </c:pt>
                <c:pt idx="9">
                  <c:v>7.26</c:v>
                </c:pt>
                <c:pt idx="10">
                  <c:v>4.74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433-4EAD-A247-66EFC4C1CA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7.46</c:v>
                </c:pt>
                <c:pt idx="1">
                  <c:v>6.77</c:v>
                </c:pt>
                <c:pt idx="2">
                  <c:v>12.74</c:v>
                </c:pt>
                <c:pt idx="3">
                  <c:v>7.11</c:v>
                </c:pt>
                <c:pt idx="4">
                  <c:v>7.81</c:v>
                </c:pt>
                <c:pt idx="5">
                  <c:v>8.84</c:v>
                </c:pt>
                <c:pt idx="6">
                  <c:v>6.08</c:v>
                </c:pt>
                <c:pt idx="7">
                  <c:v>5.39</c:v>
                </c:pt>
                <c:pt idx="8">
                  <c:v>8.15</c:v>
                </c:pt>
                <c:pt idx="9">
                  <c:v>6.42</c:v>
                </c:pt>
                <c:pt idx="10">
                  <c:v>5.73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C16-4AB1-A7B1-4D9687C6B0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19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6.58</c:v>
                </c:pt>
                <c:pt idx="1">
                  <c:v>5.76</c:v>
                </c:pt>
                <c:pt idx="2">
                  <c:v>7.71</c:v>
                </c:pt>
                <c:pt idx="3">
                  <c:v>8.84</c:v>
                </c:pt>
                <c:pt idx="4">
                  <c:v>8.4700000000000006</c:v>
                </c:pt>
                <c:pt idx="5">
                  <c:v>7.04</c:v>
                </c:pt>
                <c:pt idx="6">
                  <c:v>5.25</c:v>
                </c:pt>
                <c:pt idx="7">
                  <c:v>12.5</c:v>
                </c:pt>
                <c:pt idx="8">
                  <c:v>5.56</c:v>
                </c:pt>
                <c:pt idx="9">
                  <c:v>7.91</c:v>
                </c:pt>
                <c:pt idx="10">
                  <c:v>6.89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8B9-4997-B800-85EA42FF88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76-4330-B462-C7007F4BB15A}"/>
              </c:ext>
            </c:extLst>
          </c:dPt>
          <c:dPt>
            <c:idx val="1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76-4330-B462-C7007F4BB15A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76-4330-B462-C7007F4BB15A}"/>
              </c:ext>
            </c:extLst>
          </c:dPt>
          <c:dPt>
            <c:idx val="3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A76-4330-B462-C7007F4BB15A}"/>
              </c:ext>
            </c:extLst>
          </c:dPt>
          <c:dPt>
            <c:idx val="4"/>
            <c:bubble3D val="0"/>
            <c:spPr>
              <a:solidFill>
                <a:srgbClr val="84CC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A76-4330-B462-C7007F4BB15A}"/>
              </c:ext>
            </c:extLst>
          </c:dPt>
          <c:dPt>
            <c:idx val="5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A76-4330-B462-C7007F4BB15A}"/>
              </c:ext>
            </c:extLst>
          </c:dPt>
          <c:dPt>
            <c:idx val="6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A76-4330-B462-C7007F4BB15A}"/>
              </c:ext>
            </c:extLst>
          </c:dPt>
          <c:dPt>
            <c:idx val="7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A76-4330-B462-C7007F4BB15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76-4330-B462-C7007F4BB15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76-4330-B462-C7007F4BB15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A76-4330-B462-C7007F4BB15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A76-4330-B462-C7007F4BB15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A76-4330-B462-C7007F4BB15A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A76-4330-B462-C7007F4BB15A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A76-4330-B462-C7007F4BB15A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A76-4330-B462-C7007F4BB15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15</c:v>
                </c:pt>
                <c:pt idx="2">
                  <c:v>8</c:v>
                </c:pt>
                <c:pt idx="3">
                  <c:v>11</c:v>
                </c:pt>
                <c:pt idx="4">
                  <c:v>14</c:v>
                </c:pt>
                <c:pt idx="5">
                  <c:v>9</c:v>
                </c:pt>
                <c:pt idx="6">
                  <c:v>17</c:v>
                </c:pt>
                <c:pt idx="7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A76-4330-B462-C7007F4BB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</c:v>
                </c:pt>
                <c:pt idx="1">
                  <c:v>A</c:v>
                </c:pt>
                <c:pt idx="2">
                  <c:v>E</c:v>
                </c:pt>
                <c:pt idx="3">
                  <c:v>H</c:v>
                </c:pt>
                <c:pt idx="4">
                  <c:v>B</c:v>
                </c:pt>
                <c:pt idx="5">
                  <c:v>D</c:v>
                </c:pt>
                <c:pt idx="6">
                  <c:v>F</c:v>
                </c:pt>
                <c:pt idx="7">
                  <c:v>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</c:v>
                </c:pt>
                <c:pt idx="1">
                  <c:v>15</c:v>
                </c:pt>
                <c:pt idx="2">
                  <c:v>14</c:v>
                </c:pt>
                <c:pt idx="3">
                  <c:v>14</c:v>
                </c:pt>
                <c:pt idx="4">
                  <c:v>12</c:v>
                </c:pt>
                <c:pt idx="5">
                  <c:v>11</c:v>
                </c:pt>
                <c:pt idx="6">
                  <c:v>9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87-4733-BB06-D2CB7A6A51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83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6D2A2-9887-AA79-B688-AC2146E89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49DF6-49E7-66CF-E9D8-86FB4FC40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875F7-48B7-A8F2-79A7-B87BB2D1D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26365-2198-C446-1E13-9B0C8BF75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D54C2-47B1-4E32-9307-8E2384758FA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24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B3ABFA-8573-E41E-E49A-02BF4D1E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BD91-B478-4CD9-83EE-D77E5DC104CD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5D64E-85FA-0945-02AA-E0FCF1DB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197E2-52F6-50DF-F366-3CB8442E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61AE-1D81-496D-8380-11D70C80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0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608076"/>
            <a:ext cx="1645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7740396" y="548640"/>
            <a:ext cx="4572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8138160" y="448056"/>
            <a:ext cx="210312" cy="457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8220456" y="365760"/>
            <a:ext cx="45720" cy="21031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8503920" y="928116"/>
            <a:ext cx="25603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8609076" y="822960"/>
            <a:ext cx="4572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7863840" y="1065276"/>
            <a:ext cx="1645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7923276" y="1005840"/>
            <a:ext cx="4572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8229600" y="1362456"/>
            <a:ext cx="210312" cy="457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8311896" y="1280160"/>
            <a:ext cx="45720" cy="21031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8595360" y="1659636"/>
            <a:ext cx="25603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8700516" y="1554480"/>
            <a:ext cx="4572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7772400" y="1888236"/>
            <a:ext cx="1645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7831836" y="1828800"/>
            <a:ext cx="4572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365760" y="37603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 ·  BIG DATA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1716222"/>
            <a:ext cx="8229600" cy="61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Fundamental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2286000"/>
            <a:ext cx="380039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0080" y="2827218"/>
            <a:ext cx="8229600" cy="296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</a:t>
            </a:r>
            <a:r>
              <a:rPr lang="en-US" sz="2000" b="1" i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3986784"/>
            <a:ext cx="548640" cy="3657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Donny Maha Putra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269A56-32F0-21E7-CAF6-DEE64599A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779103"/>
            <a:ext cx="4140199" cy="23288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Outline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647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Memahami prinsip fundamental visualisasi data dan landasan teoretisnya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4505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Memilih jenis visualisasi yang tepat berdasarkan struktur dan tujuan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1363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Mengoperasikan Tableau Desktop untuk membangun visualisasi yang efektif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8221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Merancang dashboard interaktif untuk pengambilan keputusan akuntansi &amp; audit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OUTLINE 6 BAGIAN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627632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9377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Konteks: Big Data &amp; Visualisasi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Fundamental Data Visualization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Memilih Chart yang Tepat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377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Ecosystem &amp; Workflow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377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Building Visualization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3776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&amp; Use Case Akuntansi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30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1  ·  KONTEKS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Visualisasi Penting di Era Big Data?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berskala terabyte </a:t>
            </a:r>
            <a:r>
              <a:rPr lang="en-US" sz="105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hingga</a:t>
            </a: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petabyte,  tidak mungkin dibaca baris demi baris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Aliran data real-time menuntut interpretasi cepat dan keputusan tepat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Variety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terstruktur dan tidak terstruktur dari beragam sumber memerlukan integrasi visual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1E3A5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60.000×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383280" y="31546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Otak manusia memproses informasi visual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~60.000 kali lebih cepat dibandingkan teks.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Visualisasi adalah jembatan antara data mentah dan keputusan strategis.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30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1  ·  KONTEKS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Power of Visual: Anscombe's Quartet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 dataset di bawah memiliki rata-rata, varians, dan korelasi statistik yang </a:t>
            </a:r>
            <a:r>
              <a:rPr lang="en-US" sz="1100" i="1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hampir</a:t>
            </a: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identic,  namun pola visualnya sangat berbeda. Inilah bukti bahwa angka saja tidak cukup.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I  ·  Linear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057400"/>
          <a:ext cx="411480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709160" y="1828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II  ·  Curved</a:t>
            </a:r>
            <a:endParaRPr lang="en-US" sz="10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709160" y="2057400"/>
          <a:ext cx="411480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246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III  ·  Outlier</a:t>
            </a:r>
            <a:endParaRPr lang="en-US" sz="1000" dirty="0"/>
          </a:p>
        </p:txBody>
      </p:sp>
      <p:graphicFrame>
        <p:nvGraphicFramePr>
          <p:cNvPr id="10" name="Chart 2"/>
          <p:cNvGraphicFramePr/>
          <p:nvPr/>
        </p:nvGraphicFramePr>
        <p:xfrm>
          <a:off x="457200" y="3474720"/>
          <a:ext cx="411480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4709160" y="3246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IV  ·  Leverage point</a:t>
            </a:r>
            <a:endParaRPr lang="en-US" sz="1000" dirty="0"/>
          </a:p>
        </p:txBody>
      </p:sp>
      <p:graphicFrame>
        <p:nvGraphicFramePr>
          <p:cNvPr id="12" name="Chart 3"/>
          <p:cNvGraphicFramePr/>
          <p:nvPr/>
        </p:nvGraphicFramePr>
        <p:xfrm>
          <a:off x="4709160" y="3474720"/>
          <a:ext cx="411480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 7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Mean(x) ≈ 9   ·   Mean(y) ≈ 7.5   ·   Var(x) = 11   ·   Var(y) ≈ 4.12   ·   Korelasi ≈ 0.816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30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2  ·  FUNDAMENTAL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itu Data Visualization?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Visualisasi data adalah representasi grafis dari informasi dan data yang menggunakan elemen visual seperti grafik, diagram, dan peta untuk membuat pola, tren, dan outlier menjadi mudah dipahami.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TIGA PERAN UTAMA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73152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Mengeksplorasi data secara iteratif untuk menemukan pola yang belum diketahui sebelumnya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30632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3246120" y="3063240"/>
            <a:ext cx="73152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Menganalisis hubungan, perbandingan, dan distribusi untuk menjawab pertanyaan analitis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6035040" y="3063240"/>
            <a:ext cx="731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626364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Mengkomunikasikan temuan secara jelas dan persuasif kepada pengambil keputusan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30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2  ·  FUNDAMENTAL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Sejarah Singkat: Pioneer Visualisasi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7863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1417320" y="2606040"/>
            <a:ext cx="365760" cy="3657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1786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William Playfair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5478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Bapak Statistical Graphics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Memperkenalkan bar chart dan line chart pertama dalam Commercial and Political Atlas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0712" y="2606040"/>
            <a:ext cx="365760" cy="3657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2633472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1854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33472" y="3154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2770632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 Snow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70632" y="35478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70632" y="37947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Memetakan wabah kolera di London, </a:t>
            </a:r>
            <a:r>
              <a:rPr lang="en-US" sz="95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kelahiran</a:t>
            </a: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data viz untuk public health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04104" y="2606040"/>
            <a:ext cx="365760" cy="3657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626864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1858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26864" y="3154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764024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Florence Nightingale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64024" y="35478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Pioneer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4024" y="37947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Coxcomb / rose diagram,  visualisasi mortalitas tentara Crimean War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97496" y="2606040"/>
            <a:ext cx="365760" cy="3657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6620256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1869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20256" y="3154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6757416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Charles Minard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57416" y="35478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&amp; Cartographer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57416" y="37947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Peta Napoleon's March, multivariate viz legendaris (6 dimensi data)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 tokoh pelopor yang menetapkan fondasi </a:t>
            </a:r>
            <a:r>
              <a:rPr lang="en-US" sz="1100" i="1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visualisasi</a:t>
            </a: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modern, dari grafik bisnis hingga pemetaan epidemi.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30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2  ·  FUNDAMENTAL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Tufte's Principles Part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"Above all else, show the data."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Edward Tufte, The Visual Display of Quantitative Information (1983)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069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542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adalah aktor utama. Hindari elemen dekoratif yang mengaburkan pesan. Setiap goresan tinta harus berkontribusi pada penyampaian informasi.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8580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Hilangkan background pattern, 3D effect, bayangan berlebihan, dan warna yang tidak fungsional.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331720"/>
            <a:ext cx="4069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2542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Data-Ink Ratio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063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Data-Ink Ratio = (Data Ink) / (Total Ink). Maksimalkan dengan menghapus tinta non-data: bingkai tebal, gridline berlebih, label redundan.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93776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Semakin tinggi rasio, semakin efisien visualisasi dalam menyampaikan informasi per unit ruang.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30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2  ·  FUNDAMENTAL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Tufte's Principles Part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Chart Junk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effects yang menyimpangkan persepsi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pattern dan tekstur dekoratif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29184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86868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Animasi atau ornamen yang tidak fungsional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79476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Warna pelangi tanpa logika urutan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3429000" y="155448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34290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Small Multiples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0" y="228600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365760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kecil berulang dengan struktur sama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0" y="278892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365760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Memudahkan perbandingan antar kategori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0" y="329184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365760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Lebih efektif daripada satu chart kompleks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0" y="379476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365760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Konsisten dalam skala dan format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6217920" y="155448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62179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2084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 the Lie Factor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228600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644652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 Factor = perubahan visual / perubahan data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63640" y="278892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644652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Idealnya = 1 (representasi jujur)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329184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64465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Truncated y-axis dapat mendistorsi persepsi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379476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644652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Pertahankan integritas grafis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30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2  ·  FUNDAMENTAL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Pre-Attentive Attributes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Pre-attentive processing</a:t>
            </a: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adalah pemrosesan visual oleh otak manusia dalam </a:t>
            </a:r>
            <a:r>
              <a:rPr lang="en-US" sz="115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 dari 250 milidetik</a:t>
            </a: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tanpa kesadaran aktif. Atribut ini menjadi alat paling kuat untuk mengarahkan perhatian audiens.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DEMONSTRASI: TEMUKAN YANG BERBEDA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94360" y="2578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Atribut: Warna (Color)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896112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1152144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1408176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1664208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1920240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2176272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2432304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2688336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2944368" y="290779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3200400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3456432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3712464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3968496" y="290779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59436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Mata otomatis menangkap 1 titik merah di </a:t>
            </a:r>
            <a:r>
              <a:rPr lang="en-US" sz="900" i="1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antara</a:t>
            </a: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i="1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abu</a:t>
            </a: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 tanpa berpikir.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514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4800600" y="2578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Atribut: Ukuran (Size)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5102352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5358384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5614416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5870448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9"/>
          <p:cNvSpPr/>
          <p:nvPr/>
        </p:nvSpPr>
        <p:spPr>
          <a:xfrm>
            <a:off x="6071616" y="2852928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6382512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Shape 31"/>
          <p:cNvSpPr/>
          <p:nvPr/>
        </p:nvSpPr>
        <p:spPr>
          <a:xfrm>
            <a:off x="6638544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6894576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7150608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Shape 34"/>
          <p:cNvSpPr/>
          <p:nvPr/>
        </p:nvSpPr>
        <p:spPr>
          <a:xfrm>
            <a:off x="7406640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7662672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Shape 36"/>
          <p:cNvSpPr/>
          <p:nvPr/>
        </p:nvSpPr>
        <p:spPr>
          <a:xfrm>
            <a:off x="7918704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Shape 37"/>
          <p:cNvSpPr/>
          <p:nvPr/>
        </p:nvSpPr>
        <p:spPr>
          <a:xfrm>
            <a:off x="8174736" y="29077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8"/>
          <p:cNvSpPr/>
          <p:nvPr/>
        </p:nvSpPr>
        <p:spPr>
          <a:xfrm>
            <a:off x="480060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Ukuran lebih besar otomatis dipersepsikan sebagai prioritas / nilai lebih tinggi.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611880"/>
            <a:ext cx="1984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Text 40"/>
          <p:cNvSpPr/>
          <p:nvPr/>
        </p:nvSpPr>
        <p:spPr>
          <a:xfrm>
            <a:off x="5943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Hue, saturation, intensity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32888" y="3611880"/>
            <a:ext cx="1984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5" name="Text 43"/>
          <p:cNvSpPr/>
          <p:nvPr/>
        </p:nvSpPr>
        <p:spPr>
          <a:xfrm>
            <a:off x="2670048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670048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Length, area, volume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08576" y="3611880"/>
            <a:ext cx="1984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8" name="Text 46"/>
          <p:cNvSpPr/>
          <p:nvPr/>
        </p:nvSpPr>
        <p:spPr>
          <a:xfrm>
            <a:off x="4745736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45736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location, alignment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84264" y="3611880"/>
            <a:ext cx="1984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1" name="Text 49"/>
          <p:cNvSpPr/>
          <p:nvPr/>
        </p:nvSpPr>
        <p:spPr>
          <a:xfrm>
            <a:off x="6821424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21424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Angle, direction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30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2  ·  FUNDAMENTAL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Gestalt Principles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Otak manusia secara alami mengorganisasi elemen visual menjadi struktur bermakna. Lima prinsip Gestalt ini adalah fondasi cara mata membaca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554480" cy="26060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371600" cy="54864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868680" y="219456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1143000" y="210312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1234440" y="219456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1325880" y="210312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1417320" y="219456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9436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9260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 yang berdekatan dipersepsikan sebagai satu kelompok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03120" y="1828800"/>
            <a:ext cx="1554480" cy="26060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2194560" y="1965960"/>
            <a:ext cx="1371600" cy="54864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2286000" y="205740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2450592" y="205740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2615184" y="205740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2779776" y="205740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2944368" y="205740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22"/>
          <p:cNvSpPr/>
          <p:nvPr/>
        </p:nvSpPr>
        <p:spPr>
          <a:xfrm>
            <a:off x="2286000" y="222199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2450592" y="2221992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2615184" y="222199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2779776" y="222199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224028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40280" y="29260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 dengan atribut serupa (warna/bentuk) dianggap sejenis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49040" y="1828800"/>
            <a:ext cx="1554480" cy="26060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29"/>
          <p:cNvSpPr/>
          <p:nvPr/>
        </p:nvSpPr>
        <p:spPr>
          <a:xfrm>
            <a:off x="3840480" y="1965960"/>
            <a:ext cx="1371600" cy="54864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3931920" y="2057400"/>
            <a:ext cx="50292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Shape 31"/>
          <p:cNvSpPr/>
          <p:nvPr/>
        </p:nvSpPr>
        <p:spPr>
          <a:xfrm>
            <a:off x="3995928" y="216712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4133088" y="216712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4270248" y="216712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Shape 34"/>
          <p:cNvSpPr/>
          <p:nvPr/>
        </p:nvSpPr>
        <p:spPr>
          <a:xfrm>
            <a:off x="4572000" y="2167128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4709160" y="2167128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Shape 36"/>
          <p:cNvSpPr/>
          <p:nvPr/>
        </p:nvSpPr>
        <p:spPr>
          <a:xfrm>
            <a:off x="4846320" y="2167128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388620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Enclosure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886200" y="29260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 yang dibingkai dalam batas yang sama dipersepsikan sebagai unit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94960" y="1828800"/>
            <a:ext cx="1554480" cy="26060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5486400" y="1965960"/>
            <a:ext cx="1371600" cy="54864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Shape 41"/>
          <p:cNvSpPr/>
          <p:nvPr/>
        </p:nvSpPr>
        <p:spPr>
          <a:xfrm>
            <a:off x="5577840" y="219456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42"/>
          <p:cNvSpPr/>
          <p:nvPr/>
        </p:nvSpPr>
        <p:spPr>
          <a:xfrm>
            <a:off x="5669280" y="2246191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Shape 43"/>
          <p:cNvSpPr/>
          <p:nvPr/>
        </p:nvSpPr>
        <p:spPr>
          <a:xfrm>
            <a:off x="5760720" y="227978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6" name="Shape 44"/>
          <p:cNvSpPr/>
          <p:nvPr/>
        </p:nvSpPr>
        <p:spPr>
          <a:xfrm>
            <a:off x="5852160" y="2283609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Shape 45"/>
          <p:cNvSpPr/>
          <p:nvPr/>
        </p:nvSpPr>
        <p:spPr>
          <a:xfrm>
            <a:off x="5943600" y="2256324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8" name="Shape 46"/>
          <p:cNvSpPr/>
          <p:nvPr/>
        </p:nvSpPr>
        <p:spPr>
          <a:xfrm>
            <a:off x="6035040" y="2207464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Shape 47"/>
          <p:cNvSpPr/>
          <p:nvPr/>
        </p:nvSpPr>
        <p:spPr>
          <a:xfrm>
            <a:off x="6126480" y="215409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0" name="Shape 48"/>
          <p:cNvSpPr/>
          <p:nvPr/>
        </p:nvSpPr>
        <p:spPr>
          <a:xfrm>
            <a:off x="6217920" y="2114863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Shape 49"/>
          <p:cNvSpPr/>
          <p:nvPr/>
        </p:nvSpPr>
        <p:spPr>
          <a:xfrm>
            <a:off x="6309360" y="2103471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2" name="Shape 50"/>
          <p:cNvSpPr/>
          <p:nvPr/>
        </p:nvSpPr>
        <p:spPr>
          <a:xfrm>
            <a:off x="6400800" y="212389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3" name="Shape 51"/>
          <p:cNvSpPr/>
          <p:nvPr/>
        </p:nvSpPr>
        <p:spPr>
          <a:xfrm>
            <a:off x="6492240" y="216901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4" name="Shape 52"/>
          <p:cNvSpPr/>
          <p:nvPr/>
        </p:nvSpPr>
        <p:spPr>
          <a:xfrm>
            <a:off x="6583680" y="2223047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5" name="Text 53"/>
          <p:cNvSpPr/>
          <p:nvPr/>
        </p:nvSpPr>
        <p:spPr>
          <a:xfrm>
            <a:off x="553212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Continuity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532120" y="29260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Mata mengikuti garis halus, mengasumsikan kontinuitas alami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040880" y="1828800"/>
            <a:ext cx="1554480" cy="26060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8" name="Shape 56"/>
          <p:cNvSpPr/>
          <p:nvPr/>
        </p:nvSpPr>
        <p:spPr>
          <a:xfrm>
            <a:off x="7132320" y="1965960"/>
            <a:ext cx="1371600" cy="54864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9" name="Shape 57"/>
          <p:cNvSpPr/>
          <p:nvPr/>
        </p:nvSpPr>
        <p:spPr>
          <a:xfrm>
            <a:off x="7315200" y="2148840"/>
            <a:ext cx="365760" cy="18288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0" name="Shape 58"/>
          <p:cNvSpPr/>
          <p:nvPr/>
        </p:nvSpPr>
        <p:spPr>
          <a:xfrm>
            <a:off x="7680960" y="2331720"/>
            <a:ext cx="3657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1" name="Shape 59"/>
          <p:cNvSpPr/>
          <p:nvPr/>
        </p:nvSpPr>
        <p:spPr>
          <a:xfrm>
            <a:off x="7269480" y="210312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2" name="Shape 60"/>
          <p:cNvSpPr/>
          <p:nvPr/>
        </p:nvSpPr>
        <p:spPr>
          <a:xfrm>
            <a:off x="7635240" y="22860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Shape 61"/>
          <p:cNvSpPr/>
          <p:nvPr/>
        </p:nvSpPr>
        <p:spPr>
          <a:xfrm>
            <a:off x="8001000" y="2130552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4" name="Text 62"/>
          <p:cNvSpPr/>
          <p:nvPr/>
        </p:nvSpPr>
        <p:spPr>
          <a:xfrm>
            <a:off x="717804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178040" y="29260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 yang dihubungkan garis dianggap memiliki hubungan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30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2  ·  FUNDAMENTAL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vs Bad Visualization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EFEKTIF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91640"/>
          <a:ext cx="36576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LEBIH EFEKTIF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155448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graphicFrame>
        <p:nvGraphicFramePr>
          <p:cNvPr id="9" name="Chart 1"/>
          <p:cNvGraphicFramePr/>
          <p:nvPr/>
        </p:nvGraphicFramePr>
        <p:xfrm>
          <a:off x="4846320" y="1691640"/>
          <a:ext cx="36576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8221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PERBANDINGAN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4041647"/>
            <a:ext cx="8229600" cy="737031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Text 8"/>
          <p:cNvSpPr/>
          <p:nvPr/>
        </p:nvSpPr>
        <p:spPr>
          <a:xfrm>
            <a:off x="548640" y="4114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Tipe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48640" y="4279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pie 8 segmen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48640" y="44439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 terurut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578608" y="4114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Warna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578608" y="4279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Rainbow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78608" y="44439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 fungsional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608576" y="4114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Hierarki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608576" y="4279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diurut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608576" y="44439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Diurut deskriptif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638544" y="4114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Persepsi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6638544" y="4279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Sulit banding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638544" y="44439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Mudah banding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30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3  ·  MEMILIH CHART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Type → Chart Type Mapping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Pemilihan jenis chart dimulai dari memahami struktur data dan tujuan analisis. Matriks berikut menunjukkan pemetaan dasar yang teruji secara empiris.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TIPE 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YANG TEPAT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KASUS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148840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/ Column chart, Stacked bar (komposisi)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Penjualan per kategori produk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505456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(1 var)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505456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Histogram, Box plot, Density plot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2505456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Distribusi nilai transaksi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62072"/>
            <a:ext cx="822960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594360" y="2862072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(2 var)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86207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 plot, Bubble chart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286207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Korelasi diskon vs profit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218688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Series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3218688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chart, Area chart, Sparkline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3218688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 penjualan bulanan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75304"/>
            <a:ext cx="822960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594360" y="3575304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23160" y="3575304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Choropleth map, Symbol map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3575304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Penjualan per provinsi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931920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Hierarchical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23160" y="3931920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Treemap, Sunburst, Tree diagram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3931920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kategori-subkategori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288536"/>
            <a:ext cx="822960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594360" y="4288536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Part-to-whole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4288536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Stacked bar (&gt;5 part), Pie (≤5 part)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4288536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Proporsi segmen pelanggan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30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3  ·  MEMILIH CHART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5-Question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Sebelum memilih chart, ajukan satu pertanyaan kunci tentang tujuan analisis Anda.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581912" cy="283464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581912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788920"/>
            <a:ext cx="457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/ Column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Membandingkan nilai antar kategori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30552" y="1691640"/>
            <a:ext cx="1581912" cy="283464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2130552" y="1691640"/>
            <a:ext cx="1581912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2267712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67712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67712" y="2788920"/>
            <a:ext cx="457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2267712" y="2880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67712" y="3108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/ Area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67712" y="3566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Perubahan nilai sepanjang waktu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03904" y="1691640"/>
            <a:ext cx="1581912" cy="283464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3803904" y="1691640"/>
            <a:ext cx="158191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3941064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41064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Distribute?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941064" y="2788920"/>
            <a:ext cx="457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3941064" y="2880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41064" y="3108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Histogram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41064" y="3566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Sebaran data dalam interval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77256" y="1691640"/>
            <a:ext cx="1581912" cy="283464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5477256" y="1691640"/>
            <a:ext cx="1581912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5614416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14416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Compose?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614416" y="2788920"/>
            <a:ext cx="457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5614416" y="2880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14416" y="3108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Stacked Bar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14416" y="3566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Komposisi bagian dari keseluruhan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50608" y="1691640"/>
            <a:ext cx="1581912" cy="283464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8" name="Shape 36"/>
          <p:cNvSpPr/>
          <p:nvPr/>
        </p:nvSpPr>
        <p:spPr>
          <a:xfrm>
            <a:off x="7150608" y="1691640"/>
            <a:ext cx="1581912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7287768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87768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Relate?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287768" y="2788920"/>
            <a:ext cx="457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Text 40"/>
          <p:cNvSpPr/>
          <p:nvPr/>
        </p:nvSpPr>
        <p:spPr>
          <a:xfrm>
            <a:off x="7287768" y="2880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87768" y="3108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87768" y="3566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Hubungan antara dua variabel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30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3  ·  MEMILIH CHART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Anti-Patterns: Yang Harus Dihindari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 chart &gt;5 segmen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Mata sulit membandingkan sudut. Gunakan bar chart terurut.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3429000" y="15087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34290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Truncated Y-axis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Sumbu yang dipotong dapat memperbesar perbedaan secara menyesatkan.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21792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effect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Distorsi perspektif menyulitkan pembacaan nilai aktual.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53512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640080" y="3136392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4008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1363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Rainbow color tanpa urutan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6393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warna sebaiknya merefleksikan urutan numerik atau kategori bermakna.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953512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3429000" y="3136392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342900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86200" y="31363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axis tanpa konteks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6393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berbeda dapat menciptakan korelasi semu yang tidak ada di data.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953512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6217920" y="3136392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621792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75120" y="31363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Data-pixel overload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6393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Terlalu banyak metrik dalam satu visual mengaburkan pesan utama.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30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4  ·  TABLEAU ECOSYSTEM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Mengenal Tableau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</a:t>
            </a: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lahir dari proyek riset Stanford (2003) oleh Chabot, Hanrahan, dan Stolte. Diakuisisi Salesforce </a:t>
            </a:r>
            <a:r>
              <a:rPr lang="en-US" sz="11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tahun 2019 senilai US$15,7 </a:t>
            </a:r>
            <a:r>
              <a:rPr lang="en-US" sz="1100" b="1" dirty="0" err="1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miliar</a:t>
            </a: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kini menjadi salah satu platform analitik visual terdepan di dunia.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Prep Builder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Membersihkan, membentuk, dan menggabungkan data sebelum analisis dengan workflow visual.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21945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Desktop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Membangun visualisasi dan dashboard interaktif melalui drag-and-drop. Inti dari workflow analis.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2636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636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Server / Cloud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Mempublikasi, berbagi, dan mengelola dashboard secara aman lintas tim dan organisasi.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30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4  ·  TABLEAU ECOSYSTEM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Architecture &amp;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842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75564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Hubungkan ke sumber data: file, database, cloud, atau web data connector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2423160"/>
            <a:ext cx="7315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2532888" y="1554480"/>
            <a:ext cx="19842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2807208" y="17373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280720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175564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15768" y="23317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Bersihkan, gabungkan, dan transformasi data — Live atau Extract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2423160"/>
            <a:ext cx="7315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4608576" y="1554480"/>
            <a:ext cx="19842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4882896" y="173736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88289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77256" y="175564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91456" y="23317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Bangun worksheet, terapkan filter, kalkulasi, dan analitik visual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01968" y="2423160"/>
            <a:ext cx="7315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6684264" y="1554480"/>
            <a:ext cx="19842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6958584" y="1737360"/>
            <a:ext cx="457200" cy="457200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695858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52944" y="175564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67144" y="23317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Susun dashboard interaktif, publikasi, dan kolaborasi via Server/Cloud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ARSITEKTUR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640080" y="3950208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640080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Excel, SQL, Cloud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14600" y="4224528"/>
            <a:ext cx="10972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33" name="Shape 31"/>
          <p:cNvSpPr/>
          <p:nvPr/>
        </p:nvSpPr>
        <p:spPr>
          <a:xfrm>
            <a:off x="3657600" y="3950208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3657600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Server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· Engine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32120" y="4224528"/>
            <a:ext cx="10972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6675120" y="3950208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6675120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&amp; Dashboards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7512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Output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30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4  ·  TABLEAU ECOSYSTEM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Terminology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Enam istilah inti yang harus dipahami sebelum membuka Tableau Desktop.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Workbook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Berkas Tableau lengkap berisi worksheet, dashboard, dan story.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429000" y="1920240"/>
            <a:ext cx="502920" cy="50292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2336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Lembar kerja tunggal — satu visualisasi data dari satu data source.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502920" cy="50292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Representasi visual data di worksheet atau dashboard.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3429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Representasi visual baris data: bar, line, square, circle, dll.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31546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3429000" y="3383280"/>
            <a:ext cx="502920" cy="50292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34290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⊞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023360" y="3429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3931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Kumpulan beberapa view dalam satu layar interaktif.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31546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29"/>
          <p:cNvSpPr/>
          <p:nvPr/>
        </p:nvSpPr>
        <p:spPr>
          <a:xfrm>
            <a:off x="6217920" y="3383280"/>
            <a:ext cx="502920" cy="50292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62179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⬕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12280" y="3429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3931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Rangkaian dashboard atau view yang membentuk narasi data.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30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4  ·  TABLEAU ECOSYSTEM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Cues for Fields &amp; File 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IKON TIPE DATA DI TABLEAU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02920" cy="36576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67128"/>
            <a:ext cx="502920" cy="36576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640080" y="21671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42616"/>
            <a:ext cx="502920" cy="36576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40080" y="26426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6426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/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18104"/>
            <a:ext cx="502920" cy="36576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524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40080" y="31181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T|F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1181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Boolean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93592"/>
            <a:ext cx="502920" cy="36576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640080" y="35935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593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502920" cy="36576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TYPES &amp; EXTENSIONS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5544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4846320" y="16916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.twb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Workbook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16916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 berisi visualisasi (tanpa data)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21671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.twbx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2167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Packaged Workbook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21671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Workbook + data — portable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26426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.tds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26426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Data Source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2642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Definisi koneksi data tersimpan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31181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.tdsx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3118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Packaged Data Source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311810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 + data lokal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35935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.hyper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3593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Data Extract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0" y="35935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Ekstrak data berperforma tinggi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6320" y="4069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.tbm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Bookmark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4069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Worksheet tunggal yang disimpan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30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5  ·  HANDS-ON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Connecting to Data &amp; Modifying Attributes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vs EXTRACT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Koneksi langsung ke sumber. Real-time, performa tergantung database.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data ke .hyper. Cepat, portable, ideal untuk data besar.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MODIFY DATA ATTRIBUTES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Data Type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361188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251460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Geographic Role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90448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822960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Hierarchy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31720" y="390448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2514600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/ Custom Split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19709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822960" y="4105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Aliases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2423160"/>
            <a:ext cx="54864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22"/>
          <p:cNvSpPr/>
          <p:nvPr/>
        </p:nvSpPr>
        <p:spPr>
          <a:xfrm>
            <a:off x="6327648" y="2514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6217920" y="2834640"/>
            <a:ext cx="5486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429768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— Tableau Connect Screen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3291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panel "Connect" Tableau Desktop: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a File / To a Server / Saved Data Sources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30</a:t>
            </a: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BAF7305-2294-F17A-2CB4-F3A1FA188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798" y="1309596"/>
            <a:ext cx="4389120" cy="3232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5  ·  HANDS-ON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Filter, Sort, Group, Hierarchy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84248" cy="320040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84248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Membatasi data yang muncul di 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 Filter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86868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Filter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Filter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402336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8686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Filter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32888" y="1371600"/>
            <a:ext cx="1984248" cy="320040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2532888" y="1371600"/>
            <a:ext cx="1984248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2715768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15768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Mengurutkan untuk interpretasi yang jelas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61488" y="2788920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2944368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 Order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61488" y="3200400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2944368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Alphabetic A-Z / Z-A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61488" y="3611880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2944368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Field (measure)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61488" y="4023360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2944368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/ Nested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08576" y="1371600"/>
            <a:ext cx="1984248" cy="320040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4608576" y="1371600"/>
            <a:ext cx="1984248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4791456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91456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Menggabungkan anggota dimensi sejenis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37176" y="27889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5020056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related members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37176" y="32004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5020056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Cleaner aggregation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37176" y="36118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5020056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visual noise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37176" y="40233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5020056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categorization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84264" y="1371600"/>
            <a:ext cx="1984248" cy="320040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1" name="Shape 39"/>
          <p:cNvSpPr/>
          <p:nvPr/>
        </p:nvSpPr>
        <p:spPr>
          <a:xfrm>
            <a:off x="6684264" y="1371600"/>
            <a:ext cx="1984248" cy="9144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Text 40"/>
          <p:cNvSpPr/>
          <p:nvPr/>
        </p:nvSpPr>
        <p:spPr>
          <a:xfrm>
            <a:off x="6867144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67144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Drill-down terstruktur antar level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12864" y="2788920"/>
            <a:ext cx="73152" cy="73152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Text 43"/>
          <p:cNvSpPr/>
          <p:nvPr/>
        </p:nvSpPr>
        <p:spPr>
          <a:xfrm>
            <a:off x="7095744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→ Region → City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912864" y="3200400"/>
            <a:ext cx="73152" cy="73152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Text 45"/>
          <p:cNvSpPr/>
          <p:nvPr/>
        </p:nvSpPr>
        <p:spPr>
          <a:xfrm>
            <a:off x="7095744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→ Quarter → Month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12864" y="3611880"/>
            <a:ext cx="73152" cy="73152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Text 47"/>
          <p:cNvSpPr/>
          <p:nvPr/>
        </p:nvSpPr>
        <p:spPr>
          <a:xfrm>
            <a:off x="7095744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→ Sub-Category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12864" y="4023360"/>
            <a:ext cx="73152" cy="73152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Text 49"/>
          <p:cNvSpPr/>
          <p:nvPr/>
        </p:nvSpPr>
        <p:spPr>
          <a:xfrm>
            <a:off x="7095744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expand / collapse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30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5  ·  HANDS-ON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Common Charts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 waktu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→ Columns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37944" y="2011680"/>
            <a:ext cx="11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65960" y="201168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1965960" y="2011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→ Rows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63824" y="2011680"/>
            <a:ext cx="11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201168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3291840" y="2011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Marks: 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Perbandingan kategori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 → Rows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37944" y="3108960"/>
            <a:ext cx="11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965960" y="31089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1965960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→ Columns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63824" y="3108960"/>
            <a:ext cx="11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3291840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Marks: Bar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 Chart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Komposisi (≤5 segmen)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420624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640080" y="4206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+ Dimension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37944" y="4206240"/>
            <a:ext cx="11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965960" y="420624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1965960" y="4206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Me → Pie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63824" y="4206240"/>
            <a:ext cx="11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91840" y="420624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3291840" y="4206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labels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92240" y="2468880"/>
            <a:ext cx="54864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Shape 37"/>
          <p:cNvSpPr/>
          <p:nvPr/>
        </p:nvSpPr>
        <p:spPr>
          <a:xfrm>
            <a:off x="6601968" y="256032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Shape 38"/>
          <p:cNvSpPr/>
          <p:nvPr/>
        </p:nvSpPr>
        <p:spPr>
          <a:xfrm>
            <a:off x="6492240" y="2880360"/>
            <a:ext cx="5486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484632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— Tableau "Show Me" Panel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panel Show Me dengan 24 chart suggestions yang aktif/inaktif berdasarkan field yang dipilih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30</a:t>
            </a:r>
            <a:endParaRPr lang="en-US" sz="8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6E4D55E-678A-EF7C-A6D1-D8BC1568B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811" y="1335024"/>
            <a:ext cx="3769989" cy="33169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5  ·  HANDS-ON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Names, Values &amp; Dual Axis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NAMES &amp; VALUES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khusus yang muncul otomatis. </a:t>
            </a: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Names</a:t>
            </a: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label/header dari semua measure. </a:t>
            </a: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Values</a:t>
            </a: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nilai numerik yang dapat ditampilkan bersama dalam satu view (mis. Sales + Profit + Discount).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AXIS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Membandingkan dua measure dengan dua skala independen pada satu view. Contoh: Sales (bar) + Profit (line).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95020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Bandingkan dua metrik berskala beda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415137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777240" y="40873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Kombinasi mark types (bar + line)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4352544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777240" y="42885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aktual vs target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2423160"/>
            <a:ext cx="54864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6510528" y="2514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6400800" y="2834640"/>
            <a:ext cx="5486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66344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— Dual Axis Chart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dual axis Tableau: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(bar) + Profit (line) per Month dengan dua sumbu 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30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62CF931-5DF8-703C-BFB2-D425B9632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39" y="1455312"/>
            <a:ext cx="4023359" cy="31578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5  ·  HANDS-ON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Fields &amp; Quick Calculations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FIELDS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baru yang dibuat berdasarkan formula </a:t>
            </a:r>
            <a:r>
              <a:rPr lang="en-US" sz="1050" dirty="0" err="1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kustom</a:t>
            </a: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memungkinkan transformasi data, business logic, dan operasi matematis tanpa mengubah sumber data.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PEMBUATAN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› Create Calculated Field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Beri nama field yang deskriptif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Tulis formula menggunakan editor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&amp; gunakan di visualisasi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TABLE CALCULATIONS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Kalkulasi siap-pakai untuk analisis umum tanpa menulis formula manual.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Total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Akumulasi kumulatif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505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505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Selisih antar nilai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 Difference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Persentase perubahan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127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 of Total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3127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dari total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3438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3438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Peringkat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Average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Rata-rata bergerak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4059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YTD Total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year-to-date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30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5  ·  HANDS-ON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Lines, Bands &amp; Trend Lines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Garis horizontal/vertikal yang menandai nilai spesifik (rata-rata, median, target).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57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UNTUK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Mengkontekstualisasi data dengan benchmark.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517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342900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Band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 antara dua nilai (Band From &amp; Band To) yang mewakili rentang penting.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3063240"/>
            <a:ext cx="457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3429000" y="3154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UNTUK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Menandai zona kinerja: ideal, peringatan, kritis.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6035040" y="1371600"/>
            <a:ext cx="265176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621792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Garis fit yang merepresentasikan pola umum data  mendukung 5 model: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32320" y="2743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Hubungan garis lurus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Logarithmic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32320" y="3035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Laju perubahan menurun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33284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Exponential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32320" y="3328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Pertumbuhan cepat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0" y="36210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Pertumbuhan proporsional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3913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Polynomial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32320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 berkelok, derajat dapat diatur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/ 30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6  · 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Dashboard, Actions &amp; Publishing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Membangun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 "New Dashboard" di bawah workbook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14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Drag worksheet dari panel kiri ke kanvas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Atur layout: Tiled atau Floating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Tambahkan objects: Text, Image, Web Page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886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Sesuaikan size: Fixed, Range, Automatic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12801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342900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INTERACT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Actions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2221992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36118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View memfilter view lain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260604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361188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</a:t>
            </a: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Sorot data terkait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29000" y="299008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361188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</a:t>
            </a: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Link ke halaman web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337413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3611880" y="32552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to Sheet</a:t>
            </a: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Navigasi antar sheet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29000" y="3758184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361188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</a:t>
            </a: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Update nilai parameter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29000" y="4142232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361188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</a:t>
            </a: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Modifikasi anggota set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62179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SHARE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Online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2103120"/>
            <a:ext cx="274320" cy="2743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621792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8368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workbook di Tableau Desktop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2560320"/>
            <a:ext cx="274320" cy="2743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Text 42"/>
          <p:cNvSpPr/>
          <p:nvPr/>
        </p:nvSpPr>
        <p:spPr>
          <a:xfrm>
            <a:off x="62179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8368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 ke Tableau Server / Cloud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3017520"/>
            <a:ext cx="274320" cy="2743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Text 45"/>
          <p:cNvSpPr/>
          <p:nvPr/>
        </p:nvSpPr>
        <p:spPr>
          <a:xfrm>
            <a:off x="621792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8368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project dan atur permissions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3474720"/>
            <a:ext cx="274320" cy="2743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0" name="Text 48"/>
          <p:cNvSpPr/>
          <p:nvPr/>
        </p:nvSpPr>
        <p:spPr>
          <a:xfrm>
            <a:off x="621792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58368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Konfigurasi data source authentication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3931920"/>
            <a:ext cx="274320" cy="2743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3" name="Text 51"/>
          <p:cNvSpPr/>
          <p:nvPr/>
        </p:nvSpPr>
        <p:spPr>
          <a:xfrm>
            <a:off x="621792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58368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Publish untuk finalisasi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/ 30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6  · 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Storytelling Principles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yang baik bukan </a:t>
            </a:r>
            <a:r>
              <a:rPr lang="en-US" sz="1250" i="1" dirty="0" err="1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kumpulan</a:t>
            </a:r>
            <a:r>
              <a:rPr lang="en-US" sz="1250" i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chart,  </a:t>
            </a:r>
            <a:r>
              <a:rPr lang="en-US" sz="1250" i="1" dirty="0" err="1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tapi</a:t>
            </a:r>
            <a:r>
              <a:rPr lang="en-US" sz="1250" i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adalah cerita data yang memandu audiens dari pertanyaan ke insight ke keputusan.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FRAMEWORK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852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Tetapkan konteks dan KPI utama. Apa yang sedang kita lihat?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60604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3474720" y="283464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852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Soroti anomali, deviasi, atau pertanyaan kritis yang muncul dari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60604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6263640" y="283464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2852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Tawarkan insight, rekomendasi, atau langkah tindak lanjut yang konkret.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praktis: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Annotation </a:t>
            </a: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(beri konteks pada data point penting)  ·  </a:t>
            </a: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hierarchy </a:t>
            </a: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(satu warna dominan untuk fokus)  ·  </a:t>
            </a:r>
            <a:r>
              <a:rPr lang="en-US" sz="10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flow </a:t>
            </a: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(susun chart dari overview ke detail)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/ 30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6  ·  USE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Performance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0" y="2423160"/>
            <a:ext cx="54864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3035808" y="2514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5486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Tableau berbasis Sample Superstore: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cards, revenue trend, profit by segment,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geographic performance, monthly comparison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 ·  KEUANGAN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Performance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Memantau kinerja keuangan menyeluruh dalam satu </a:t>
            </a:r>
            <a:r>
              <a:rPr lang="en-US" sz="95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layar</a:t>
            </a: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dari KPI agregat hingga rincian segmen.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2788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UTAMA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3154680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626364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cards: Sales, Profit, Margin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344728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263640" y="3355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trend (line + reference)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373989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6263640" y="3648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by category (bar)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4032504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263640" y="39410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Geographic map (choropleth)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4325112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6263640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YoY comparison (dual axis)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/ 30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3C3ED57-CE4E-F364-2ED1-E75080646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30349"/>
            <a:ext cx="5486400" cy="36488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6  ·  USE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Analytics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0" y="2423160"/>
            <a:ext cx="54864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3035808" y="2514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5486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audit dengan: Benford's Law analysis,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journal entry red flag testing,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segregation of duties violation, weekend posting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 ·  AUDIT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Analytics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Mendeteksi anomali, pengecualian, dan red flag dalam </a:t>
            </a:r>
            <a:r>
              <a:rPr lang="en-US" sz="95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populasi</a:t>
            </a: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transaksi</a:t>
            </a: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fondasi continuous auditing.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2788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UTAMA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3154680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626364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Benford's Law analysis (digit 1)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344728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263640" y="3355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Journal entry testing (round numbers)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373989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6263640" y="3648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Posting time anomaly (weekend/late)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4032504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263640" y="39410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Segregation of duties violations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4325112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6263640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Materiality threshold exceptions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/ 30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CAE0DC1-1C94-DAD5-4C3B-ECF3440B7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59" y="1280160"/>
            <a:ext cx="5496249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6  ·  USE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Compliance Monitoring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0" y="2423160"/>
            <a:ext cx="54864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3035808" y="2514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5486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pemantauan kepatuhan pajak: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revenue trend by sector,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rate, dispute resolution status,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filing timeliness heatmap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 ·  PAJAK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Compliance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Memantau kepatuhan dan kinerja perpajakan secara agregat dan per-segmen — alat strategis bagi otoritas dan perusahaan.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2788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UTAMA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3154680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626364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revenue trend per sektor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344728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263640" y="3355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rate per kategori WP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373989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6263640" y="3648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Dispute resolution status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4032504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263640" y="39410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Filing timeliness heatmap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4325112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6263640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coverage &amp; risk score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TM9  ·  Fundamental Data Visualization with Tableau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/ 30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A061CCD-47BF-AEFB-0E43-B6A5238B2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69" y="1207853"/>
            <a:ext cx="5276703" cy="343645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PENUTUP TM9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Refleksi · Tugas · Diskusi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A2A4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Tiga Pertanyaan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457200" cy="2743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685800" y="2907792"/>
            <a:ext cx="54864" cy="5486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Visualisasi seperti apa yang paling bermakna bagi konteks pekerjaan Anda?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319272"/>
            <a:ext cx="54864" cy="5486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Prinsip Tufte mana yang paling sering Anda lihat dilanggar dalam praktik?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3730752"/>
            <a:ext cx="54864" cy="5486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Anda akan menggunakan Tableau untuk pengambilan keputusan?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8288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A2A4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TUGASMANDIRI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Project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74720" y="2743200"/>
            <a:ext cx="457200" cy="2743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3474720" y="2907792"/>
            <a:ext cx="54864" cy="5486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3611880" y="2834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dataset Sample Superstore yang tersedia di Tableau.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3319272"/>
            <a:ext cx="54864" cy="5486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3611880" y="3246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Bangun dashboard 1 halaman dengan minimal 3 view berbeda.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3730752"/>
            <a:ext cx="54864" cy="5486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3611880" y="3657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Terapkan minimal satu calculated field dan satu dashboard action.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4142232"/>
            <a:ext cx="54864" cy="5486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3611880" y="4069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Akan di </a:t>
            </a:r>
            <a:r>
              <a:rPr lang="en-US" sz="900" dirty="0" err="1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cek</a:t>
            </a: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dirty="0" err="1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secara</a:t>
            </a: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dirty="0" err="1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acak</a:t>
            </a: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pada TM10.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8288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A2A4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62636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DISKUSI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63640" y="2743200"/>
            <a:ext cx="457200" cy="2743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6263640" y="2907792"/>
            <a:ext cx="54864" cy="5486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6400800" y="2834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tentang konsep visualisasi dan prinsip desain.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3319272"/>
            <a:ext cx="54864" cy="5486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6400800" y="3246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Klarifikasi mekanisme spesifik di Tableau Desktop.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3730752"/>
            <a:ext cx="54864" cy="5486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6400800" y="3657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Diskusi terbuka tentang penerapan di domain akuntansi &amp; audit.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Terima kasih atas partisipasi dan diskusi yang berkualitas.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BC825-5EB6-6EB0-AF65-11B62B1A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E2DD6E-3560-F3D0-B58B-93D8BFB20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93" b="22011"/>
          <a:stretch/>
        </p:blipFill>
        <p:spPr>
          <a:xfrm>
            <a:off x="411480" y="647700"/>
            <a:ext cx="8031480" cy="2486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CD65B5-87F9-E726-5067-FD573570B3A3}"/>
              </a:ext>
            </a:extLst>
          </p:cNvPr>
          <p:cNvSpPr txBox="1"/>
          <p:nvPr/>
        </p:nvSpPr>
        <p:spPr>
          <a:xfrm>
            <a:off x="2680644" y="2878997"/>
            <a:ext cx="5340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Aptos" panose="020B0004020202020204" pitchFamily="34" charset="0"/>
                <a:ea typeface="Codec Pro Bold"/>
                <a:cs typeface="Arial" panose="020B0604020202020204" pitchFamily="34" charset="0"/>
                <a:sym typeface="Codec Pro Bold"/>
              </a:rPr>
              <a:t>Thanks for Your </a:t>
            </a:r>
          </a:p>
          <a:p>
            <a:r>
              <a:rPr lang="en-US" sz="3600" b="1" dirty="0">
                <a:solidFill>
                  <a:schemeClr val="accent1"/>
                </a:solidFill>
                <a:latin typeface="Aptos" panose="020B0004020202020204" pitchFamily="34" charset="0"/>
                <a:ea typeface="Codec Pro Bold"/>
                <a:cs typeface="Arial" panose="020B0604020202020204" pitchFamily="34" charset="0"/>
                <a:sym typeface="Codec Pro Bold"/>
              </a:rPr>
              <a:t>Participation</a:t>
            </a:r>
          </a:p>
        </p:txBody>
      </p:sp>
    </p:spTree>
    <p:extLst>
      <p:ext uri="{BB962C8B-B14F-4D97-AF65-F5344CB8AC3E}">
        <p14:creationId xmlns:p14="http://schemas.microsoft.com/office/powerpoint/2010/main" val="214848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2986</Words>
  <Application>Microsoft Office PowerPoint</Application>
  <PresentationFormat>On-screen Show (16:9)</PresentationFormat>
  <Paragraphs>658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MAKSI UPNVJ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TM9 - Fundamental Data Visualization with Tableau</dc:title>
  <dc:subject>PptxGenJS Presentation</dc:subject>
  <dc:creator>Dr. Donny Maha Putra</dc:creator>
  <cp:lastModifiedBy>Donny Maha Putra</cp:lastModifiedBy>
  <cp:revision>2</cp:revision>
  <dcterms:created xsi:type="dcterms:W3CDTF">2026-05-01T08:50:09Z</dcterms:created>
  <dcterms:modified xsi:type="dcterms:W3CDTF">2026-05-02T01:55:26Z</dcterms:modified>
</cp:coreProperties>
</file>