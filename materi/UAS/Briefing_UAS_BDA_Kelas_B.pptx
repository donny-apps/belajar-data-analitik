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00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Pembuka. Hari ini briefing project akhir semester. Tegaskan ini project, dikumpulkan 27 Juni, bukan ujian tulis 100 menit di kelas.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kalimat inti: tiap kelompok bangun project visualisasi dari satu dataset yang sama. Angka kunci di bawah jadi pegangan.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Logistik. Tekankan: dikerjakan kelompok tapi diunggah individual via LEADS. Deadline 27 Juni 23.59.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kemampuan yang diuji. Tekankan poin terakhir: yang dinilai bukan teknis Tableau semata, tapi cara berpikir analitis dan kualitas rekomendasi.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dataset untuk seluruh kelas. Tekankan dimensi Payment_Mode dan Order_Status yang tidak ada di Superstore, membuka analisis lebih kaya. Jangan ubah nama kolom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Tiap kelompok punya sudut pandang dan audiens simulasi berbeda. Minta tiap kelompok catat barisnya. Semua analisis harus konsisten dengan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output saling terintegrasi. Tekankan: tiap dashboard TEPAT 4 visualisasi, Dashboard 2 beda perspektif. Presentasi 10 sampai 15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 laporan 8 bab. Bab 4 dan 5 analisis tiap dashboard, Bab 6 Story, Bab 7 rekomendasi (pembeda kelompok unggul). Minimal 5 referensi APA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Aturan teknis yang sering dilanggar: tepat 4 viz per dashboard, judul harus mencerminkan insight bukan nama field, warna konsisten, Story point terakhir wajib rekomendasi.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laporan Cambria 11pt spasi 1.5. Presentasi font Aptos, aksen navy dan teal. Nama file wajib KLP[NN]_Nama_Laporan.pdf. Tegaskan publikasi Tableau Public harus bisa diakses tanpa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Bobot. Tekankan keras: Rekomendasi Strategis 20% adalah kunci. Yang dinilai ketajaman rekomendasi, bukan keindahan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paling penting. AI generatif untuk menulis laporan/presentasi DILARANG keras. Dicek GPTZero/Turnitin. Di atas 30% AI kena sanksi. Boleh: Tableau, search engine, grammar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Deadline keras 27 Juni 23.59. Telat dikurangi 5 poin per jam. Link Tableau Public di halaman 1 laporan dan slide 1 presentasi. Tiap mahasiswa unggah sendiri di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pesan inti. Yang dinilai bukan keindahan visual, tapi ketajaman rekomendasi. Selamat mengerjakan.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14300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657350" y="1209675"/>
            <a:ext cx="33029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Data Analytics · Kelas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229808"/>
            <a:ext cx="489004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UAS SEMESTER GENAP 2025/2026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763208"/>
            <a:ext cx="16678275" cy="1903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200" b="1" kern="0" spc="-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 Project Akhir Semester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47750" y="5933242"/>
            <a:ext cx="10791825" cy="979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Visualisasi data interaktif dengan Tableau, dari satu dataset e-commerce sampai rekomendasi strategis.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47750" y="8522970"/>
            <a:ext cx="161925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047750" y="8816340"/>
            <a:ext cx="250150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Donny Maha Putra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930253" y="8816340"/>
            <a:ext cx="219039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Sabtu, 27 Juni 2026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501646" y="8816340"/>
            <a:ext cx="296677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Sifat: Project · Bobot 100%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GAMBARAN PROJECT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3735050" cy="12091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kelompok membangun satu project visualisasi data dari awal sampai rekomendasi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691289"/>
            <a:ext cx="1353883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Membaca data, membangun visualisasi yang bermakna, menyusun dashboard interaktif, dan merumuskan rekomendasi bisnis berbasis temuan visual.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7284720"/>
            <a:ext cx="3910013" cy="2202180"/>
          </a:xfrm>
          <a:prstGeom prst="roundRect">
            <a:avLst>
              <a:gd name="adj" fmla="val 692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1276350" y="7608570"/>
            <a:ext cx="33601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1276350" y="8522970"/>
            <a:ext cx="336018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bersama untuk seluruh kelas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110163" y="7284720"/>
            <a:ext cx="3910013" cy="2202180"/>
          </a:xfrm>
          <a:prstGeom prst="roundRect">
            <a:avLst>
              <a:gd name="adj" fmla="val 692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434013" y="7608570"/>
            <a:ext cx="33601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950" dirty="0"/>
          </a:p>
        </p:txBody>
      </p:sp>
      <p:sp>
        <p:nvSpPr>
          <p:cNvPr id="10" name="Text 8"/>
          <p:cNvSpPr/>
          <p:nvPr/>
        </p:nvSpPr>
        <p:spPr>
          <a:xfrm>
            <a:off x="5434013" y="8522970"/>
            <a:ext cx="336018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Kelompok, masing-masing use case berbeda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267825" y="7284720"/>
            <a:ext cx="3910013" cy="2202180"/>
          </a:xfrm>
          <a:prstGeom prst="roundRect">
            <a:avLst>
              <a:gd name="adj" fmla="val 692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9591675" y="7608570"/>
            <a:ext cx="33601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950" dirty="0"/>
          </a:p>
        </p:txBody>
      </p:sp>
      <p:sp>
        <p:nvSpPr>
          <p:cNvPr id="13" name="Text 11"/>
          <p:cNvSpPr/>
          <p:nvPr/>
        </p:nvSpPr>
        <p:spPr>
          <a:xfrm>
            <a:off x="9591675" y="8522970"/>
            <a:ext cx="336018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wajib yang saling terintegrasi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3425488" y="7284720"/>
            <a:ext cx="3910013" cy="2202180"/>
          </a:xfrm>
          <a:prstGeom prst="roundRect">
            <a:avLst>
              <a:gd name="adj" fmla="val 692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3749338" y="7608570"/>
            <a:ext cx="336018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9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4950" dirty="0"/>
          </a:p>
        </p:txBody>
      </p:sp>
      <p:sp>
        <p:nvSpPr>
          <p:cNvPr id="16" name="Text 14"/>
          <p:cNvSpPr/>
          <p:nvPr/>
        </p:nvSpPr>
        <p:spPr>
          <a:xfrm>
            <a:off x="13749338" y="8522970"/>
            <a:ext cx="3360182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Bobot terbesar: rekomendasi strategis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INFORMASI UJIAN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 perlu kalian catat lebih dulu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47067"/>
            <a:ext cx="5283161" cy="1935480"/>
          </a:xfrm>
          <a:prstGeom prst="roundRect">
            <a:avLst>
              <a:gd name="adj" fmla="val 7874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322070" y="261663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Mata Kuliah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2070" y="301668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Data Analytics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22070" y="3485317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AKT120406 · 2 SKS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02361" y="2247067"/>
            <a:ext cx="5283161" cy="1935480"/>
          </a:xfrm>
          <a:prstGeom prst="roundRect">
            <a:avLst>
              <a:gd name="adj" fmla="val 7874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6871931" y="261663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Hari &amp; Waktu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1931" y="301668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Sabtu, 27 Juni 2026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71931" y="3485317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08.50 WIB · daring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52221" y="2247067"/>
            <a:ext cx="5283161" cy="1935480"/>
          </a:xfrm>
          <a:prstGeom prst="roundRect">
            <a:avLst>
              <a:gd name="adj" fmla="val 7874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2421791" y="261663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Sifat Ujian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21791" y="301668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Kelompok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2421791" y="3485317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Bobot 100%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4449247"/>
            <a:ext cx="5283161" cy="1935480"/>
          </a:xfrm>
          <a:prstGeom prst="roundRect">
            <a:avLst>
              <a:gd name="adj" fmla="val 7874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322070" y="481881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2070" y="521886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Public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22070" y="5687496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atau Tableau Desktop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502361" y="4449247"/>
            <a:ext cx="5283161" cy="1935480"/>
          </a:xfrm>
          <a:prstGeom prst="roundRect">
            <a:avLst>
              <a:gd name="adj" fmla="val 7874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6871931" y="481881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Pengumpulan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1931" y="521886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LEADS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71931" y="5687496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unggah individual tiap mahasiswa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2052221" y="4449247"/>
            <a:ext cx="5283161" cy="1935480"/>
          </a:xfrm>
          <a:prstGeom prst="roundRect">
            <a:avLst>
              <a:gd name="adj" fmla="val 7874"/>
            </a:avLst>
          </a:prstGeom>
          <a:solidFill>
            <a:srgbClr val="1E3A5F"/>
          </a:solidFill>
          <a:ln w="762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12421791" y="4818817"/>
            <a:ext cx="46803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Batas Akhir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21791" y="5218867"/>
            <a:ext cx="468034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Juni 2026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12421791" y="5687496"/>
            <a:ext cx="4680341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pukul 23.59 WIB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TUJUAN PROJECT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Enam kemampuan yang dilatih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08967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600200" y="2208967"/>
            <a:ext cx="747579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Memahami struktur dan dimensi dataset yang diberikan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429750" y="2208967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077450" y="2208967"/>
            <a:ext cx="747579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Merumuskan business question yang tajam sesuai use case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52500" y="3234809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600200" y="3234809"/>
            <a:ext cx="747579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Membangun visualisasi yang tepat teknis dan bermakna analitis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429750" y="3234809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077450" y="3234809"/>
            <a:ext cx="747579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Menyusun 2 dashboard interaktif yang saling melengkapi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952500" y="4260652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00200" y="4260652"/>
            <a:ext cx="5458702" cy="436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Merangkai 1 Tableau Story yang koheren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9429750" y="4260652"/>
            <a:ext cx="5143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077450" y="4260652"/>
            <a:ext cx="747579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3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Merumuskan rekomendasi strategis yang dapat ditindaklanjuti</a:t>
            </a:r>
            <a:endParaRPr lang="en-US" sz="2325" dirty="0"/>
          </a:p>
        </p:txBody>
      </p:sp>
      <p:sp>
        <p:nvSpPr>
          <p:cNvPr id="16" name="Shape 14"/>
          <p:cNvSpPr/>
          <p:nvPr/>
        </p:nvSpPr>
        <p:spPr>
          <a:xfrm>
            <a:off x="952500" y="8115300"/>
            <a:ext cx="16383000" cy="13716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1348740" y="8401050"/>
            <a:ext cx="1611317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Yang diuji bukan keterampilan teknis Tableau semata, melainkan cara berpikir analitis, judgment memilih visualisasi, dan kualitas rekomendasi.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Sales 2024-2025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1885117"/>
            <a:ext cx="1687449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transaksi e-commerce dua tahun penuh, sumber Kaggle, format CSV. Sama untuk seluruh Kelas B.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2669977"/>
            <a:ext cx="858195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Enam dimensi utama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169087"/>
            <a:ext cx="15049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Waktu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533650" y="3169087"/>
            <a:ext cx="1422559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Order_Date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3660577"/>
            <a:ext cx="15049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533650" y="3660577"/>
            <a:ext cx="219622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Region, State, City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4152067"/>
            <a:ext cx="15049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33650" y="4152067"/>
            <a:ext cx="4829097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Category, Sub_Category, Product_Name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4643557"/>
            <a:ext cx="15049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Pelanggan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33650" y="4643557"/>
            <a:ext cx="451233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Customer_Segment, Customer_Name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52500" y="5135046"/>
            <a:ext cx="15049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Finansial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533650" y="5135046"/>
            <a:ext cx="44697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Profit, Discount, Shipping_Cost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5626537"/>
            <a:ext cx="157460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Operasional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603302" y="5626537"/>
            <a:ext cx="6229949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Ship_Mode, Payment_Mode, Order_Status, Quantity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60744" y="2669977"/>
            <a:ext cx="7574756" cy="6816923"/>
          </a:xfrm>
          <a:prstGeom prst="roundRect">
            <a:avLst>
              <a:gd name="adj" fmla="val 251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10160794" y="4236720"/>
            <a:ext cx="697789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Periode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0160794" y="4526280"/>
            <a:ext cx="69778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 hingga 2025 (2 tahun)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160794" y="5177790"/>
            <a:ext cx="697789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0160794" y="5467350"/>
            <a:ext cx="69778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CSV, langsung kompatibel Tableau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160794" y="6118860"/>
            <a:ext cx="697789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Lisensi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0160794" y="6408420"/>
            <a:ext cx="697789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/ Open (Kaggle)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160794" y="7059930"/>
            <a:ext cx="6774656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10160794" y="7277100"/>
            <a:ext cx="6977896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Penting: jangan ubah nama kolom asli. Pakai nama kolom asli di semua visualisasi.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PEMBAGIAN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082040"/>
            <a:ext cx="16874490" cy="55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per kelompok, audiens berbeda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52500" y="1844754"/>
            <a:ext cx="16383000" cy="15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952500" y="243149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1066800" y="1993344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43149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2400300" y="1993344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312360" y="243149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10426660" y="1993344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Audiens Simulasi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299156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066800" y="256293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KLP01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286000" y="299156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2400300" y="256293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&amp; Profit Trend Analysis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312360" y="299156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10426660" y="256293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Financial Officer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355163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1066800" y="312300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286000" y="355163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2400300" y="312300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Category Performance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312360" y="355163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10426660" y="312300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Product / Category Manager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4111705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1066800" y="3683080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86000" y="4111705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2400300" y="3683080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Sales Performance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312360" y="4111705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10426660" y="3683080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Regional Ops / VP Sales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52500" y="467177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1066800" y="424314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286000" y="467177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2400300" y="424314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 Behaviour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312360" y="467177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10426660" y="424314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Marketing / CRM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2500" y="523184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1066800" y="480321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286000" y="523184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2400300" y="480321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 Impact &amp; Pricing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312360" y="523184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0" name="Text 38"/>
          <p:cNvSpPr/>
          <p:nvPr/>
        </p:nvSpPr>
        <p:spPr>
          <a:xfrm>
            <a:off x="10426660" y="480321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CFO / Head of Pricing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52500" y="579191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40"/>
          <p:cNvSpPr/>
          <p:nvPr/>
        </p:nvSpPr>
        <p:spPr>
          <a:xfrm>
            <a:off x="1066800" y="536328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286000" y="579191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2400300" y="536328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&amp; Fulfilment Efficiency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312360" y="579191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6" name="Text 44"/>
          <p:cNvSpPr/>
          <p:nvPr/>
        </p:nvSpPr>
        <p:spPr>
          <a:xfrm>
            <a:off x="10426660" y="536328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Operations / Supply Chain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52500" y="635198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8" name="Text 46"/>
          <p:cNvSpPr/>
          <p:nvPr/>
        </p:nvSpPr>
        <p:spPr>
          <a:xfrm>
            <a:off x="1066800" y="592335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KLP07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286000" y="635198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Text 48"/>
          <p:cNvSpPr/>
          <p:nvPr/>
        </p:nvSpPr>
        <p:spPr>
          <a:xfrm>
            <a:off x="2400300" y="592335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Mode &amp; Transaction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312360" y="635198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2" name="Text 50"/>
          <p:cNvSpPr/>
          <p:nvPr/>
        </p:nvSpPr>
        <p:spPr>
          <a:xfrm>
            <a:off x="10426660" y="592335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Finance / Chief Accounting Officer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52500" y="6912054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4" name="Text 52"/>
          <p:cNvSpPr/>
          <p:nvPr/>
        </p:nvSpPr>
        <p:spPr>
          <a:xfrm>
            <a:off x="1066800" y="6483429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KLP08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286000" y="6912054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6" name="Text 54"/>
          <p:cNvSpPr/>
          <p:nvPr/>
        </p:nvSpPr>
        <p:spPr>
          <a:xfrm>
            <a:off x="2400300" y="6483429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Status &amp; Fulfilment Quality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0312360" y="6912054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8" name="Text 56"/>
          <p:cNvSpPr/>
          <p:nvPr/>
        </p:nvSpPr>
        <p:spPr>
          <a:xfrm>
            <a:off x="10426660" y="6483429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of Customer Service / COO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952500" y="7472125"/>
            <a:ext cx="13335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0" name="Text 58"/>
          <p:cNvSpPr/>
          <p:nvPr/>
        </p:nvSpPr>
        <p:spPr>
          <a:xfrm>
            <a:off x="1066800" y="7043500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KLP09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2286000" y="7472125"/>
            <a:ext cx="8026361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2" name="Text 60"/>
          <p:cNvSpPr/>
          <p:nvPr/>
        </p:nvSpPr>
        <p:spPr>
          <a:xfrm>
            <a:off x="2400300" y="7043500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Profitability Leakage Detection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312360" y="7472125"/>
            <a:ext cx="702314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4" name="Text 62"/>
          <p:cNvSpPr/>
          <p:nvPr/>
        </p:nvSpPr>
        <p:spPr>
          <a:xfrm>
            <a:off x="10426660" y="7043500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Auditor / Chief Risk Officer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066800" y="7603570"/>
            <a:ext cx="1181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KLP10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2400300" y="7603570"/>
            <a:ext cx="80385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Business Health Dashboard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0426660" y="7603570"/>
            <a:ext cx="70052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/ Board / Investor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WAJIB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Lima hasil yang saling terintegrasi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08967"/>
            <a:ext cx="16383000" cy="1264920"/>
          </a:xfrm>
          <a:prstGeom prst="roundRect">
            <a:avLst>
              <a:gd name="adj" fmla="val 1054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276350" y="2624257"/>
            <a:ext cx="5905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057400" y="2456617"/>
            <a:ext cx="979873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1 (Tableau Public)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57400" y="2898577"/>
            <a:ext cx="979873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Tepat 4 visualisasi yang berkaitan, minimal 1 filter interaktif, layout dan warna konsisten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3645337"/>
            <a:ext cx="16383000" cy="1264920"/>
          </a:xfrm>
          <a:prstGeom prst="roundRect">
            <a:avLst>
              <a:gd name="adj" fmla="val 1054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276350" y="4060627"/>
            <a:ext cx="5905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057400" y="3892987"/>
            <a:ext cx="96215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2 (Tableau Public)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57400" y="4334947"/>
            <a:ext cx="962152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Tepat 4 visualisasi berbeda, perspektif analitis lain untuk business question yang sama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5081707"/>
            <a:ext cx="16383000" cy="1264920"/>
          </a:xfrm>
          <a:prstGeom prst="roundRect">
            <a:avLst>
              <a:gd name="adj" fmla="val 1054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276350" y="5496996"/>
            <a:ext cx="5905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057400" y="5329357"/>
            <a:ext cx="93364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Story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5771317"/>
            <a:ext cx="9336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Merangkai kedua dashboard, minimal 5 Story Points, ditutup rekomendasi strategis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6518077"/>
            <a:ext cx="16383000" cy="1264920"/>
          </a:xfrm>
          <a:prstGeom prst="roundRect">
            <a:avLst>
              <a:gd name="adj" fmla="val 1054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276350" y="6933367"/>
            <a:ext cx="5905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2057400" y="6765727"/>
            <a:ext cx="797454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Laporan Analitis (PDF)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57400" y="7207687"/>
            <a:ext cx="797454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Proses analisis, interpretasi, dan rekomendasi, mengikuti struktur 8 bab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7954446"/>
            <a:ext cx="16383000" cy="1264920"/>
          </a:xfrm>
          <a:prstGeom prst="roundRect">
            <a:avLst>
              <a:gd name="adj" fmla="val 1054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1276350" y="8369737"/>
            <a:ext cx="5905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2057400" y="8202096"/>
            <a:ext cx="647914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Presentasi (PDF)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057400" y="8644057"/>
            <a:ext cx="64791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Rangkuman temuan dan rekomendasi, 10 sampai 15 slide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STRUKTUR LAPORAN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Delapan bab, dari konteks ke rekomendasi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17086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0824" y="2170867"/>
            <a:ext cx="596837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Pendahuluan: konteks, dataset, business question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410700" y="217086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5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289024" y="2170867"/>
            <a:ext cx="554025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Analisis Dashboard 2 dan cara melengkapi D1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270045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30824" y="2700457"/>
            <a:ext cx="615146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Tinjauan teori visualisasi, minimal 5 referensi APA 7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410700" y="270045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89024" y="2700457"/>
            <a:ext cx="564547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Story: alur naratif dan justifikasi urutan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52500" y="323004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30824" y="3230047"/>
            <a:ext cx="3888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Pemahaman dan persiapan data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410700" y="323004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7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289024" y="3230047"/>
            <a:ext cx="658706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Sintesis dan rekomendasi strategis (pembeda utama)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375963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830824" y="3759637"/>
            <a:ext cx="466660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Analisis Dashboard 1 dan insight kunci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410700" y="3759637"/>
            <a:ext cx="78307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8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89024" y="3759637"/>
            <a:ext cx="509889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Kesimpulan, daftar referensi, dan lampiran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8141970"/>
            <a:ext cx="16383000" cy="1344930"/>
          </a:xfrm>
          <a:prstGeom prst="roundRect">
            <a:avLst>
              <a:gd name="adj" fmla="val 9915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1295400" y="8427720"/>
            <a:ext cx="16168116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Bab 7 adalah pembeda utama antara kelompok biasa dan kelompok unggul: minimal 3 rekomendasi yang spesifik, terukur, dan dapat ditindaklanjuti.</a:t>
            </a:r>
            <a:endParaRPr lang="en-US" sz="21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VISUALISASI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Ketentuan teknis yang wajib dipatuhi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08967"/>
            <a:ext cx="8086725" cy="1344930"/>
          </a:xfrm>
          <a:prstGeom prst="roundRect">
            <a:avLst>
              <a:gd name="adj" fmla="val 991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283970" y="2502337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Tepat 4 visualisasi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83970" y="293286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dashboard, tidak lebih dan tidak kurang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48775" y="2208967"/>
            <a:ext cx="8086725" cy="1344930"/>
          </a:xfrm>
          <a:prstGeom prst="roundRect">
            <a:avLst>
              <a:gd name="adj" fmla="val 991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9580245" y="2502337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Judul mencerminkan insight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80245" y="293286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Bukan sekadar nama field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3763447"/>
            <a:ext cx="8086725" cy="1344930"/>
          </a:xfrm>
          <a:prstGeom prst="roundRect">
            <a:avLst>
              <a:gd name="adj" fmla="val 991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283970" y="4056817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1 filter interaktif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83970" y="448734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Filter atau Parameter yang berfungsi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48775" y="3763447"/>
            <a:ext cx="8086725" cy="1344930"/>
          </a:xfrm>
          <a:prstGeom prst="roundRect">
            <a:avLst>
              <a:gd name="adj" fmla="val 991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9580245" y="4056817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Warna konsisten dan tooltip jelas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80245" y="448734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Warna sama mewakili entitas yang sama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5317927"/>
            <a:ext cx="8086725" cy="1344930"/>
          </a:xfrm>
          <a:prstGeom prst="roundRect">
            <a:avLst>
              <a:gd name="adj" fmla="val 991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283970" y="5611296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 minimal 5 Story Points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83970" y="604182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Tiap point punya caption naratif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48775" y="5317927"/>
            <a:ext cx="8086725" cy="1344930"/>
          </a:xfrm>
          <a:prstGeom prst="roundRect">
            <a:avLst>
              <a:gd name="adj" fmla="val 9915"/>
            </a:avLst>
          </a:prstGeom>
          <a:solidFill>
            <a:srgbClr val="F0FDFA"/>
          </a:solidFill>
          <a:ln w="762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580245" y="5611296"/>
            <a:ext cx="764649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 point terakhir = rekomendasi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80245" y="6041827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Berbasis data, bukan kesimpulan deskriptif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&amp; PENAMAAN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 penulisan dan nama file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08967"/>
            <a:ext cx="8058150" cy="5140523"/>
          </a:xfrm>
          <a:prstGeom prst="roundRect">
            <a:avLst>
              <a:gd name="adj" fmla="val 296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303020" y="2559487"/>
            <a:ext cx="757782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Laporan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03020" y="3104317"/>
            <a:ext cx="7577824" cy="1786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Cambria 11 pt Spasi 1,5 · margin 1 inci Nomor halaman tengah bawah Ekspor akhir: PDF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277350" y="2208967"/>
            <a:ext cx="8058150" cy="5140523"/>
          </a:xfrm>
          <a:prstGeom prst="roundRect">
            <a:avLst>
              <a:gd name="adj" fmla="val 2965"/>
            </a:avLst>
          </a:prstGeom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9627870" y="2559487"/>
            <a:ext cx="757782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Presentasi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27870" y="3104317"/>
            <a:ext cx="7577824" cy="1786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Font Aptos · slide 16:9 10 sampai 15 slide Aksen navy dan teal Ekspor akhir: PDF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7635240"/>
            <a:ext cx="16383000" cy="1851660"/>
          </a:xfrm>
          <a:prstGeom prst="roundRect">
            <a:avLst>
              <a:gd name="adj" fmla="val 823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333500" y="7959090"/>
            <a:ext cx="1608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nama file wajib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8397240"/>
            <a:ext cx="42073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KLP[NN]_[Nama]_Laporan.pdf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799297" y="8397240"/>
            <a:ext cx="46928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KLP[NN]_[Nama]_Presentasi.pdf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33500" y="8858250"/>
            <a:ext cx="160896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Contoh: KLP01_DindaFebia_Laporan.pdf · link Tableau Public harus bisa diakses tanpa login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BOBOT PENILAIAN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 mana nilai kalian ditentukan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71569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952500" y="2266117"/>
            <a:ext cx="480702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Pemahaman dataset &amp; business question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8387001" y="2266117"/>
            <a:ext cx="5950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382125" y="271569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9382125" y="2266117"/>
            <a:ext cx="368185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Interpretasi temuan (Bab 4 &amp; 5)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816626" y="2266117"/>
            <a:ext cx="5950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342054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952500" y="2970967"/>
            <a:ext cx="152471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1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8387001" y="2970967"/>
            <a:ext cx="5950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382125" y="342054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9382125" y="2970967"/>
            <a:ext cx="38146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Originalitas &amp; kedalaman insight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6964502" y="2970967"/>
            <a:ext cx="44719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412539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952500" y="3675817"/>
            <a:ext cx="152471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2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8387001" y="3675817"/>
            <a:ext cx="5950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382125" y="412539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9382125" y="3675817"/>
            <a:ext cx="27825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Kualitas laporan (APA 7)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6964502" y="3675817"/>
            <a:ext cx="44719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52500" y="483024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952500" y="4380667"/>
            <a:ext cx="158781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Story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8387001" y="4380667"/>
            <a:ext cx="59507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9382125" y="4830247"/>
            <a:ext cx="7953375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9382125" y="4380667"/>
            <a:ext cx="335282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Kualitas PPT &amp; link berfungsi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6964502" y="4380667"/>
            <a:ext cx="447199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52500" y="8115300"/>
            <a:ext cx="16383000" cy="137160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1333500" y="8420100"/>
            <a:ext cx="822754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34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Rekomendasi Strategis (Bab 7)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33500" y="8862060"/>
            <a:ext cx="822754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634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Spesifik, berbasis data, actionable. Komponen kunci dengan bobot tertinggi.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5570755" y="8458200"/>
            <a:ext cx="14599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0634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ETIKA AKADEMIK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Integritas adalah pilar utama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189917"/>
            <a:ext cx="8048625" cy="5693926"/>
          </a:xfrm>
          <a:prstGeom prst="roundRect">
            <a:avLst>
              <a:gd name="adj" fmla="val 2677"/>
            </a:avLst>
          </a:prstGeom>
          <a:solidFill>
            <a:srgbClr val="EF4444">
              <a:alpha val="14000"/>
            </a:srgbClr>
          </a:solidFill>
          <a:ln w="7620">
            <a:solidFill>
              <a:srgbClr val="F871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283970" y="2521387"/>
            <a:ext cx="760725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Dilarang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83970" y="3031927"/>
            <a:ext cx="7607256" cy="1957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isi laporan atau presentasi dengan AI (ChatGPT, Claude, Gemini, dll) Parafrase otomatis berbasis AI Generate slide otomatis (Gamma, Tome, dll) Copy-paste antar kelompok tanpa sitasi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286875" y="2189917"/>
            <a:ext cx="8048625" cy="5693926"/>
          </a:xfrm>
          <a:prstGeom prst="roundRect">
            <a:avLst>
              <a:gd name="adj" fmla="val 2677"/>
            </a:avLst>
          </a:prstGeom>
          <a:solidFill>
            <a:srgbClr val="14B8A6">
              <a:alpha val="16000"/>
            </a:srgbClr>
          </a:solidFill>
          <a:ln w="7620">
            <a:solidFill>
              <a:srgbClr val="2DD4B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9618345" y="2521387"/>
            <a:ext cx="760725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Diperbolehkan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18345" y="3031927"/>
            <a:ext cx="7607256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Desktop atau Tableau Public Search engine (Google, Google Scholar) Grammar / spell checker untuk koreksi bahasa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2500" y="8169593"/>
            <a:ext cx="16383000" cy="1317308"/>
          </a:xfrm>
          <a:prstGeom prst="roundRect">
            <a:avLst>
              <a:gd name="adj" fmla="val 115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314450" y="8455343"/>
            <a:ext cx="16150590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Dipindai dengan AI Detection (GPTZero, Turnitin, ZeroGPT). Konten AI 30 sampai 50%: nilai laporan 0, remedial maksimum 70. Di atas 50%: nilai UAS 0 dan surat peringatan.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PENGUMPULAN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3490"/>
            <a:ext cx="1687449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dan cara mengumpulkan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208967"/>
            <a:ext cx="8401884" cy="7277934"/>
          </a:xfrm>
          <a:prstGeom prst="roundRect">
            <a:avLst>
              <a:gd name="adj" fmla="val 2356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371600" y="4684871"/>
            <a:ext cx="77905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D9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Batas akhir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084922"/>
            <a:ext cx="7790594" cy="60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Sabtu, 27 Juni 2026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371600" y="5707856"/>
            <a:ext cx="779059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pukul 23.59 WIB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371600" y="6466047"/>
            <a:ext cx="7563684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1371600" y="6683217"/>
            <a:ext cx="779059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Keterlambatan mengurangi nilai akhir 5 poin per jam.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697284" y="4525804"/>
            <a:ext cx="133350" cy="13335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0002084" y="4430554"/>
            <a:ext cx="6794803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Unggah via LEADS, setiap mahasiswa secara individual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697284" y="5083969"/>
            <a:ext cx="133350" cy="13335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10002084" y="4988719"/>
            <a:ext cx="5164747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 file: Laporan PDF dan Presentasi PDF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697284" y="5642134"/>
            <a:ext cx="105728" cy="13335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9974461" y="5546884"/>
            <a:ext cx="7581870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Cantumkan 3 link Tableau Public di halaman 1 laporan dan slide 1 presentasi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697284" y="6587014"/>
            <a:ext cx="131445" cy="13335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10000179" y="6491764"/>
            <a:ext cx="7555381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Uji semua link bisa diakses tanpa login sebelum dikumpulkan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418761"/>
            <a:ext cx="609600" cy="571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1047750" y="3856911"/>
            <a:ext cx="14519910" cy="2195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Nilai terbesar bukan pada visualisasi yang indah, melainkan pada ketajaman rekomendasi dari membaca data secara kritis.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6433781"/>
            <a:ext cx="16678275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Kelompok yang unggul mengubah visualisasi menjadi argumen bisnis yang meyakinkan. Selamat mengerjakan.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1483</Words>
  <Application>Microsoft Office PowerPoint</Application>
  <PresentationFormat>Custom</PresentationFormat>
  <Paragraphs>239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Donny M Putra</dc:creator>
  <cp:lastModifiedBy>Jafinbelva</cp:lastModifiedBy>
  <cp:revision>2</cp:revision>
  <dcterms:created xsi:type="dcterms:W3CDTF">2026-06-12T02:09:12Z</dcterms:created>
  <dcterms:modified xsi:type="dcterms:W3CDTF">2026-06-12T02:10:57Z</dcterms:modified>
</cp:coreProperties>
</file>