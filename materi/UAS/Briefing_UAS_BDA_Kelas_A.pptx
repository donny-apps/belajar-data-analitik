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106" y="2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7148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Sampaikan bahwa ini adalah briefing proyek akhir semester Big Data Analytics untuk Kelas A. Sifat ujian adalah project, dikerjakan kelompok, dengan dataset Global Superstore di Tableau.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inti proyek: ini bukan ujian keterampilan Tableau semata, tetapi cara berpikir analitis. Tiga gerakan besar: membaca data, membangun visualisasi, merumuskan rekomendasi.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Enam kemampuan konkret yang diharapkan. Tekankan kalimat penutup: kompetensi utama adalah berpikir analitis dan judgment, bukan teknis Tableau semata.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Global Superstore: 51.290 baris, 24 kolom, data transaksi ritel global. Lebih kaya dari Superstore standar yang dipakai saat pembelajaran. Mahasiswa harus memahami struktur secara mandiri.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kelompok mendapat use case berbeda. Use case menentukan empat hal: sudut pandang analitis, audiens simulasi, business question, dan fokus dashboard. Seluruh analisis wajib konsisten dengan use case.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Pembagian kelompok KLP01 sampai KLP05 beserta use case, audiens simulasi, dan anggota. Pastikan tiap mahasiswa tahu kelompoknya.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Pembagian kelompok KLP06 sampai KLP10. Lanjutan dari slide sebelumnya.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output yang saling terintegrasi. Dashboard 1, Dashboard 2, dan Story dipublikasikan di Tableau Public. Laporan dan Presentasi dikumpulkan PDF, diunggah individual via LEADS. Link Tableau wajib di halaman dan slide pertama.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teknis visualisasi. Tepat 4 visualisasi per dashboard. Tidak boleh dua viz identik dengan pertanyaan sama. Judul harus mencerminkan insight. Warna konsisten. Minimal satu dashboard punya filter interaktif. Story minimal 5 points dengan caption, diakhiri rekomendasi berbasis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langkah kerja teknis. Unduh CSV dari Kaggle, koneksikan ke Tableau dan pastikan tipe data benar, bangun visualisasi tanpa mengubah nama kolom asli, susun dua dashboard dan satu story, publikasikan ke Tableau Public dengan visibilitas Public. Uji link tanpa login sebelum dikumpulkan.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Struktur laporan kelompok dari cover sampai lampiran. Bab 7 Sintesis dan Rekomendasi Strategis adalah pembeda utama antara kelompok biasa dan kelompok unggul.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penekanan paling penting. Rekomendasi strategis adalah komponen dengan bobot tertinggi 20 persen dan menjadi pembeda utama. Rekomendasi harus spesifik, terukur, dan dapat ditindaklanjuti, minimal tiga di Bab 7.</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Pembeda kelompok biasa dan kelompok unggul. Kelompok biasa berhenti di deskripsi. Kelompok unggul mengubah visualisasi menjadi argumen bisnis yang menjawab so what dan now what.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Rubrik penilaian lengkap, total 100 persen. Rekomendasi strategis 20 persen adalah komponen tertinggi. Story dan kedua dashboard masing-masing 15 persen. Format laporan dan PPT masing-masing 5 persen.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Integritas akademik. Tableau, search engine, dan spell checker diperbolehkan. Generate narasi, parafrase otomatis, dan generate slide via AI dilarang keras. Laporan dipindai AI detection, di atas 30 persen kena sanksi: ringan nilai laporan 0 dan remedial maks 70, berat nilai UAS 0 dan surat peringatan.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laporan Cambria 11pt spasi 1,5 margin 1 inci. Format PPT font Aptos, putih dengan aksen navy dan teal, 10 sampai 15 slide. Penamaan file wajib. Deadline Sabtu 27 Juni 2026 pukul 23.59 WIB via LEADS, individual. Keterlambatan minus 5 poin per jam.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Ingatkan tiga hal kunci: rekomendasi adalah kunci, kerjakan jujur tanpa AI generatif, dan patuhi tenggat. Selamat mengerjakan.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01E"/>
        </a:solidFill>
        <a:effectLst/>
      </p:bgPr>
    </p:bg>
    <p:spTree>
      <p:nvGrpSpPr>
        <p:cNvPr id="1" name=""/>
        <p:cNvGrpSpPr/>
        <p:nvPr/>
      </p:nvGrpSpPr>
      <p:grpSpPr>
        <a:xfrm>
          <a:off x="0" y="0"/>
          <a:ext cx="0" cy="0"/>
          <a:chOff x="0" y="0"/>
          <a:chExt cx="0" cy="0"/>
        </a:xfrm>
      </p:grpSpPr>
      <p:sp>
        <p:nvSpPr>
          <p:cNvPr id="2" name="Text 0"/>
          <p:cNvSpPr/>
          <p:nvPr/>
        </p:nvSpPr>
        <p:spPr>
          <a:xfrm>
            <a:off x="1047750" y="914400"/>
            <a:ext cx="6328915" cy="342900"/>
          </a:xfrm>
          <a:prstGeom prst="rect">
            <a:avLst/>
          </a:prstGeom>
          <a:noFill/>
          <a:ln/>
        </p:spPr>
        <p:txBody>
          <a:bodyPr wrap="square" lIns="25400" tIns="25400" rIns="25400" bIns="25400" rtlCol="0" anchor="t">
            <a:normAutofit/>
          </a:bodyPr>
          <a:lstStyle/>
          <a:p>
            <a:pPr marL="0" indent="0" algn="l">
              <a:buNone/>
            </a:pPr>
            <a:r>
              <a:rPr lang="en-US" sz="1800" kern="0" spc="150" dirty="0">
                <a:solidFill>
                  <a:srgbClr val="F2F1EC">
                    <a:alpha val="66000"/>
                  </a:srgbClr>
                </a:solidFill>
                <a:latin typeface="Segoe UI" pitchFamily="34" charset="0"/>
                <a:ea typeface="Segoe UI" pitchFamily="34" charset="-122"/>
                <a:cs typeface="Segoe UI" pitchFamily="34" charset="-120"/>
              </a:rPr>
              <a:t>UPN Veteran Jakarta · Fakultas Ekonomi dan Bisnis</a:t>
            </a:r>
            <a:endParaRPr lang="en-US" sz="1800" dirty="0"/>
          </a:p>
        </p:txBody>
      </p:sp>
      <p:sp>
        <p:nvSpPr>
          <p:cNvPr id="3" name="Text 1"/>
          <p:cNvSpPr/>
          <p:nvPr/>
        </p:nvSpPr>
        <p:spPr>
          <a:xfrm>
            <a:off x="14997113" y="914400"/>
            <a:ext cx="2319338" cy="342900"/>
          </a:xfrm>
          <a:prstGeom prst="rect">
            <a:avLst/>
          </a:prstGeom>
          <a:noFill/>
          <a:ln/>
        </p:spPr>
        <p:txBody>
          <a:bodyPr wrap="square" lIns="25400" tIns="25400" rIns="25400" bIns="25400" rtlCol="0" anchor="t">
            <a:normAutofit/>
          </a:bodyPr>
          <a:lstStyle/>
          <a:p>
            <a:pPr marL="0" indent="0" algn="l">
              <a:buNone/>
            </a:pPr>
            <a:r>
              <a:rPr lang="en-US" sz="1800" kern="0" spc="150" dirty="0">
                <a:solidFill>
                  <a:srgbClr val="F2F1EC">
                    <a:alpha val="66000"/>
                  </a:srgbClr>
                </a:solidFill>
                <a:latin typeface="Segoe UI" pitchFamily="34" charset="0"/>
                <a:ea typeface="Segoe UI" pitchFamily="34" charset="-122"/>
                <a:cs typeface="Segoe UI" pitchFamily="34" charset="-120"/>
              </a:rPr>
              <a:t>Genap 2025 / 2026</a:t>
            </a:r>
            <a:endParaRPr lang="en-US" sz="1800" dirty="0"/>
          </a:p>
        </p:txBody>
      </p:sp>
      <p:sp>
        <p:nvSpPr>
          <p:cNvPr id="4" name="Text 2"/>
          <p:cNvSpPr/>
          <p:nvPr/>
        </p:nvSpPr>
        <p:spPr>
          <a:xfrm>
            <a:off x="1047750" y="2816423"/>
            <a:ext cx="16678275" cy="342900"/>
          </a:xfrm>
          <a:prstGeom prst="rect">
            <a:avLst/>
          </a:prstGeom>
          <a:noFill/>
          <a:ln/>
        </p:spPr>
        <p:txBody>
          <a:bodyPr wrap="square" lIns="25400" tIns="25400" rIns="25400" bIns="25400" rtlCol="0" anchor="t">
            <a:normAutofit/>
          </a:bodyPr>
          <a:lstStyle/>
          <a:p>
            <a:pPr marL="0" indent="0" algn="l">
              <a:buNone/>
            </a:pPr>
            <a:r>
              <a:rPr lang="en-US" sz="1800" b="1" kern="0" spc="300" dirty="0">
                <a:solidFill>
                  <a:srgbClr val="FFB29E"/>
                </a:solidFill>
                <a:latin typeface="Segoe UI" pitchFamily="34" charset="0"/>
                <a:ea typeface="Segoe UI" pitchFamily="34" charset="-122"/>
                <a:cs typeface="Segoe UI" pitchFamily="34" charset="-120"/>
              </a:rPr>
              <a:t>UJIAN AKHIR SEMESTER · BIG DATA ANALYTICS</a:t>
            </a:r>
            <a:endParaRPr lang="en-US" sz="1800" dirty="0"/>
          </a:p>
        </p:txBody>
      </p:sp>
      <p:sp>
        <p:nvSpPr>
          <p:cNvPr id="5" name="Text 3"/>
          <p:cNvSpPr/>
          <p:nvPr/>
        </p:nvSpPr>
        <p:spPr>
          <a:xfrm>
            <a:off x="1047750" y="3368873"/>
            <a:ext cx="14716125" cy="1903333"/>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7200" b="1" kern="0" spc="-112" dirty="0">
                <a:solidFill>
                  <a:srgbClr val="F2F1EC"/>
                </a:solidFill>
                <a:latin typeface="Segoe UI" pitchFamily="34" charset="0"/>
                <a:ea typeface="Segoe UI" pitchFamily="34" charset="-122"/>
                <a:cs typeface="Segoe UI" pitchFamily="34" charset="-120"/>
              </a:rPr>
              <a:t>Proyek Visualisasi Data dengan Tableau</a:t>
            </a:r>
            <a:endParaRPr lang="en-US" sz="7200" dirty="0"/>
          </a:p>
        </p:txBody>
      </p:sp>
      <p:sp>
        <p:nvSpPr>
          <p:cNvPr id="6" name="Shape 4"/>
          <p:cNvSpPr/>
          <p:nvPr/>
        </p:nvSpPr>
        <p:spPr>
          <a:xfrm>
            <a:off x="1047750" y="5557957"/>
            <a:ext cx="914400" cy="57150"/>
          </a:xfrm>
          <a:prstGeom prst="roundRect">
            <a:avLst>
              <a:gd name="adj" fmla="val 50000"/>
            </a:avLst>
          </a:prstGeom>
          <a:solidFill>
            <a:srgbClr val="F2654E"/>
          </a:solidFill>
          <a:ln/>
        </p:spPr>
        <p:txBody>
          <a:bodyPr/>
          <a:lstStyle/>
          <a:p>
            <a:endParaRPr lang="en-ID"/>
          </a:p>
        </p:txBody>
      </p:sp>
      <p:sp>
        <p:nvSpPr>
          <p:cNvPr id="7" name="Text 5"/>
          <p:cNvSpPr/>
          <p:nvPr/>
        </p:nvSpPr>
        <p:spPr>
          <a:xfrm>
            <a:off x="1047750" y="5938957"/>
            <a:ext cx="11380470" cy="10096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550" dirty="0">
                <a:solidFill>
                  <a:srgbClr val="F2F1EC">
                    <a:alpha val="78000"/>
                  </a:srgbClr>
                </a:solidFill>
                <a:latin typeface="Segoe UI" pitchFamily="34" charset="0"/>
                <a:ea typeface="Segoe UI" pitchFamily="34" charset="-122"/>
                <a:cs typeface="Segoe UI" pitchFamily="34" charset="-120"/>
              </a:rPr>
              <a:t>Membaca data, membangun dashboard yang bermakna, dan merumuskan rekomendasi strategis dari dataset Global Superstore.</a:t>
            </a:r>
            <a:endParaRPr lang="en-US" sz="2550" dirty="0"/>
          </a:p>
        </p:txBody>
      </p:sp>
      <p:sp>
        <p:nvSpPr>
          <p:cNvPr id="8" name="Shape 6"/>
          <p:cNvSpPr/>
          <p:nvPr/>
        </p:nvSpPr>
        <p:spPr>
          <a:xfrm>
            <a:off x="1047750" y="8507730"/>
            <a:ext cx="16192500" cy="9525"/>
          </a:xfrm>
          <a:prstGeom prst="rect">
            <a:avLst/>
          </a:prstGeom>
          <a:solidFill>
            <a:srgbClr val="F2F1EC">
              <a:alpha val="16000"/>
            </a:srgbClr>
          </a:solidFill>
          <a:ln/>
        </p:spPr>
        <p:txBody>
          <a:bodyPr/>
          <a:lstStyle/>
          <a:p>
            <a:endParaRPr lang="en-ID"/>
          </a:p>
        </p:txBody>
      </p:sp>
      <p:sp>
        <p:nvSpPr>
          <p:cNvPr id="9" name="Text 7"/>
          <p:cNvSpPr/>
          <p:nvPr/>
        </p:nvSpPr>
        <p:spPr>
          <a:xfrm>
            <a:off x="1047750" y="8801100"/>
            <a:ext cx="702707" cy="320040"/>
          </a:xfrm>
          <a:prstGeom prst="rect">
            <a:avLst/>
          </a:prstGeom>
          <a:noFill/>
          <a:ln/>
        </p:spPr>
        <p:txBody>
          <a:bodyPr wrap="square" lIns="25400" tIns="25400" rIns="25400" bIns="25400" rtlCol="0" anchor="t">
            <a:normAutofit/>
          </a:bodyPr>
          <a:lstStyle/>
          <a:p>
            <a:pPr marL="0" indent="0" algn="l">
              <a:buNone/>
            </a:pPr>
            <a:r>
              <a:rPr lang="en-US" sz="1650" kern="0" spc="75" dirty="0">
                <a:solidFill>
                  <a:srgbClr val="F2F1EC">
                    <a:alpha val="45000"/>
                  </a:srgbClr>
                </a:solidFill>
                <a:latin typeface="Segoe UI" pitchFamily="34" charset="0"/>
                <a:ea typeface="Segoe UI" pitchFamily="34" charset="-122"/>
                <a:cs typeface="Segoe UI" pitchFamily="34" charset="-120"/>
              </a:rPr>
              <a:t>KELAS</a:t>
            </a:r>
            <a:endParaRPr lang="en-US" sz="1650" dirty="0"/>
          </a:p>
        </p:txBody>
      </p:sp>
      <p:sp>
        <p:nvSpPr>
          <p:cNvPr id="10" name="Text 8"/>
          <p:cNvSpPr/>
          <p:nvPr/>
        </p:nvSpPr>
        <p:spPr>
          <a:xfrm>
            <a:off x="1047750" y="9159240"/>
            <a:ext cx="235982" cy="365760"/>
          </a:xfrm>
          <a:prstGeom prst="rect">
            <a:avLst/>
          </a:prstGeom>
          <a:noFill/>
          <a:ln/>
        </p:spPr>
        <p:txBody>
          <a:bodyPr wrap="square" lIns="0" tIns="0" rIns="0" bIns="0" rtlCol="0" anchor="t">
            <a:normAutofit/>
          </a:bodyPr>
          <a:lstStyle/>
          <a:p>
            <a:pPr marL="0" indent="0" algn="l">
              <a:buNone/>
            </a:pPr>
            <a:r>
              <a:rPr lang="en-US" sz="1950" dirty="0">
                <a:solidFill>
                  <a:srgbClr val="F2F1EC">
                    <a:alpha val="70000"/>
                  </a:srgbClr>
                </a:solidFill>
                <a:latin typeface="Segoe UI" pitchFamily="34" charset="0"/>
                <a:ea typeface="Segoe UI" pitchFamily="34" charset="-122"/>
                <a:cs typeface="Segoe UI" pitchFamily="34" charset="-120"/>
              </a:rPr>
              <a:t>A</a:t>
            </a:r>
            <a:endParaRPr lang="en-US" sz="1950" dirty="0"/>
          </a:p>
        </p:txBody>
      </p:sp>
      <p:sp>
        <p:nvSpPr>
          <p:cNvPr id="11" name="Text 9"/>
          <p:cNvSpPr/>
          <p:nvPr/>
        </p:nvSpPr>
        <p:spPr>
          <a:xfrm>
            <a:off x="2283857" y="8801100"/>
            <a:ext cx="2003941" cy="320040"/>
          </a:xfrm>
          <a:prstGeom prst="rect">
            <a:avLst/>
          </a:prstGeom>
          <a:noFill/>
          <a:ln/>
        </p:spPr>
        <p:txBody>
          <a:bodyPr wrap="square" lIns="25400" tIns="25400" rIns="25400" bIns="25400" rtlCol="0" anchor="t">
            <a:normAutofit/>
          </a:bodyPr>
          <a:lstStyle/>
          <a:p>
            <a:pPr marL="0" indent="0" algn="l">
              <a:buNone/>
            </a:pPr>
            <a:r>
              <a:rPr lang="en-US" sz="1650" kern="0" spc="75" dirty="0">
                <a:solidFill>
                  <a:srgbClr val="F2F1EC">
                    <a:alpha val="45000"/>
                  </a:srgbClr>
                </a:solidFill>
                <a:latin typeface="Segoe UI" pitchFamily="34" charset="0"/>
                <a:ea typeface="Segoe UI" pitchFamily="34" charset="-122"/>
                <a:cs typeface="Segoe UI" pitchFamily="34" charset="-120"/>
              </a:rPr>
              <a:t>SIFAT UJIAN</a:t>
            </a:r>
            <a:endParaRPr lang="en-US" sz="1650" dirty="0"/>
          </a:p>
        </p:txBody>
      </p:sp>
      <p:sp>
        <p:nvSpPr>
          <p:cNvPr id="12" name="Text 10"/>
          <p:cNvSpPr/>
          <p:nvPr/>
        </p:nvSpPr>
        <p:spPr>
          <a:xfrm>
            <a:off x="2283857" y="9159240"/>
            <a:ext cx="2003941" cy="365760"/>
          </a:xfrm>
          <a:prstGeom prst="rect">
            <a:avLst/>
          </a:prstGeom>
          <a:noFill/>
          <a:ln/>
        </p:spPr>
        <p:txBody>
          <a:bodyPr wrap="square" lIns="0" tIns="0" rIns="0" bIns="0" rtlCol="0" anchor="t">
            <a:normAutofit/>
          </a:bodyPr>
          <a:lstStyle/>
          <a:p>
            <a:pPr marL="0" indent="0" algn="l">
              <a:buNone/>
            </a:pPr>
            <a:r>
              <a:rPr lang="en-US" sz="1950" dirty="0">
                <a:solidFill>
                  <a:srgbClr val="F2F1EC">
                    <a:alpha val="70000"/>
                  </a:srgbClr>
                </a:solidFill>
                <a:latin typeface="Segoe UI" pitchFamily="34" charset="0"/>
                <a:ea typeface="Segoe UI" pitchFamily="34" charset="-122"/>
                <a:cs typeface="Segoe UI" pitchFamily="34" charset="-120"/>
              </a:rPr>
              <a:t>Project Kelompok</a:t>
            </a:r>
            <a:endParaRPr lang="en-US" sz="1950" dirty="0"/>
          </a:p>
        </p:txBody>
      </p:sp>
      <p:sp>
        <p:nvSpPr>
          <p:cNvPr id="13" name="Text 11"/>
          <p:cNvSpPr/>
          <p:nvPr/>
        </p:nvSpPr>
        <p:spPr>
          <a:xfrm>
            <a:off x="4821198" y="8801100"/>
            <a:ext cx="2317671" cy="320040"/>
          </a:xfrm>
          <a:prstGeom prst="rect">
            <a:avLst/>
          </a:prstGeom>
          <a:noFill/>
          <a:ln/>
        </p:spPr>
        <p:txBody>
          <a:bodyPr wrap="square" lIns="25400" tIns="25400" rIns="25400" bIns="25400" rtlCol="0" anchor="t">
            <a:normAutofit/>
          </a:bodyPr>
          <a:lstStyle/>
          <a:p>
            <a:pPr marL="0" indent="0" algn="l">
              <a:buNone/>
            </a:pPr>
            <a:r>
              <a:rPr lang="en-US" sz="1650" kern="0" spc="75" dirty="0">
                <a:solidFill>
                  <a:srgbClr val="F2F1EC">
                    <a:alpha val="45000"/>
                  </a:srgbClr>
                </a:solidFill>
                <a:latin typeface="Segoe UI" pitchFamily="34" charset="0"/>
                <a:ea typeface="Segoe UI" pitchFamily="34" charset="-122"/>
                <a:cs typeface="Segoe UI" pitchFamily="34" charset="-120"/>
              </a:rPr>
              <a:t>BOBOT</a:t>
            </a:r>
            <a:endParaRPr lang="en-US" sz="1650" dirty="0"/>
          </a:p>
        </p:txBody>
      </p:sp>
      <p:sp>
        <p:nvSpPr>
          <p:cNvPr id="14" name="Text 12"/>
          <p:cNvSpPr/>
          <p:nvPr/>
        </p:nvSpPr>
        <p:spPr>
          <a:xfrm>
            <a:off x="4821198" y="9159240"/>
            <a:ext cx="2317670" cy="365760"/>
          </a:xfrm>
          <a:prstGeom prst="rect">
            <a:avLst/>
          </a:prstGeom>
          <a:noFill/>
          <a:ln/>
        </p:spPr>
        <p:txBody>
          <a:bodyPr wrap="square" lIns="0" tIns="0" rIns="0" bIns="0" rtlCol="0" anchor="t">
            <a:normAutofit/>
          </a:bodyPr>
          <a:lstStyle/>
          <a:p>
            <a:pPr marL="0" indent="0" algn="l">
              <a:buNone/>
            </a:pPr>
            <a:r>
              <a:rPr lang="en-US" sz="1950" dirty="0">
                <a:solidFill>
                  <a:srgbClr val="F2F1EC">
                    <a:alpha val="70000"/>
                  </a:srgbClr>
                </a:solidFill>
                <a:latin typeface="Segoe UI" pitchFamily="34" charset="0"/>
                <a:ea typeface="Segoe UI" pitchFamily="34" charset="-122"/>
                <a:cs typeface="Segoe UI" pitchFamily="34" charset="-120"/>
              </a:rPr>
              <a:t>100 persen nilai UAS</a:t>
            </a:r>
            <a:endParaRPr lang="en-US" sz="1950" dirty="0"/>
          </a:p>
        </p:txBody>
      </p:sp>
      <p:sp>
        <p:nvSpPr>
          <p:cNvPr id="15" name="Text 13"/>
          <p:cNvSpPr/>
          <p:nvPr/>
        </p:nvSpPr>
        <p:spPr>
          <a:xfrm>
            <a:off x="14041332" y="8801100"/>
            <a:ext cx="3198918" cy="320040"/>
          </a:xfrm>
          <a:prstGeom prst="rect">
            <a:avLst/>
          </a:prstGeom>
          <a:noFill/>
          <a:ln/>
        </p:spPr>
        <p:txBody>
          <a:bodyPr wrap="square" lIns="25400" tIns="25400" rIns="25400" bIns="25400" rtlCol="0" anchor="t">
            <a:normAutofit/>
          </a:bodyPr>
          <a:lstStyle/>
          <a:p>
            <a:pPr marL="0" indent="0" algn="r">
              <a:buNone/>
            </a:pPr>
            <a:r>
              <a:rPr lang="en-US" sz="1650" kern="0" spc="75" dirty="0">
                <a:solidFill>
                  <a:srgbClr val="F2F1EC">
                    <a:alpha val="45000"/>
                  </a:srgbClr>
                </a:solidFill>
                <a:latin typeface="Segoe UI" pitchFamily="34" charset="0"/>
                <a:ea typeface="Segoe UI" pitchFamily="34" charset="-122"/>
                <a:cs typeface="Segoe UI" pitchFamily="34" charset="-120"/>
              </a:rPr>
              <a:t>DOSEN PENGAMPU</a:t>
            </a:r>
            <a:endParaRPr lang="en-US" sz="1650" dirty="0"/>
          </a:p>
        </p:txBody>
      </p:sp>
      <p:sp>
        <p:nvSpPr>
          <p:cNvPr id="16" name="Text 14"/>
          <p:cNvSpPr/>
          <p:nvPr/>
        </p:nvSpPr>
        <p:spPr>
          <a:xfrm>
            <a:off x="14134505" y="9159240"/>
            <a:ext cx="3198918" cy="365760"/>
          </a:xfrm>
          <a:prstGeom prst="rect">
            <a:avLst/>
          </a:prstGeom>
          <a:noFill/>
          <a:ln/>
        </p:spPr>
        <p:txBody>
          <a:bodyPr wrap="square" lIns="0" tIns="0" rIns="0" bIns="0" rtlCol="0" anchor="t">
            <a:normAutofit/>
          </a:bodyPr>
          <a:lstStyle/>
          <a:p>
            <a:pPr marL="0" indent="0" algn="r">
              <a:buNone/>
            </a:pPr>
            <a:r>
              <a:rPr lang="en-US" sz="1950" dirty="0">
                <a:solidFill>
                  <a:srgbClr val="F2F1EC">
                    <a:alpha val="70000"/>
                  </a:srgbClr>
                </a:solidFill>
                <a:latin typeface="Segoe UI" pitchFamily="34" charset="0"/>
                <a:ea typeface="Segoe UI" pitchFamily="34" charset="-122"/>
                <a:cs typeface="Segoe UI" pitchFamily="34" charset="-120"/>
              </a:rPr>
              <a:t>Dr. Donny Maha Putra, M.Ak</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800100"/>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2654E"/>
                </a:solidFill>
                <a:latin typeface="Segoe UI" pitchFamily="34" charset="0"/>
                <a:ea typeface="Segoe UI" pitchFamily="34" charset="-122"/>
                <a:cs typeface="Segoe UI" pitchFamily="34" charset="-120"/>
              </a:rPr>
              <a:t>02 / GAMBARAN UMUM</a:t>
            </a:r>
            <a:endParaRPr lang="en-US" sz="1800" dirty="0"/>
          </a:p>
        </p:txBody>
      </p:sp>
      <p:sp>
        <p:nvSpPr>
          <p:cNvPr id="3" name="Text 1"/>
          <p:cNvSpPr/>
          <p:nvPr/>
        </p:nvSpPr>
        <p:spPr>
          <a:xfrm>
            <a:off x="1047750" y="1238250"/>
            <a:ext cx="16678275" cy="603409"/>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200" b="1" kern="0" spc="-37" dirty="0">
                <a:solidFill>
                  <a:srgbClr val="23231F"/>
                </a:solidFill>
                <a:latin typeface="Segoe UI" pitchFamily="34" charset="0"/>
                <a:ea typeface="Segoe UI" pitchFamily="34" charset="-122"/>
                <a:cs typeface="Segoe UI" pitchFamily="34" charset="-120"/>
              </a:rPr>
              <a:t>Satu proyek, tiga kemampuan yang diuji</a:t>
            </a:r>
            <a:endParaRPr lang="en-US" sz="4200" dirty="0"/>
          </a:p>
        </p:txBody>
      </p:sp>
      <p:sp>
        <p:nvSpPr>
          <p:cNvPr id="4" name="Shape 2"/>
          <p:cNvSpPr/>
          <p:nvPr/>
        </p:nvSpPr>
        <p:spPr>
          <a:xfrm>
            <a:off x="1047750" y="2013109"/>
            <a:ext cx="685800" cy="47625"/>
          </a:xfrm>
          <a:prstGeom prst="roundRect">
            <a:avLst>
              <a:gd name="adj" fmla="val 50000"/>
            </a:avLst>
          </a:prstGeom>
          <a:solidFill>
            <a:srgbClr val="F2654E"/>
          </a:solidFill>
          <a:ln/>
        </p:spPr>
        <p:txBody>
          <a:bodyPr/>
          <a:lstStyle/>
          <a:p>
            <a:endParaRPr lang="en-ID"/>
          </a:p>
        </p:txBody>
      </p:sp>
      <p:sp>
        <p:nvSpPr>
          <p:cNvPr id="5" name="Text 3"/>
          <p:cNvSpPr/>
          <p:nvPr/>
        </p:nvSpPr>
        <p:spPr>
          <a:xfrm>
            <a:off x="1047750" y="2346484"/>
            <a:ext cx="14716125" cy="8953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250" dirty="0">
                <a:solidFill>
                  <a:srgbClr val="46463F"/>
                </a:solidFill>
                <a:latin typeface="Segoe UI" pitchFamily="34" charset="0"/>
                <a:ea typeface="Segoe UI" pitchFamily="34" charset="-122"/>
                <a:cs typeface="Segoe UI" pitchFamily="34" charset="-120"/>
              </a:rPr>
              <a:t>Setiap kelompok membangun visualisasi data di Tableau dari dataset yang sama. Yang dinilai bukan seberapa indah grafiknya, melainkan seberapa tajam pembacaan dan rekomendasi yang dihasilkan.</a:t>
            </a:r>
            <a:endParaRPr lang="en-US" sz="2250" dirty="0"/>
          </a:p>
        </p:txBody>
      </p:sp>
      <p:sp>
        <p:nvSpPr>
          <p:cNvPr id="6" name="Shape 4"/>
          <p:cNvSpPr/>
          <p:nvPr/>
        </p:nvSpPr>
        <p:spPr>
          <a:xfrm>
            <a:off x="1047750" y="6702743"/>
            <a:ext cx="5219700" cy="2860358"/>
          </a:xfrm>
          <a:prstGeom prst="roundRect">
            <a:avLst>
              <a:gd name="adj" fmla="val 4662"/>
            </a:avLst>
          </a:prstGeom>
          <a:solidFill>
            <a:srgbClr val="FFFFFF"/>
          </a:solidFill>
          <a:ln w="7620">
            <a:solidFill>
              <a:srgbClr val="E8E6E0"/>
            </a:solidFill>
            <a:prstDash val="solid"/>
          </a:ln>
        </p:spPr>
        <p:txBody>
          <a:bodyPr/>
          <a:lstStyle/>
          <a:p>
            <a:endParaRPr lang="en-ID"/>
          </a:p>
        </p:txBody>
      </p:sp>
      <p:sp>
        <p:nvSpPr>
          <p:cNvPr id="7" name="Text 5"/>
          <p:cNvSpPr/>
          <p:nvPr/>
        </p:nvSpPr>
        <p:spPr>
          <a:xfrm>
            <a:off x="1398270" y="7072313"/>
            <a:ext cx="465422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2654E"/>
                </a:solidFill>
                <a:latin typeface="Segoe UI" pitchFamily="34" charset="0"/>
                <a:ea typeface="Segoe UI" pitchFamily="34" charset="-122"/>
                <a:cs typeface="Segoe UI" pitchFamily="34" charset="-120"/>
              </a:rPr>
              <a:t>01</a:t>
            </a:r>
            <a:endParaRPr lang="en-US" sz="2250" dirty="0"/>
          </a:p>
        </p:txBody>
      </p:sp>
      <p:sp>
        <p:nvSpPr>
          <p:cNvPr id="8" name="Text 6"/>
          <p:cNvSpPr/>
          <p:nvPr/>
        </p:nvSpPr>
        <p:spPr>
          <a:xfrm>
            <a:off x="1398270" y="7598093"/>
            <a:ext cx="465422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23231F"/>
                </a:solidFill>
                <a:latin typeface="Segoe UI" pitchFamily="34" charset="0"/>
                <a:ea typeface="Segoe UI" pitchFamily="34" charset="-122"/>
                <a:cs typeface="Segoe UI" pitchFamily="34" charset="-120"/>
              </a:rPr>
              <a:t>Membaca data</a:t>
            </a:r>
            <a:endParaRPr lang="en-US" sz="2400" dirty="0"/>
          </a:p>
        </p:txBody>
      </p:sp>
      <p:sp>
        <p:nvSpPr>
          <p:cNvPr id="9" name="Text 7"/>
          <p:cNvSpPr/>
          <p:nvPr/>
        </p:nvSpPr>
        <p:spPr>
          <a:xfrm>
            <a:off x="1398270" y="8116253"/>
            <a:ext cx="4654220" cy="1115377"/>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950" dirty="0">
                <a:solidFill>
                  <a:srgbClr val="6E6E66"/>
                </a:solidFill>
                <a:latin typeface="Segoe UI" pitchFamily="34" charset="0"/>
                <a:ea typeface="Segoe UI" pitchFamily="34" charset="-122"/>
                <a:cs typeface="Segoe UI" pitchFamily="34" charset="-120"/>
              </a:rPr>
              <a:t>Memahami struktur dan dimensi dataset, lalu merumuskan business question yang tajam.</a:t>
            </a:r>
            <a:endParaRPr lang="en-US" sz="1950" dirty="0"/>
          </a:p>
        </p:txBody>
      </p:sp>
      <p:sp>
        <p:nvSpPr>
          <p:cNvPr id="10" name="Shape 8"/>
          <p:cNvSpPr/>
          <p:nvPr/>
        </p:nvSpPr>
        <p:spPr>
          <a:xfrm>
            <a:off x="6534150" y="6702743"/>
            <a:ext cx="5219700" cy="2860358"/>
          </a:xfrm>
          <a:prstGeom prst="roundRect">
            <a:avLst>
              <a:gd name="adj" fmla="val 4662"/>
            </a:avLst>
          </a:prstGeom>
          <a:solidFill>
            <a:srgbClr val="FFFFFF"/>
          </a:solidFill>
          <a:ln w="7620">
            <a:solidFill>
              <a:srgbClr val="E8E6E0"/>
            </a:solidFill>
            <a:prstDash val="solid"/>
          </a:ln>
        </p:spPr>
        <p:txBody>
          <a:bodyPr/>
          <a:lstStyle/>
          <a:p>
            <a:endParaRPr lang="en-ID"/>
          </a:p>
        </p:txBody>
      </p:sp>
      <p:sp>
        <p:nvSpPr>
          <p:cNvPr id="11" name="Text 9"/>
          <p:cNvSpPr/>
          <p:nvPr/>
        </p:nvSpPr>
        <p:spPr>
          <a:xfrm>
            <a:off x="6884670" y="7072313"/>
            <a:ext cx="465422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2654E"/>
                </a:solidFill>
                <a:latin typeface="Segoe UI" pitchFamily="34" charset="0"/>
                <a:ea typeface="Segoe UI" pitchFamily="34" charset="-122"/>
                <a:cs typeface="Segoe UI" pitchFamily="34" charset="-120"/>
              </a:rPr>
              <a:t>02</a:t>
            </a:r>
            <a:endParaRPr lang="en-US" sz="2250" dirty="0"/>
          </a:p>
        </p:txBody>
      </p:sp>
      <p:sp>
        <p:nvSpPr>
          <p:cNvPr id="12" name="Text 10"/>
          <p:cNvSpPr/>
          <p:nvPr/>
        </p:nvSpPr>
        <p:spPr>
          <a:xfrm>
            <a:off x="6884670" y="7598093"/>
            <a:ext cx="465422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23231F"/>
                </a:solidFill>
                <a:latin typeface="Segoe UI" pitchFamily="34" charset="0"/>
                <a:ea typeface="Segoe UI" pitchFamily="34" charset="-122"/>
                <a:cs typeface="Segoe UI" pitchFamily="34" charset="-120"/>
              </a:rPr>
              <a:t>Membangun visualisasi</a:t>
            </a:r>
            <a:endParaRPr lang="en-US" sz="2400" dirty="0"/>
          </a:p>
        </p:txBody>
      </p:sp>
      <p:sp>
        <p:nvSpPr>
          <p:cNvPr id="13" name="Text 11"/>
          <p:cNvSpPr/>
          <p:nvPr/>
        </p:nvSpPr>
        <p:spPr>
          <a:xfrm>
            <a:off x="6884670" y="8116253"/>
            <a:ext cx="4654220" cy="1115377"/>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dirty="0">
                <a:solidFill>
                  <a:srgbClr val="6E6E66"/>
                </a:solidFill>
                <a:latin typeface="Segoe UI" pitchFamily="34" charset="0"/>
                <a:ea typeface="Segoe UI" pitchFamily="34" charset="-122"/>
                <a:cs typeface="Segoe UI" pitchFamily="34" charset="-120"/>
              </a:rPr>
              <a:t>Memilih chart yang tepat, menyusun dashboard interaktif, dan merangkai Tableau Story yang koheren.</a:t>
            </a:r>
            <a:endParaRPr lang="en-US" sz="1950" dirty="0"/>
          </a:p>
        </p:txBody>
      </p:sp>
      <p:sp>
        <p:nvSpPr>
          <p:cNvPr id="14" name="Shape 12"/>
          <p:cNvSpPr/>
          <p:nvPr/>
        </p:nvSpPr>
        <p:spPr>
          <a:xfrm>
            <a:off x="12020550" y="6702743"/>
            <a:ext cx="5219700" cy="2860358"/>
          </a:xfrm>
          <a:prstGeom prst="roundRect">
            <a:avLst>
              <a:gd name="adj" fmla="val 4662"/>
            </a:avLst>
          </a:prstGeom>
          <a:solidFill>
            <a:srgbClr val="FFFFFF"/>
          </a:solidFill>
          <a:ln w="7620">
            <a:solidFill>
              <a:srgbClr val="E8E6E0"/>
            </a:solidFill>
            <a:prstDash val="solid"/>
          </a:ln>
        </p:spPr>
        <p:txBody>
          <a:bodyPr/>
          <a:lstStyle/>
          <a:p>
            <a:endParaRPr lang="en-ID"/>
          </a:p>
        </p:txBody>
      </p:sp>
      <p:sp>
        <p:nvSpPr>
          <p:cNvPr id="15" name="Text 13"/>
          <p:cNvSpPr/>
          <p:nvPr/>
        </p:nvSpPr>
        <p:spPr>
          <a:xfrm>
            <a:off x="12371070" y="7072313"/>
            <a:ext cx="465422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2654E"/>
                </a:solidFill>
                <a:latin typeface="Segoe UI" pitchFamily="34" charset="0"/>
                <a:ea typeface="Segoe UI" pitchFamily="34" charset="-122"/>
                <a:cs typeface="Segoe UI" pitchFamily="34" charset="-120"/>
              </a:rPr>
              <a:t>03</a:t>
            </a:r>
            <a:endParaRPr lang="en-US" sz="2250" dirty="0"/>
          </a:p>
        </p:txBody>
      </p:sp>
      <p:sp>
        <p:nvSpPr>
          <p:cNvPr id="16" name="Text 14"/>
          <p:cNvSpPr/>
          <p:nvPr/>
        </p:nvSpPr>
        <p:spPr>
          <a:xfrm>
            <a:off x="12371070" y="7598093"/>
            <a:ext cx="465422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23231F"/>
                </a:solidFill>
                <a:latin typeface="Segoe UI" pitchFamily="34" charset="0"/>
                <a:ea typeface="Segoe UI" pitchFamily="34" charset="-122"/>
                <a:cs typeface="Segoe UI" pitchFamily="34" charset="-120"/>
              </a:rPr>
              <a:t>Merumuskan rekomendasi</a:t>
            </a:r>
            <a:endParaRPr lang="en-US" sz="2400" dirty="0"/>
          </a:p>
        </p:txBody>
      </p:sp>
      <p:sp>
        <p:nvSpPr>
          <p:cNvPr id="17" name="Text 15"/>
          <p:cNvSpPr/>
          <p:nvPr/>
        </p:nvSpPr>
        <p:spPr>
          <a:xfrm>
            <a:off x="12371070" y="8116253"/>
            <a:ext cx="4654220" cy="1115377"/>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dirty="0">
                <a:solidFill>
                  <a:srgbClr val="6E6E66"/>
                </a:solidFill>
                <a:latin typeface="Segoe UI" pitchFamily="34" charset="0"/>
                <a:ea typeface="Segoe UI" pitchFamily="34" charset="-122"/>
                <a:cs typeface="Segoe UI" pitchFamily="34" charset="-120"/>
              </a:rPr>
              <a:t>Mengubah temuan visual menjadi rekomendasi strategis yang dapat ditindaklanjuti pemangku kepentingan.</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800100"/>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2654E"/>
                </a:solidFill>
                <a:latin typeface="Segoe UI" pitchFamily="34" charset="0"/>
                <a:ea typeface="Segoe UI" pitchFamily="34" charset="-122"/>
                <a:cs typeface="Segoe UI" pitchFamily="34" charset="-120"/>
              </a:rPr>
              <a:t>03 / TUJUAN PROYEK</a:t>
            </a:r>
            <a:endParaRPr lang="en-US" sz="1800" dirty="0"/>
          </a:p>
        </p:txBody>
      </p:sp>
      <p:sp>
        <p:nvSpPr>
          <p:cNvPr id="3" name="Text 1"/>
          <p:cNvSpPr/>
          <p:nvPr/>
        </p:nvSpPr>
        <p:spPr>
          <a:xfrm>
            <a:off x="1047750" y="1238250"/>
            <a:ext cx="16678275" cy="603409"/>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200" b="1" kern="0" spc="-37" dirty="0">
                <a:solidFill>
                  <a:srgbClr val="23231F"/>
                </a:solidFill>
                <a:latin typeface="Segoe UI" pitchFamily="34" charset="0"/>
                <a:ea typeface="Segoe UI" pitchFamily="34" charset="-122"/>
                <a:cs typeface="Segoe UI" pitchFamily="34" charset="-120"/>
              </a:rPr>
              <a:t>Enam hal yang harus dicapai setiap kelompok</a:t>
            </a:r>
            <a:endParaRPr lang="en-US" sz="4200" dirty="0"/>
          </a:p>
        </p:txBody>
      </p:sp>
      <p:sp>
        <p:nvSpPr>
          <p:cNvPr id="4" name="Shape 2"/>
          <p:cNvSpPr/>
          <p:nvPr/>
        </p:nvSpPr>
        <p:spPr>
          <a:xfrm>
            <a:off x="1047750" y="2013109"/>
            <a:ext cx="685800" cy="47625"/>
          </a:xfrm>
          <a:prstGeom prst="roundRect">
            <a:avLst>
              <a:gd name="adj" fmla="val 50000"/>
            </a:avLst>
          </a:prstGeom>
          <a:solidFill>
            <a:srgbClr val="F2654E"/>
          </a:solidFill>
          <a:ln/>
        </p:spPr>
        <p:txBody>
          <a:bodyPr/>
          <a:lstStyle/>
          <a:p>
            <a:endParaRPr lang="en-ID"/>
          </a:p>
        </p:txBody>
      </p:sp>
      <p:sp>
        <p:nvSpPr>
          <p:cNvPr id="5" name="Shape 3"/>
          <p:cNvSpPr/>
          <p:nvPr/>
        </p:nvSpPr>
        <p:spPr>
          <a:xfrm>
            <a:off x="1047750" y="2967514"/>
            <a:ext cx="7829550" cy="9525"/>
          </a:xfrm>
          <a:prstGeom prst="rect">
            <a:avLst/>
          </a:prstGeom>
          <a:solidFill>
            <a:srgbClr val="E6E4DD"/>
          </a:solidFill>
          <a:ln/>
        </p:spPr>
        <p:txBody>
          <a:bodyPr/>
          <a:lstStyle/>
          <a:p>
            <a:endParaRPr lang="en-ID"/>
          </a:p>
        </p:txBody>
      </p:sp>
      <p:sp>
        <p:nvSpPr>
          <p:cNvPr id="6" name="Text 4"/>
          <p:cNvSpPr/>
          <p:nvPr/>
        </p:nvSpPr>
        <p:spPr>
          <a:xfrm>
            <a:off x="1047750" y="2422684"/>
            <a:ext cx="4762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F2654E"/>
                </a:solidFill>
                <a:latin typeface="Segoe UI" pitchFamily="34" charset="0"/>
                <a:ea typeface="Segoe UI" pitchFamily="34" charset="-122"/>
                <a:cs typeface="Segoe UI" pitchFamily="34" charset="-120"/>
              </a:rPr>
              <a:t>1</a:t>
            </a:r>
            <a:endParaRPr lang="en-US" sz="2100" dirty="0"/>
          </a:p>
        </p:txBody>
      </p:sp>
      <p:sp>
        <p:nvSpPr>
          <p:cNvPr id="7" name="Text 5"/>
          <p:cNvSpPr/>
          <p:nvPr/>
        </p:nvSpPr>
        <p:spPr>
          <a:xfrm>
            <a:off x="1676400" y="2422684"/>
            <a:ext cx="6826320" cy="4114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23231F"/>
                </a:solidFill>
                <a:latin typeface="Segoe UI" pitchFamily="34" charset="0"/>
                <a:ea typeface="Segoe UI" pitchFamily="34" charset="-122"/>
                <a:cs typeface="Segoe UI" pitchFamily="34" charset="-120"/>
              </a:rPr>
              <a:t>Memahami struktur dan dimensi dataset yang diberikan.</a:t>
            </a:r>
            <a:endParaRPr lang="en-US" sz="2100" dirty="0"/>
          </a:p>
        </p:txBody>
      </p:sp>
      <p:sp>
        <p:nvSpPr>
          <p:cNvPr id="8" name="Shape 6"/>
          <p:cNvSpPr/>
          <p:nvPr/>
        </p:nvSpPr>
        <p:spPr>
          <a:xfrm>
            <a:off x="9410700" y="2967514"/>
            <a:ext cx="7829550" cy="9525"/>
          </a:xfrm>
          <a:prstGeom prst="rect">
            <a:avLst/>
          </a:prstGeom>
          <a:solidFill>
            <a:srgbClr val="E6E4DD"/>
          </a:solidFill>
          <a:ln/>
        </p:spPr>
        <p:txBody>
          <a:bodyPr/>
          <a:lstStyle/>
          <a:p>
            <a:endParaRPr lang="en-ID"/>
          </a:p>
        </p:txBody>
      </p:sp>
      <p:sp>
        <p:nvSpPr>
          <p:cNvPr id="9" name="Text 7"/>
          <p:cNvSpPr/>
          <p:nvPr/>
        </p:nvSpPr>
        <p:spPr>
          <a:xfrm>
            <a:off x="9410700" y="2422684"/>
            <a:ext cx="4762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F2654E"/>
                </a:solidFill>
                <a:latin typeface="Segoe UI" pitchFamily="34" charset="0"/>
                <a:ea typeface="Segoe UI" pitchFamily="34" charset="-122"/>
                <a:cs typeface="Segoe UI" pitchFamily="34" charset="-120"/>
              </a:rPr>
              <a:t>2</a:t>
            </a:r>
            <a:endParaRPr lang="en-US" sz="2100" dirty="0"/>
          </a:p>
        </p:txBody>
      </p:sp>
      <p:sp>
        <p:nvSpPr>
          <p:cNvPr id="10" name="Text 8"/>
          <p:cNvSpPr/>
          <p:nvPr/>
        </p:nvSpPr>
        <p:spPr>
          <a:xfrm>
            <a:off x="10039350" y="2422684"/>
            <a:ext cx="7200477" cy="4114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23231F"/>
                </a:solidFill>
                <a:latin typeface="Segoe UI" pitchFamily="34" charset="0"/>
                <a:ea typeface="Segoe UI" pitchFamily="34" charset="-122"/>
                <a:cs typeface="Segoe UI" pitchFamily="34" charset="-120"/>
              </a:rPr>
              <a:t>Merumuskan business question yang tajam sesuai use case.</a:t>
            </a:r>
            <a:endParaRPr lang="en-US" sz="2100" dirty="0"/>
          </a:p>
        </p:txBody>
      </p:sp>
      <p:sp>
        <p:nvSpPr>
          <p:cNvPr id="11" name="Shape 9"/>
          <p:cNvSpPr/>
          <p:nvPr/>
        </p:nvSpPr>
        <p:spPr>
          <a:xfrm>
            <a:off x="1047750" y="4102894"/>
            <a:ext cx="7829550" cy="9525"/>
          </a:xfrm>
          <a:prstGeom prst="rect">
            <a:avLst/>
          </a:prstGeom>
          <a:solidFill>
            <a:srgbClr val="E6E4DD"/>
          </a:solidFill>
          <a:ln/>
        </p:spPr>
        <p:txBody>
          <a:bodyPr/>
          <a:lstStyle/>
          <a:p>
            <a:endParaRPr lang="en-ID"/>
          </a:p>
        </p:txBody>
      </p:sp>
      <p:sp>
        <p:nvSpPr>
          <p:cNvPr id="12" name="Text 10"/>
          <p:cNvSpPr/>
          <p:nvPr/>
        </p:nvSpPr>
        <p:spPr>
          <a:xfrm>
            <a:off x="1047750" y="3184684"/>
            <a:ext cx="4762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F2654E"/>
                </a:solidFill>
                <a:latin typeface="Segoe UI" pitchFamily="34" charset="0"/>
                <a:ea typeface="Segoe UI" pitchFamily="34" charset="-122"/>
                <a:cs typeface="Segoe UI" pitchFamily="34" charset="-120"/>
              </a:rPr>
              <a:t>3</a:t>
            </a:r>
            <a:endParaRPr lang="en-US" sz="2100" dirty="0"/>
          </a:p>
        </p:txBody>
      </p:sp>
      <p:sp>
        <p:nvSpPr>
          <p:cNvPr id="13" name="Text 11"/>
          <p:cNvSpPr/>
          <p:nvPr/>
        </p:nvSpPr>
        <p:spPr>
          <a:xfrm>
            <a:off x="1676400" y="3184684"/>
            <a:ext cx="7416927" cy="78486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00" dirty="0">
                <a:solidFill>
                  <a:srgbClr val="23231F"/>
                </a:solidFill>
                <a:latin typeface="Segoe UI" pitchFamily="34" charset="0"/>
                <a:ea typeface="Segoe UI" pitchFamily="34" charset="-122"/>
                <a:cs typeface="Segoe UI" pitchFamily="34" charset="-120"/>
              </a:rPr>
              <a:t>Membangun visualisasi yang tepat teknis dan bermakna analitis.</a:t>
            </a:r>
            <a:endParaRPr lang="en-US" sz="2100" dirty="0"/>
          </a:p>
        </p:txBody>
      </p:sp>
      <p:sp>
        <p:nvSpPr>
          <p:cNvPr id="14" name="Shape 12"/>
          <p:cNvSpPr/>
          <p:nvPr/>
        </p:nvSpPr>
        <p:spPr>
          <a:xfrm>
            <a:off x="9410700" y="4102894"/>
            <a:ext cx="7829550" cy="9525"/>
          </a:xfrm>
          <a:prstGeom prst="rect">
            <a:avLst/>
          </a:prstGeom>
          <a:solidFill>
            <a:srgbClr val="E6E4DD"/>
          </a:solidFill>
          <a:ln/>
        </p:spPr>
        <p:txBody>
          <a:bodyPr/>
          <a:lstStyle/>
          <a:p>
            <a:endParaRPr lang="en-ID"/>
          </a:p>
        </p:txBody>
      </p:sp>
      <p:sp>
        <p:nvSpPr>
          <p:cNvPr id="15" name="Text 13"/>
          <p:cNvSpPr/>
          <p:nvPr/>
        </p:nvSpPr>
        <p:spPr>
          <a:xfrm>
            <a:off x="9410700" y="3184684"/>
            <a:ext cx="4762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F2654E"/>
                </a:solidFill>
                <a:latin typeface="Segoe UI" pitchFamily="34" charset="0"/>
                <a:ea typeface="Segoe UI" pitchFamily="34" charset="-122"/>
                <a:cs typeface="Segoe UI" pitchFamily="34" charset="-120"/>
              </a:rPr>
              <a:t>4</a:t>
            </a:r>
            <a:endParaRPr lang="en-US" sz="2100" dirty="0"/>
          </a:p>
        </p:txBody>
      </p:sp>
      <p:sp>
        <p:nvSpPr>
          <p:cNvPr id="16" name="Text 14"/>
          <p:cNvSpPr/>
          <p:nvPr/>
        </p:nvSpPr>
        <p:spPr>
          <a:xfrm>
            <a:off x="10039350" y="3184684"/>
            <a:ext cx="6998499" cy="4114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23231F"/>
                </a:solidFill>
                <a:latin typeface="Segoe UI" pitchFamily="34" charset="0"/>
                <a:ea typeface="Segoe UI" pitchFamily="34" charset="-122"/>
                <a:cs typeface="Segoe UI" pitchFamily="34" charset="-120"/>
              </a:rPr>
              <a:t>Menyusun 2 dashboard interaktif yang saling melengkapi.</a:t>
            </a:r>
            <a:endParaRPr lang="en-US" sz="2100" dirty="0"/>
          </a:p>
        </p:txBody>
      </p:sp>
      <p:sp>
        <p:nvSpPr>
          <p:cNvPr id="17" name="Shape 15"/>
          <p:cNvSpPr/>
          <p:nvPr/>
        </p:nvSpPr>
        <p:spPr>
          <a:xfrm>
            <a:off x="1047750" y="5238274"/>
            <a:ext cx="7829550" cy="9525"/>
          </a:xfrm>
          <a:prstGeom prst="rect">
            <a:avLst/>
          </a:prstGeom>
          <a:solidFill>
            <a:srgbClr val="E6E4DD"/>
          </a:solidFill>
          <a:ln/>
        </p:spPr>
        <p:txBody>
          <a:bodyPr/>
          <a:lstStyle/>
          <a:p>
            <a:endParaRPr lang="en-ID"/>
          </a:p>
        </p:txBody>
      </p:sp>
      <p:sp>
        <p:nvSpPr>
          <p:cNvPr id="18" name="Text 16"/>
          <p:cNvSpPr/>
          <p:nvPr/>
        </p:nvSpPr>
        <p:spPr>
          <a:xfrm>
            <a:off x="1047750" y="4320064"/>
            <a:ext cx="4762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F2654E"/>
                </a:solidFill>
                <a:latin typeface="Segoe UI" pitchFamily="34" charset="0"/>
                <a:ea typeface="Segoe UI" pitchFamily="34" charset="-122"/>
                <a:cs typeface="Segoe UI" pitchFamily="34" charset="-120"/>
              </a:rPr>
              <a:t>5</a:t>
            </a:r>
            <a:endParaRPr lang="en-US" sz="2100" dirty="0"/>
          </a:p>
        </p:txBody>
      </p:sp>
      <p:sp>
        <p:nvSpPr>
          <p:cNvPr id="19" name="Text 17"/>
          <p:cNvSpPr/>
          <p:nvPr/>
        </p:nvSpPr>
        <p:spPr>
          <a:xfrm>
            <a:off x="1676400" y="4320064"/>
            <a:ext cx="7416927" cy="78486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00" dirty="0">
                <a:solidFill>
                  <a:srgbClr val="23231F"/>
                </a:solidFill>
                <a:latin typeface="Segoe UI" pitchFamily="34" charset="0"/>
                <a:ea typeface="Segoe UI" pitchFamily="34" charset="-122"/>
                <a:cs typeface="Segoe UI" pitchFamily="34" charset="-120"/>
              </a:rPr>
              <a:t>Merangkai 1 Tableau Story yang menceritakan perjalanan analitis.</a:t>
            </a:r>
            <a:endParaRPr lang="en-US" sz="2100" dirty="0"/>
          </a:p>
        </p:txBody>
      </p:sp>
      <p:sp>
        <p:nvSpPr>
          <p:cNvPr id="20" name="Shape 18"/>
          <p:cNvSpPr/>
          <p:nvPr/>
        </p:nvSpPr>
        <p:spPr>
          <a:xfrm>
            <a:off x="9410700" y="5238274"/>
            <a:ext cx="7829550" cy="9525"/>
          </a:xfrm>
          <a:prstGeom prst="rect">
            <a:avLst/>
          </a:prstGeom>
          <a:solidFill>
            <a:srgbClr val="E6E4DD"/>
          </a:solidFill>
          <a:ln/>
        </p:spPr>
        <p:txBody>
          <a:bodyPr/>
          <a:lstStyle/>
          <a:p>
            <a:endParaRPr lang="en-ID"/>
          </a:p>
        </p:txBody>
      </p:sp>
      <p:sp>
        <p:nvSpPr>
          <p:cNvPr id="21" name="Text 19"/>
          <p:cNvSpPr/>
          <p:nvPr/>
        </p:nvSpPr>
        <p:spPr>
          <a:xfrm>
            <a:off x="9410700" y="4320064"/>
            <a:ext cx="4762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F2654E"/>
                </a:solidFill>
                <a:latin typeface="Segoe UI" pitchFamily="34" charset="0"/>
                <a:ea typeface="Segoe UI" pitchFamily="34" charset="-122"/>
                <a:cs typeface="Segoe UI" pitchFamily="34" charset="-120"/>
              </a:rPr>
              <a:t>6</a:t>
            </a:r>
            <a:endParaRPr lang="en-US" sz="2100" dirty="0"/>
          </a:p>
        </p:txBody>
      </p:sp>
      <p:sp>
        <p:nvSpPr>
          <p:cNvPr id="22" name="Text 20"/>
          <p:cNvSpPr/>
          <p:nvPr/>
        </p:nvSpPr>
        <p:spPr>
          <a:xfrm>
            <a:off x="10039350" y="4320064"/>
            <a:ext cx="7416927" cy="78486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00" dirty="0">
                <a:solidFill>
                  <a:srgbClr val="23231F"/>
                </a:solidFill>
                <a:latin typeface="Segoe UI" pitchFamily="34" charset="0"/>
                <a:ea typeface="Segoe UI" pitchFamily="34" charset="-122"/>
                <a:cs typeface="Segoe UI" pitchFamily="34" charset="-120"/>
              </a:rPr>
              <a:t>Merumuskan rekomendasi strategis yang dapat ditindaklanjuti.</a:t>
            </a:r>
            <a:endParaRPr lang="en-US" sz="2100" dirty="0"/>
          </a:p>
        </p:txBody>
      </p:sp>
      <p:sp>
        <p:nvSpPr>
          <p:cNvPr id="23" name="Shape 21"/>
          <p:cNvSpPr/>
          <p:nvPr/>
        </p:nvSpPr>
        <p:spPr>
          <a:xfrm>
            <a:off x="1047750" y="8218170"/>
            <a:ext cx="16192500" cy="1344930"/>
          </a:xfrm>
          <a:prstGeom prst="roundRect">
            <a:avLst>
              <a:gd name="adj" fmla="val 9915"/>
            </a:avLst>
          </a:prstGeom>
          <a:solidFill>
            <a:srgbClr val="FFEEE8"/>
          </a:solidFill>
          <a:ln/>
        </p:spPr>
        <p:txBody>
          <a:bodyPr/>
          <a:lstStyle/>
          <a:p>
            <a:endParaRPr lang="en-ID"/>
          </a:p>
        </p:txBody>
      </p:sp>
      <p:sp>
        <p:nvSpPr>
          <p:cNvPr id="24" name="Text 22"/>
          <p:cNvSpPr/>
          <p:nvPr/>
        </p:nvSpPr>
        <p:spPr>
          <a:xfrm>
            <a:off x="1390650" y="8503920"/>
            <a:ext cx="15992475" cy="81153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b="1" dirty="0">
                <a:solidFill>
                  <a:srgbClr val="B0402C"/>
                </a:solidFill>
                <a:latin typeface="Segoe UI" pitchFamily="34" charset="0"/>
                <a:ea typeface="Segoe UI" pitchFamily="34" charset="-122"/>
                <a:cs typeface="Segoe UI" pitchFamily="34" charset="-120"/>
              </a:rPr>
              <a:t>Kompetensi utama: </a:t>
            </a:r>
            <a:r>
              <a:rPr lang="en-US" sz="2100" dirty="0">
                <a:solidFill>
                  <a:srgbClr val="B0402C"/>
                </a:solidFill>
                <a:highlight>
                  <a:srgbClr val="FFEEE8"/>
                </a:highlight>
                <a:latin typeface="Segoe UI" pitchFamily="34" charset="0"/>
                <a:ea typeface="Segoe UI" pitchFamily="34" charset="-122"/>
                <a:cs typeface="Segoe UI" pitchFamily="34" charset="-120"/>
              </a:rPr>
              <a:t>kemampuan berpikir analitis, judgment dalam memilih visualisasi, dan kualitas rekomendasi. Bukan keterampilan teknis Tableau semata.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800100"/>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2654E"/>
                </a:solidFill>
                <a:latin typeface="Segoe UI" pitchFamily="34" charset="0"/>
                <a:ea typeface="Segoe UI" pitchFamily="34" charset="-122"/>
                <a:cs typeface="Segoe UI" pitchFamily="34" charset="-120"/>
              </a:rPr>
              <a:t>04 / DATASET</a:t>
            </a:r>
            <a:endParaRPr lang="en-US" sz="1800" dirty="0"/>
          </a:p>
        </p:txBody>
      </p:sp>
      <p:sp>
        <p:nvSpPr>
          <p:cNvPr id="3" name="Text 1"/>
          <p:cNvSpPr/>
          <p:nvPr/>
        </p:nvSpPr>
        <p:spPr>
          <a:xfrm>
            <a:off x="1047750" y="1238250"/>
            <a:ext cx="16678275" cy="603409"/>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200" b="1" kern="0" spc="-37" dirty="0">
                <a:solidFill>
                  <a:srgbClr val="23231F"/>
                </a:solidFill>
                <a:latin typeface="Segoe UI" pitchFamily="34" charset="0"/>
                <a:ea typeface="Segoe UI" pitchFamily="34" charset="-122"/>
                <a:cs typeface="Segoe UI" pitchFamily="34" charset="-120"/>
              </a:rPr>
              <a:t>Global Superstore Dataset</a:t>
            </a:r>
            <a:endParaRPr lang="en-US" sz="4200" dirty="0"/>
          </a:p>
        </p:txBody>
      </p:sp>
      <p:sp>
        <p:nvSpPr>
          <p:cNvPr id="4" name="Shape 2"/>
          <p:cNvSpPr/>
          <p:nvPr/>
        </p:nvSpPr>
        <p:spPr>
          <a:xfrm>
            <a:off x="1047750" y="2013109"/>
            <a:ext cx="685800" cy="47625"/>
          </a:xfrm>
          <a:prstGeom prst="roundRect">
            <a:avLst>
              <a:gd name="adj" fmla="val 50000"/>
            </a:avLst>
          </a:prstGeom>
          <a:solidFill>
            <a:srgbClr val="F2654E"/>
          </a:solidFill>
          <a:ln/>
        </p:spPr>
        <p:txBody>
          <a:bodyPr/>
          <a:lstStyle/>
          <a:p>
            <a:endParaRPr lang="en-ID"/>
          </a:p>
        </p:txBody>
      </p:sp>
      <p:sp>
        <p:nvSpPr>
          <p:cNvPr id="5" name="Text 3"/>
          <p:cNvSpPr/>
          <p:nvPr/>
        </p:nvSpPr>
        <p:spPr>
          <a:xfrm>
            <a:off x="1047750" y="2422684"/>
            <a:ext cx="2599730"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kern="0" spc="-150" dirty="0">
                <a:solidFill>
                  <a:srgbClr val="23231F"/>
                </a:solidFill>
                <a:latin typeface="Segoe UI" pitchFamily="34" charset="0"/>
                <a:ea typeface="Segoe UI" pitchFamily="34" charset="-122"/>
                <a:cs typeface="Segoe UI" pitchFamily="34" charset="-120"/>
              </a:rPr>
              <a:t>51.290</a:t>
            </a:r>
            <a:endParaRPr lang="en-US" sz="6600" dirty="0"/>
          </a:p>
        </p:txBody>
      </p:sp>
      <p:sp>
        <p:nvSpPr>
          <p:cNvPr id="6" name="Text 4"/>
          <p:cNvSpPr/>
          <p:nvPr/>
        </p:nvSpPr>
        <p:spPr>
          <a:xfrm>
            <a:off x="1047750" y="3356134"/>
            <a:ext cx="2599730" cy="365760"/>
          </a:xfrm>
          <a:prstGeom prst="rect">
            <a:avLst/>
          </a:prstGeom>
          <a:noFill/>
          <a:ln/>
        </p:spPr>
        <p:txBody>
          <a:bodyPr wrap="square" lIns="25400" tIns="25400" rIns="25400" bIns="25400" rtlCol="0" anchor="t">
            <a:normAutofit/>
          </a:bodyPr>
          <a:lstStyle/>
          <a:p>
            <a:pPr marL="0" indent="0" algn="l">
              <a:buNone/>
            </a:pPr>
            <a:r>
              <a:rPr lang="en-US" sz="1950" dirty="0">
                <a:solidFill>
                  <a:srgbClr val="6E6E66"/>
                </a:solidFill>
                <a:latin typeface="Segoe UI" pitchFamily="34" charset="0"/>
                <a:ea typeface="Segoe UI" pitchFamily="34" charset="-122"/>
                <a:cs typeface="Segoe UI" pitchFamily="34" charset="-120"/>
              </a:rPr>
              <a:t>baris transaksi</a:t>
            </a:r>
            <a:endParaRPr lang="en-US" sz="1950" dirty="0"/>
          </a:p>
        </p:txBody>
      </p:sp>
      <p:sp>
        <p:nvSpPr>
          <p:cNvPr id="7" name="Text 5"/>
          <p:cNvSpPr/>
          <p:nvPr/>
        </p:nvSpPr>
        <p:spPr>
          <a:xfrm>
            <a:off x="3952280" y="2422684"/>
            <a:ext cx="1556385"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kern="0" spc="-150" dirty="0">
                <a:solidFill>
                  <a:srgbClr val="23231F"/>
                </a:solidFill>
                <a:latin typeface="Segoe UI" pitchFamily="34" charset="0"/>
                <a:ea typeface="Segoe UI" pitchFamily="34" charset="-122"/>
                <a:cs typeface="Segoe UI" pitchFamily="34" charset="-120"/>
              </a:rPr>
              <a:t>24</a:t>
            </a:r>
            <a:endParaRPr lang="en-US" sz="6600" dirty="0"/>
          </a:p>
        </p:txBody>
      </p:sp>
      <p:sp>
        <p:nvSpPr>
          <p:cNvPr id="8" name="Text 6"/>
          <p:cNvSpPr/>
          <p:nvPr/>
        </p:nvSpPr>
        <p:spPr>
          <a:xfrm>
            <a:off x="3952280" y="3356134"/>
            <a:ext cx="1556385" cy="365760"/>
          </a:xfrm>
          <a:prstGeom prst="rect">
            <a:avLst/>
          </a:prstGeom>
          <a:noFill/>
          <a:ln/>
        </p:spPr>
        <p:txBody>
          <a:bodyPr wrap="square" lIns="25400" tIns="25400" rIns="25400" bIns="25400" rtlCol="0" anchor="t">
            <a:normAutofit/>
          </a:bodyPr>
          <a:lstStyle/>
          <a:p>
            <a:pPr marL="0" indent="0" algn="l">
              <a:buNone/>
            </a:pPr>
            <a:r>
              <a:rPr lang="en-US" sz="1950" dirty="0">
                <a:solidFill>
                  <a:srgbClr val="6E6E66"/>
                </a:solidFill>
                <a:latin typeface="Segoe UI" pitchFamily="34" charset="0"/>
                <a:ea typeface="Segoe UI" pitchFamily="34" charset="-122"/>
                <a:cs typeface="Segoe UI" pitchFamily="34" charset="-120"/>
              </a:rPr>
              <a:t>kolom atribut</a:t>
            </a:r>
            <a:endParaRPr lang="en-US" sz="1950" dirty="0"/>
          </a:p>
        </p:txBody>
      </p:sp>
      <p:sp>
        <p:nvSpPr>
          <p:cNvPr id="9" name="Shape 7"/>
          <p:cNvSpPr/>
          <p:nvPr/>
        </p:nvSpPr>
        <p:spPr>
          <a:xfrm>
            <a:off x="1047750" y="3912394"/>
            <a:ext cx="7055168" cy="2198370"/>
          </a:xfrm>
          <a:prstGeom prst="roundRect">
            <a:avLst>
              <a:gd name="adj" fmla="val 6066"/>
            </a:avLst>
          </a:prstGeom>
          <a:solidFill>
            <a:srgbClr val="FFFFFF"/>
          </a:solidFill>
          <a:ln w="7620">
            <a:solidFill>
              <a:srgbClr val="E8E6E0"/>
            </a:solidFill>
            <a:prstDash val="solid"/>
          </a:ln>
        </p:spPr>
        <p:txBody>
          <a:bodyPr/>
          <a:lstStyle/>
          <a:p>
            <a:endParaRPr lang="en-ID"/>
          </a:p>
        </p:txBody>
      </p:sp>
      <p:sp>
        <p:nvSpPr>
          <p:cNvPr id="10" name="Text 8"/>
          <p:cNvSpPr/>
          <p:nvPr/>
        </p:nvSpPr>
        <p:spPr>
          <a:xfrm>
            <a:off x="1379220" y="4205764"/>
            <a:ext cx="922496" cy="365760"/>
          </a:xfrm>
          <a:prstGeom prst="rect">
            <a:avLst/>
          </a:prstGeom>
          <a:noFill/>
          <a:ln/>
        </p:spPr>
        <p:txBody>
          <a:bodyPr wrap="square" lIns="25400" tIns="25400" rIns="25400" bIns="25400" rtlCol="0" anchor="t">
            <a:normAutofit/>
          </a:bodyPr>
          <a:lstStyle/>
          <a:p>
            <a:pPr marL="0" indent="0" algn="l">
              <a:buNone/>
            </a:pPr>
            <a:r>
              <a:rPr lang="en-US" sz="1950" dirty="0">
                <a:solidFill>
                  <a:srgbClr val="6E6E66"/>
                </a:solidFill>
                <a:latin typeface="Segoe UI" pitchFamily="34" charset="0"/>
                <a:ea typeface="Segoe UI" pitchFamily="34" charset="-122"/>
                <a:cs typeface="Segoe UI" pitchFamily="34" charset="-120"/>
              </a:rPr>
              <a:t>Sumber</a:t>
            </a:r>
            <a:endParaRPr lang="en-US" sz="1950" dirty="0"/>
          </a:p>
        </p:txBody>
      </p:sp>
      <p:sp>
        <p:nvSpPr>
          <p:cNvPr id="11" name="Text 9"/>
          <p:cNvSpPr/>
          <p:nvPr/>
        </p:nvSpPr>
        <p:spPr>
          <a:xfrm>
            <a:off x="3952280" y="4144328"/>
            <a:ext cx="2692070" cy="365760"/>
          </a:xfrm>
          <a:prstGeom prst="rect">
            <a:avLst/>
          </a:prstGeom>
          <a:noFill/>
          <a:ln/>
        </p:spPr>
        <p:txBody>
          <a:bodyPr wrap="square" lIns="25400" tIns="25400" rIns="25400" bIns="25400" rtlCol="0" anchor="t">
            <a:normAutofit fontScale="92500"/>
          </a:bodyPr>
          <a:lstStyle/>
          <a:p>
            <a:pPr marL="0" indent="0" algn="l">
              <a:buNone/>
            </a:pPr>
            <a:r>
              <a:rPr lang="en-US" sz="1950" b="1" dirty="0">
                <a:solidFill>
                  <a:srgbClr val="23231F"/>
                </a:solidFill>
                <a:latin typeface="Segoe UI" pitchFamily="34" charset="0"/>
                <a:ea typeface="Segoe UI" pitchFamily="34" charset="-122"/>
                <a:cs typeface="Segoe UI" pitchFamily="34" charset="-120"/>
              </a:rPr>
              <a:t>Kaggle (Public Dataset)</a:t>
            </a:r>
            <a:endParaRPr lang="en-US" sz="1950" dirty="0"/>
          </a:p>
        </p:txBody>
      </p:sp>
      <p:sp>
        <p:nvSpPr>
          <p:cNvPr id="12" name="Shape 10"/>
          <p:cNvSpPr/>
          <p:nvPr/>
        </p:nvSpPr>
        <p:spPr>
          <a:xfrm>
            <a:off x="1379220" y="4685824"/>
            <a:ext cx="6392228" cy="9525"/>
          </a:xfrm>
          <a:prstGeom prst="rect">
            <a:avLst/>
          </a:prstGeom>
          <a:solidFill>
            <a:srgbClr val="EEEDE7"/>
          </a:solidFill>
          <a:ln/>
        </p:spPr>
        <p:txBody>
          <a:bodyPr/>
          <a:lstStyle/>
          <a:p>
            <a:endParaRPr lang="en-ID"/>
          </a:p>
        </p:txBody>
      </p:sp>
      <p:sp>
        <p:nvSpPr>
          <p:cNvPr id="13" name="Text 11"/>
          <p:cNvSpPr/>
          <p:nvPr/>
        </p:nvSpPr>
        <p:spPr>
          <a:xfrm>
            <a:off x="1379220" y="4847749"/>
            <a:ext cx="851654" cy="365760"/>
          </a:xfrm>
          <a:prstGeom prst="rect">
            <a:avLst/>
          </a:prstGeom>
          <a:noFill/>
          <a:ln/>
        </p:spPr>
        <p:txBody>
          <a:bodyPr wrap="square" lIns="25400" tIns="25400" rIns="25400" bIns="25400" rtlCol="0" anchor="t">
            <a:normAutofit/>
          </a:bodyPr>
          <a:lstStyle/>
          <a:p>
            <a:pPr marL="0" indent="0" algn="l">
              <a:buNone/>
            </a:pPr>
            <a:r>
              <a:rPr lang="en-US" sz="1950" dirty="0">
                <a:solidFill>
                  <a:srgbClr val="6E6E66"/>
                </a:solidFill>
                <a:latin typeface="Segoe UI" pitchFamily="34" charset="0"/>
                <a:ea typeface="Segoe UI" pitchFamily="34" charset="-122"/>
                <a:cs typeface="Segoe UI" pitchFamily="34" charset="-120"/>
              </a:rPr>
              <a:t>Format</a:t>
            </a:r>
            <a:endParaRPr lang="en-US" sz="1950" dirty="0"/>
          </a:p>
        </p:txBody>
      </p:sp>
      <p:sp>
        <p:nvSpPr>
          <p:cNvPr id="14" name="Text 12"/>
          <p:cNvSpPr/>
          <p:nvPr/>
        </p:nvSpPr>
        <p:spPr>
          <a:xfrm>
            <a:off x="3952280" y="4847749"/>
            <a:ext cx="3715027" cy="461010"/>
          </a:xfrm>
          <a:prstGeom prst="rect">
            <a:avLst/>
          </a:prstGeom>
          <a:noFill/>
          <a:ln/>
        </p:spPr>
        <p:txBody>
          <a:bodyPr wrap="square" lIns="25400" tIns="25400" rIns="25400" bIns="25400" rtlCol="0" anchor="t">
            <a:normAutofit/>
          </a:bodyPr>
          <a:lstStyle/>
          <a:p>
            <a:pPr marL="0" indent="0" algn="l">
              <a:buNone/>
            </a:pPr>
            <a:r>
              <a:rPr lang="en-US" sz="1950" b="1" dirty="0">
                <a:solidFill>
                  <a:srgbClr val="23231F"/>
                </a:solidFill>
                <a:latin typeface="Segoe UI" pitchFamily="34" charset="0"/>
                <a:ea typeface="Segoe UI" pitchFamily="34" charset="-122"/>
                <a:cs typeface="Segoe UI" pitchFamily="34" charset="-120"/>
              </a:rPr>
              <a:t>CSV, kompatibel Tableau</a:t>
            </a:r>
            <a:endParaRPr lang="en-US" sz="1950" dirty="0"/>
          </a:p>
        </p:txBody>
      </p:sp>
      <p:sp>
        <p:nvSpPr>
          <p:cNvPr id="15" name="Shape 13"/>
          <p:cNvSpPr/>
          <p:nvPr/>
        </p:nvSpPr>
        <p:spPr>
          <a:xfrm>
            <a:off x="1379220" y="5327809"/>
            <a:ext cx="6392228" cy="9525"/>
          </a:xfrm>
          <a:prstGeom prst="rect">
            <a:avLst/>
          </a:prstGeom>
          <a:solidFill>
            <a:srgbClr val="EEEDE7"/>
          </a:solidFill>
          <a:ln/>
        </p:spPr>
        <p:txBody>
          <a:bodyPr/>
          <a:lstStyle/>
          <a:p>
            <a:endParaRPr lang="en-ID"/>
          </a:p>
        </p:txBody>
      </p:sp>
      <p:sp>
        <p:nvSpPr>
          <p:cNvPr id="16" name="Text 14"/>
          <p:cNvSpPr/>
          <p:nvPr/>
        </p:nvSpPr>
        <p:spPr>
          <a:xfrm>
            <a:off x="1379220" y="5489734"/>
            <a:ext cx="792599" cy="365760"/>
          </a:xfrm>
          <a:prstGeom prst="rect">
            <a:avLst/>
          </a:prstGeom>
          <a:noFill/>
          <a:ln/>
        </p:spPr>
        <p:txBody>
          <a:bodyPr wrap="square" lIns="25400" tIns="25400" rIns="25400" bIns="25400" rtlCol="0" anchor="t">
            <a:normAutofit/>
          </a:bodyPr>
          <a:lstStyle/>
          <a:p>
            <a:pPr marL="0" indent="0" algn="l">
              <a:buNone/>
            </a:pPr>
            <a:r>
              <a:rPr lang="en-US" sz="1950" dirty="0">
                <a:solidFill>
                  <a:srgbClr val="6E6E66"/>
                </a:solidFill>
                <a:latin typeface="Segoe UI" pitchFamily="34" charset="0"/>
                <a:ea typeface="Segoe UI" pitchFamily="34" charset="-122"/>
                <a:cs typeface="Segoe UI" pitchFamily="34" charset="-120"/>
              </a:rPr>
              <a:t>Lisensi</a:t>
            </a:r>
            <a:endParaRPr lang="en-US" sz="1950" dirty="0"/>
          </a:p>
        </p:txBody>
      </p:sp>
      <p:sp>
        <p:nvSpPr>
          <p:cNvPr id="17" name="Text 15"/>
          <p:cNvSpPr/>
          <p:nvPr/>
        </p:nvSpPr>
        <p:spPr>
          <a:xfrm>
            <a:off x="3974545" y="5502593"/>
            <a:ext cx="3022985" cy="316230"/>
          </a:xfrm>
          <a:prstGeom prst="rect">
            <a:avLst/>
          </a:prstGeom>
          <a:noFill/>
          <a:ln/>
        </p:spPr>
        <p:txBody>
          <a:bodyPr wrap="square" lIns="25400" tIns="25400" rIns="25400" bIns="25400" rtlCol="0" anchor="t">
            <a:normAutofit fontScale="92500" lnSpcReduction="10000"/>
          </a:bodyPr>
          <a:lstStyle/>
          <a:p>
            <a:pPr marL="0" indent="0" algn="l">
              <a:buNone/>
            </a:pPr>
            <a:r>
              <a:rPr lang="en-US" sz="1950" b="1" dirty="0">
                <a:solidFill>
                  <a:srgbClr val="23231F"/>
                </a:solidFill>
                <a:latin typeface="Segoe UI" pitchFamily="34" charset="0"/>
                <a:ea typeface="Segoe UI" pitchFamily="34" charset="-122"/>
                <a:cs typeface="Segoe UI" pitchFamily="34" charset="-120"/>
              </a:rPr>
              <a:t>Public / Open</a:t>
            </a:r>
            <a:endParaRPr lang="en-US" sz="1950" dirty="0"/>
          </a:p>
        </p:txBody>
      </p:sp>
      <p:sp>
        <p:nvSpPr>
          <p:cNvPr id="18" name="Text 16"/>
          <p:cNvSpPr/>
          <p:nvPr/>
        </p:nvSpPr>
        <p:spPr>
          <a:xfrm>
            <a:off x="1047750" y="6339364"/>
            <a:ext cx="7266823" cy="72866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75" dirty="0">
                <a:solidFill>
                  <a:srgbClr val="6E6E66"/>
                </a:solidFill>
                <a:latin typeface="Segoe UI" pitchFamily="34" charset="0"/>
                <a:ea typeface="Segoe UI" pitchFamily="34" charset="-122"/>
                <a:cs typeface="Segoe UI" pitchFamily="34" charset="-120"/>
              </a:rPr>
              <a:t>Lebih kaya dimensi dari Superstore standar. Pahami struktur datanya secara mandiri sebelum membangun visualisasi.</a:t>
            </a:r>
            <a:endParaRPr lang="en-US" sz="1875" dirty="0"/>
          </a:p>
        </p:txBody>
      </p:sp>
      <p:sp>
        <p:nvSpPr>
          <p:cNvPr id="19" name="Shape 17"/>
          <p:cNvSpPr/>
          <p:nvPr/>
        </p:nvSpPr>
        <p:spPr>
          <a:xfrm>
            <a:off x="8617268" y="2422684"/>
            <a:ext cx="8622982" cy="7140416"/>
          </a:xfrm>
          <a:prstGeom prst="roundRect">
            <a:avLst>
              <a:gd name="adj" fmla="val 1868"/>
            </a:avLst>
          </a:prstGeom>
          <a:solidFill>
            <a:srgbClr val="FFFFFF"/>
          </a:solidFill>
          <a:ln w="7620">
            <a:solidFill>
              <a:srgbClr val="E8E6E0"/>
            </a:solidFill>
            <a:prstDash val="solid"/>
          </a:ln>
        </p:spPr>
        <p:txBody>
          <a:bodyPr/>
          <a:lstStyle/>
          <a:p>
            <a:endParaRPr lang="en-ID"/>
          </a:p>
        </p:txBody>
      </p:sp>
      <p:sp>
        <p:nvSpPr>
          <p:cNvPr id="20" name="Text 18"/>
          <p:cNvSpPr/>
          <p:nvPr/>
        </p:nvSpPr>
        <p:spPr>
          <a:xfrm>
            <a:off x="8986838" y="2754154"/>
            <a:ext cx="8120358" cy="342900"/>
          </a:xfrm>
          <a:prstGeom prst="rect">
            <a:avLst/>
          </a:prstGeom>
          <a:noFill/>
          <a:ln/>
        </p:spPr>
        <p:txBody>
          <a:bodyPr wrap="square" lIns="25400" tIns="25400" rIns="25400" bIns="25400" rtlCol="0" anchor="t">
            <a:normAutofit/>
          </a:bodyPr>
          <a:lstStyle/>
          <a:p>
            <a:pPr marL="0" indent="0" algn="l">
              <a:buNone/>
            </a:pPr>
            <a:r>
              <a:rPr lang="en-US" sz="1800" b="1" kern="0" spc="150" dirty="0">
                <a:solidFill>
                  <a:srgbClr val="F2654E"/>
                </a:solidFill>
                <a:latin typeface="Segoe UI" pitchFamily="34" charset="0"/>
                <a:ea typeface="Segoe UI" pitchFamily="34" charset="-122"/>
                <a:cs typeface="Segoe UI" pitchFamily="34" charset="-120"/>
              </a:rPr>
              <a:t>ENAM DIMENSI UTAMA</a:t>
            </a:r>
            <a:endParaRPr lang="en-US" sz="1800" dirty="0"/>
          </a:p>
        </p:txBody>
      </p:sp>
      <p:sp>
        <p:nvSpPr>
          <p:cNvPr id="21" name="Text 19"/>
          <p:cNvSpPr/>
          <p:nvPr/>
        </p:nvSpPr>
        <p:spPr>
          <a:xfrm>
            <a:off x="8986838" y="3268504"/>
            <a:ext cx="1981200"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23231F"/>
                </a:solidFill>
                <a:latin typeface="Segoe UI" pitchFamily="34" charset="0"/>
                <a:ea typeface="Segoe UI" pitchFamily="34" charset="-122"/>
                <a:cs typeface="Segoe UI" pitchFamily="34" charset="-120"/>
              </a:rPr>
              <a:t>Waktu</a:t>
            </a:r>
            <a:endParaRPr lang="en-US" sz="2025" dirty="0"/>
          </a:p>
        </p:txBody>
      </p:sp>
      <p:sp>
        <p:nvSpPr>
          <p:cNvPr id="22" name="Text 20"/>
          <p:cNvSpPr/>
          <p:nvPr/>
        </p:nvSpPr>
        <p:spPr>
          <a:xfrm>
            <a:off x="11101388" y="3283744"/>
            <a:ext cx="2378988"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6E6E66"/>
                </a:solidFill>
                <a:latin typeface="Segoe UI" pitchFamily="34" charset="0"/>
                <a:ea typeface="Segoe UI" pitchFamily="34" charset="-122"/>
                <a:cs typeface="Segoe UI" pitchFamily="34" charset="-120"/>
              </a:rPr>
              <a:t>Order Date, Ship Date</a:t>
            </a:r>
            <a:endParaRPr lang="en-US" sz="1875" dirty="0"/>
          </a:p>
        </p:txBody>
      </p:sp>
      <p:sp>
        <p:nvSpPr>
          <p:cNvPr id="23" name="Shape 21"/>
          <p:cNvSpPr/>
          <p:nvPr/>
        </p:nvSpPr>
        <p:spPr>
          <a:xfrm>
            <a:off x="8986838" y="3776662"/>
            <a:ext cx="7883843" cy="9525"/>
          </a:xfrm>
          <a:prstGeom prst="rect">
            <a:avLst/>
          </a:prstGeom>
          <a:solidFill>
            <a:srgbClr val="EEEDE7"/>
          </a:solidFill>
          <a:ln/>
        </p:spPr>
        <p:txBody>
          <a:bodyPr/>
          <a:lstStyle/>
          <a:p>
            <a:endParaRPr lang="en-ID"/>
          </a:p>
        </p:txBody>
      </p:sp>
      <p:sp>
        <p:nvSpPr>
          <p:cNvPr id="24" name="Text 22"/>
          <p:cNvSpPr/>
          <p:nvPr/>
        </p:nvSpPr>
        <p:spPr>
          <a:xfrm>
            <a:off x="8986838" y="3957638"/>
            <a:ext cx="1981200"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23231F"/>
                </a:solidFill>
                <a:latin typeface="Segoe UI" pitchFamily="34" charset="0"/>
                <a:ea typeface="Segoe UI" pitchFamily="34" charset="-122"/>
                <a:cs typeface="Segoe UI" pitchFamily="34" charset="-120"/>
              </a:rPr>
              <a:t>Geografi</a:t>
            </a:r>
            <a:endParaRPr lang="en-US" sz="2025" dirty="0"/>
          </a:p>
        </p:txBody>
      </p:sp>
      <p:sp>
        <p:nvSpPr>
          <p:cNvPr id="25" name="Text 23"/>
          <p:cNvSpPr/>
          <p:nvPr/>
        </p:nvSpPr>
        <p:spPr>
          <a:xfrm>
            <a:off x="11101388" y="3972878"/>
            <a:ext cx="3814174"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6E6E66"/>
                </a:solidFill>
                <a:latin typeface="Segoe UI" pitchFamily="34" charset="0"/>
                <a:ea typeface="Segoe UI" pitchFamily="34" charset="-122"/>
                <a:cs typeface="Segoe UI" pitchFamily="34" charset="-120"/>
              </a:rPr>
              <a:t>Country, State, City, Region, Market</a:t>
            </a:r>
            <a:endParaRPr lang="en-US" sz="1875" dirty="0"/>
          </a:p>
        </p:txBody>
      </p:sp>
      <p:sp>
        <p:nvSpPr>
          <p:cNvPr id="26" name="Shape 24"/>
          <p:cNvSpPr/>
          <p:nvPr/>
        </p:nvSpPr>
        <p:spPr>
          <a:xfrm>
            <a:off x="8986838" y="4465796"/>
            <a:ext cx="7883843" cy="9525"/>
          </a:xfrm>
          <a:prstGeom prst="rect">
            <a:avLst/>
          </a:prstGeom>
          <a:solidFill>
            <a:srgbClr val="EEEDE7"/>
          </a:solidFill>
          <a:ln/>
        </p:spPr>
        <p:txBody>
          <a:bodyPr/>
          <a:lstStyle/>
          <a:p>
            <a:endParaRPr lang="en-ID"/>
          </a:p>
        </p:txBody>
      </p:sp>
      <p:sp>
        <p:nvSpPr>
          <p:cNvPr id="27" name="Text 25"/>
          <p:cNvSpPr/>
          <p:nvPr/>
        </p:nvSpPr>
        <p:spPr>
          <a:xfrm>
            <a:off x="8986838" y="4646771"/>
            <a:ext cx="1981200"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23231F"/>
                </a:solidFill>
                <a:latin typeface="Segoe UI" pitchFamily="34" charset="0"/>
                <a:ea typeface="Segoe UI" pitchFamily="34" charset="-122"/>
                <a:cs typeface="Segoe UI" pitchFamily="34" charset="-120"/>
              </a:rPr>
              <a:t>Produk</a:t>
            </a:r>
            <a:endParaRPr lang="en-US" sz="2025" dirty="0"/>
          </a:p>
        </p:txBody>
      </p:sp>
      <p:sp>
        <p:nvSpPr>
          <p:cNvPr id="28" name="Text 26"/>
          <p:cNvSpPr/>
          <p:nvPr/>
        </p:nvSpPr>
        <p:spPr>
          <a:xfrm>
            <a:off x="11101388" y="4662011"/>
            <a:ext cx="4273318"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6E6E66"/>
                </a:solidFill>
                <a:latin typeface="Segoe UI" pitchFamily="34" charset="0"/>
                <a:ea typeface="Segoe UI" pitchFamily="34" charset="-122"/>
                <a:cs typeface="Segoe UI" pitchFamily="34" charset="-120"/>
              </a:rPr>
              <a:t>Category, Sub-Category, Product Name</a:t>
            </a:r>
            <a:endParaRPr lang="en-US" sz="1875" dirty="0"/>
          </a:p>
        </p:txBody>
      </p:sp>
      <p:sp>
        <p:nvSpPr>
          <p:cNvPr id="29" name="Shape 27"/>
          <p:cNvSpPr/>
          <p:nvPr/>
        </p:nvSpPr>
        <p:spPr>
          <a:xfrm>
            <a:off x="8986838" y="5154930"/>
            <a:ext cx="7883843" cy="9525"/>
          </a:xfrm>
          <a:prstGeom prst="rect">
            <a:avLst/>
          </a:prstGeom>
          <a:solidFill>
            <a:srgbClr val="EEEDE7"/>
          </a:solidFill>
          <a:ln/>
        </p:spPr>
        <p:txBody>
          <a:bodyPr/>
          <a:lstStyle/>
          <a:p>
            <a:endParaRPr lang="en-ID"/>
          </a:p>
        </p:txBody>
      </p:sp>
      <p:sp>
        <p:nvSpPr>
          <p:cNvPr id="30" name="Text 28"/>
          <p:cNvSpPr/>
          <p:nvPr/>
        </p:nvSpPr>
        <p:spPr>
          <a:xfrm>
            <a:off x="8986838" y="5335905"/>
            <a:ext cx="1981200"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23231F"/>
                </a:solidFill>
                <a:latin typeface="Segoe UI" pitchFamily="34" charset="0"/>
                <a:ea typeface="Segoe UI" pitchFamily="34" charset="-122"/>
                <a:cs typeface="Segoe UI" pitchFamily="34" charset="-120"/>
              </a:rPr>
              <a:t>Pelanggan</a:t>
            </a:r>
            <a:endParaRPr lang="en-US" sz="2025" dirty="0"/>
          </a:p>
        </p:txBody>
      </p:sp>
      <p:sp>
        <p:nvSpPr>
          <p:cNvPr id="31" name="Text 29"/>
          <p:cNvSpPr/>
          <p:nvPr/>
        </p:nvSpPr>
        <p:spPr>
          <a:xfrm>
            <a:off x="11101388" y="5351145"/>
            <a:ext cx="2846221"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6E6E66"/>
                </a:solidFill>
                <a:latin typeface="Segoe UI" pitchFamily="34" charset="0"/>
                <a:ea typeface="Segoe UI" pitchFamily="34" charset="-122"/>
                <a:cs typeface="Segoe UI" pitchFamily="34" charset="-120"/>
              </a:rPr>
              <a:t>Customer Name, Segment</a:t>
            </a:r>
            <a:endParaRPr lang="en-US" sz="1875" dirty="0"/>
          </a:p>
        </p:txBody>
      </p:sp>
      <p:sp>
        <p:nvSpPr>
          <p:cNvPr id="32" name="Shape 30"/>
          <p:cNvSpPr/>
          <p:nvPr/>
        </p:nvSpPr>
        <p:spPr>
          <a:xfrm>
            <a:off x="8986838" y="5844064"/>
            <a:ext cx="7883843" cy="9525"/>
          </a:xfrm>
          <a:prstGeom prst="rect">
            <a:avLst/>
          </a:prstGeom>
          <a:solidFill>
            <a:srgbClr val="EEEDE7"/>
          </a:solidFill>
          <a:ln/>
        </p:spPr>
        <p:txBody>
          <a:bodyPr/>
          <a:lstStyle/>
          <a:p>
            <a:endParaRPr lang="en-ID"/>
          </a:p>
        </p:txBody>
      </p:sp>
      <p:sp>
        <p:nvSpPr>
          <p:cNvPr id="33" name="Text 31"/>
          <p:cNvSpPr/>
          <p:nvPr/>
        </p:nvSpPr>
        <p:spPr>
          <a:xfrm>
            <a:off x="8986838" y="6025039"/>
            <a:ext cx="1981200"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23231F"/>
                </a:solidFill>
                <a:latin typeface="Segoe UI" pitchFamily="34" charset="0"/>
                <a:ea typeface="Segoe UI" pitchFamily="34" charset="-122"/>
                <a:cs typeface="Segoe UI" pitchFamily="34" charset="-120"/>
              </a:rPr>
              <a:t>Finansial</a:t>
            </a:r>
            <a:endParaRPr lang="en-US" sz="2025" dirty="0"/>
          </a:p>
        </p:txBody>
      </p:sp>
      <p:sp>
        <p:nvSpPr>
          <p:cNvPr id="34" name="Text 32"/>
          <p:cNvSpPr/>
          <p:nvPr/>
        </p:nvSpPr>
        <p:spPr>
          <a:xfrm>
            <a:off x="11101388" y="6040279"/>
            <a:ext cx="3956185"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6E6E66"/>
                </a:solidFill>
                <a:latin typeface="Segoe UI" pitchFamily="34" charset="0"/>
                <a:ea typeface="Segoe UI" pitchFamily="34" charset="-122"/>
                <a:cs typeface="Segoe UI" pitchFamily="34" charset="-120"/>
              </a:rPr>
              <a:t>Sales, Profit, Discount, Shipping Cost</a:t>
            </a:r>
            <a:endParaRPr lang="en-US" sz="1875" dirty="0"/>
          </a:p>
        </p:txBody>
      </p:sp>
      <p:sp>
        <p:nvSpPr>
          <p:cNvPr id="35" name="Shape 33"/>
          <p:cNvSpPr/>
          <p:nvPr/>
        </p:nvSpPr>
        <p:spPr>
          <a:xfrm>
            <a:off x="8986838" y="6533198"/>
            <a:ext cx="7883843" cy="9525"/>
          </a:xfrm>
          <a:prstGeom prst="rect">
            <a:avLst/>
          </a:prstGeom>
          <a:solidFill>
            <a:srgbClr val="EEEDE7"/>
          </a:solidFill>
          <a:ln/>
        </p:spPr>
        <p:txBody>
          <a:bodyPr/>
          <a:lstStyle/>
          <a:p>
            <a:endParaRPr lang="en-ID"/>
          </a:p>
        </p:txBody>
      </p:sp>
      <p:sp>
        <p:nvSpPr>
          <p:cNvPr id="36" name="Text 34"/>
          <p:cNvSpPr/>
          <p:nvPr/>
        </p:nvSpPr>
        <p:spPr>
          <a:xfrm>
            <a:off x="8986838" y="6714173"/>
            <a:ext cx="1981200"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23231F"/>
                </a:solidFill>
                <a:latin typeface="Segoe UI" pitchFamily="34" charset="0"/>
                <a:ea typeface="Segoe UI" pitchFamily="34" charset="-122"/>
                <a:cs typeface="Segoe UI" pitchFamily="34" charset="-120"/>
              </a:rPr>
              <a:t>Operasional</a:t>
            </a:r>
            <a:endParaRPr lang="en-US" sz="2025" dirty="0"/>
          </a:p>
        </p:txBody>
      </p:sp>
      <p:sp>
        <p:nvSpPr>
          <p:cNvPr id="37" name="Text 35"/>
          <p:cNvSpPr/>
          <p:nvPr/>
        </p:nvSpPr>
        <p:spPr>
          <a:xfrm>
            <a:off x="11101388" y="6729413"/>
            <a:ext cx="2764424"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6E6E66"/>
                </a:solidFill>
                <a:latin typeface="Segoe UI" pitchFamily="34" charset="0"/>
                <a:ea typeface="Segoe UI" pitchFamily="34" charset="-122"/>
                <a:cs typeface="Segoe UI" pitchFamily="34" charset="-120"/>
              </a:rPr>
              <a:t>Ship Mode, Order Priority</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800100"/>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2654E"/>
                </a:solidFill>
                <a:latin typeface="Segoe UI" pitchFamily="34" charset="0"/>
                <a:ea typeface="Segoe UI" pitchFamily="34" charset="-122"/>
                <a:cs typeface="Segoe UI" pitchFamily="34" charset="-120"/>
              </a:rPr>
              <a:t>05 / USE CASE</a:t>
            </a:r>
            <a:endParaRPr lang="en-US" sz="1800" dirty="0"/>
          </a:p>
        </p:txBody>
      </p:sp>
      <p:sp>
        <p:nvSpPr>
          <p:cNvPr id="3" name="Text 1"/>
          <p:cNvSpPr/>
          <p:nvPr/>
        </p:nvSpPr>
        <p:spPr>
          <a:xfrm>
            <a:off x="1047750" y="1238250"/>
            <a:ext cx="16678275" cy="603409"/>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200" b="1" kern="0" spc="-37" dirty="0">
                <a:solidFill>
                  <a:srgbClr val="23231F"/>
                </a:solidFill>
                <a:latin typeface="Segoe UI" pitchFamily="34" charset="0"/>
                <a:ea typeface="Segoe UI" pitchFamily="34" charset="-122"/>
                <a:cs typeface="Segoe UI" pitchFamily="34" charset="-120"/>
              </a:rPr>
              <a:t>Setiap kelompok punya sudut pandang sendiri</a:t>
            </a:r>
            <a:endParaRPr lang="en-US" sz="4200" dirty="0"/>
          </a:p>
        </p:txBody>
      </p:sp>
      <p:sp>
        <p:nvSpPr>
          <p:cNvPr id="4" name="Shape 2"/>
          <p:cNvSpPr/>
          <p:nvPr/>
        </p:nvSpPr>
        <p:spPr>
          <a:xfrm>
            <a:off x="1047750" y="2013109"/>
            <a:ext cx="685800" cy="47625"/>
          </a:xfrm>
          <a:prstGeom prst="roundRect">
            <a:avLst>
              <a:gd name="adj" fmla="val 50000"/>
            </a:avLst>
          </a:prstGeom>
          <a:solidFill>
            <a:srgbClr val="F2654E"/>
          </a:solidFill>
          <a:ln/>
        </p:spPr>
        <p:txBody>
          <a:bodyPr/>
          <a:lstStyle/>
          <a:p>
            <a:endParaRPr lang="en-ID"/>
          </a:p>
        </p:txBody>
      </p:sp>
      <p:sp>
        <p:nvSpPr>
          <p:cNvPr id="5" name="Text 3"/>
          <p:cNvSpPr/>
          <p:nvPr/>
        </p:nvSpPr>
        <p:spPr>
          <a:xfrm>
            <a:off x="1047750" y="2346484"/>
            <a:ext cx="14912340" cy="895350"/>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46463F"/>
                </a:solidFill>
                <a:latin typeface="Segoe UI" pitchFamily="34" charset="0"/>
                <a:ea typeface="Segoe UI" pitchFamily="34" charset="-122"/>
                <a:cs typeface="Segoe UI" pitchFamily="34" charset="-120"/>
              </a:rPr>
              <a:t>Ada 10 use case yang berbeda. Use case menentukan empat hal yang harus konsisten di seluruh analisis kelompok.</a:t>
            </a:r>
            <a:endParaRPr lang="en-US" sz="2250" dirty="0"/>
          </a:p>
        </p:txBody>
      </p:sp>
      <p:sp>
        <p:nvSpPr>
          <p:cNvPr id="6" name="Shape 4"/>
          <p:cNvSpPr/>
          <p:nvPr/>
        </p:nvSpPr>
        <p:spPr>
          <a:xfrm>
            <a:off x="1047750" y="7720965"/>
            <a:ext cx="3876675" cy="1842135"/>
          </a:xfrm>
          <a:prstGeom prst="roundRect">
            <a:avLst>
              <a:gd name="adj" fmla="val 7239"/>
            </a:avLst>
          </a:prstGeom>
          <a:solidFill>
            <a:srgbClr val="FFFFFF"/>
          </a:solidFill>
          <a:ln w="7620">
            <a:solidFill>
              <a:srgbClr val="E8E6E0"/>
            </a:solidFill>
            <a:prstDash val="solid"/>
          </a:ln>
        </p:spPr>
        <p:txBody>
          <a:bodyPr/>
          <a:lstStyle/>
          <a:p>
            <a:endParaRPr lang="en-ID"/>
          </a:p>
        </p:txBody>
      </p:sp>
      <p:sp>
        <p:nvSpPr>
          <p:cNvPr id="7" name="Text 5"/>
          <p:cNvSpPr/>
          <p:nvPr/>
        </p:nvSpPr>
        <p:spPr>
          <a:xfrm>
            <a:off x="1360170" y="8052435"/>
            <a:ext cx="3349390" cy="365760"/>
          </a:xfrm>
          <a:prstGeom prst="rect">
            <a:avLst/>
          </a:prstGeom>
          <a:noFill/>
          <a:ln/>
        </p:spPr>
        <p:txBody>
          <a:bodyPr wrap="square" lIns="25400" tIns="25400" rIns="25400" bIns="25400" rtlCol="0" anchor="t">
            <a:normAutofit/>
          </a:bodyPr>
          <a:lstStyle/>
          <a:p>
            <a:pPr marL="0" indent="0" algn="l">
              <a:buNone/>
            </a:pPr>
            <a:r>
              <a:rPr lang="en-US" sz="1950" b="1" dirty="0">
                <a:solidFill>
                  <a:srgbClr val="F2654E"/>
                </a:solidFill>
                <a:latin typeface="Segoe UI" pitchFamily="34" charset="0"/>
                <a:ea typeface="Segoe UI" pitchFamily="34" charset="-122"/>
                <a:cs typeface="Segoe UI" pitchFamily="34" charset="-120"/>
              </a:rPr>
              <a:t>Sudut Pandang</a:t>
            </a:r>
            <a:endParaRPr lang="en-US" sz="1950" dirty="0"/>
          </a:p>
        </p:txBody>
      </p:sp>
      <p:sp>
        <p:nvSpPr>
          <p:cNvPr id="8" name="Text 6"/>
          <p:cNvSpPr/>
          <p:nvPr/>
        </p:nvSpPr>
        <p:spPr>
          <a:xfrm>
            <a:off x="1360170" y="8513445"/>
            <a:ext cx="3349390" cy="75628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dirty="0">
                <a:solidFill>
                  <a:srgbClr val="52524C"/>
                </a:solidFill>
                <a:latin typeface="Segoe UI" pitchFamily="34" charset="0"/>
                <a:ea typeface="Segoe UI" pitchFamily="34" charset="-122"/>
                <a:cs typeface="Segoe UI" pitchFamily="34" charset="-120"/>
              </a:rPr>
              <a:t>Perspektif analitis yang dipakai membaca data.</a:t>
            </a:r>
            <a:endParaRPr lang="en-US" sz="1950" dirty="0"/>
          </a:p>
        </p:txBody>
      </p:sp>
      <p:sp>
        <p:nvSpPr>
          <p:cNvPr id="9" name="Shape 7"/>
          <p:cNvSpPr/>
          <p:nvPr/>
        </p:nvSpPr>
        <p:spPr>
          <a:xfrm>
            <a:off x="5153025" y="7720965"/>
            <a:ext cx="3876675" cy="1842135"/>
          </a:xfrm>
          <a:prstGeom prst="roundRect">
            <a:avLst>
              <a:gd name="adj" fmla="val 7239"/>
            </a:avLst>
          </a:prstGeom>
          <a:solidFill>
            <a:srgbClr val="FFFFFF"/>
          </a:solidFill>
          <a:ln w="7620">
            <a:solidFill>
              <a:srgbClr val="E8E6E0"/>
            </a:solidFill>
            <a:prstDash val="solid"/>
          </a:ln>
        </p:spPr>
        <p:txBody>
          <a:bodyPr/>
          <a:lstStyle/>
          <a:p>
            <a:endParaRPr lang="en-ID"/>
          </a:p>
        </p:txBody>
      </p:sp>
      <p:sp>
        <p:nvSpPr>
          <p:cNvPr id="10" name="Text 8"/>
          <p:cNvSpPr/>
          <p:nvPr/>
        </p:nvSpPr>
        <p:spPr>
          <a:xfrm>
            <a:off x="5465445" y="8052435"/>
            <a:ext cx="3349390" cy="365760"/>
          </a:xfrm>
          <a:prstGeom prst="rect">
            <a:avLst/>
          </a:prstGeom>
          <a:noFill/>
          <a:ln/>
        </p:spPr>
        <p:txBody>
          <a:bodyPr wrap="square" lIns="25400" tIns="25400" rIns="25400" bIns="25400" rtlCol="0" anchor="t">
            <a:normAutofit/>
          </a:bodyPr>
          <a:lstStyle/>
          <a:p>
            <a:pPr marL="0" indent="0" algn="l">
              <a:buNone/>
            </a:pPr>
            <a:r>
              <a:rPr lang="en-US" sz="1950" b="1" dirty="0">
                <a:solidFill>
                  <a:srgbClr val="F2654E"/>
                </a:solidFill>
                <a:latin typeface="Segoe UI" pitchFamily="34" charset="0"/>
                <a:ea typeface="Segoe UI" pitchFamily="34" charset="-122"/>
                <a:cs typeface="Segoe UI" pitchFamily="34" charset="-120"/>
              </a:rPr>
              <a:t>Business Question</a:t>
            </a:r>
            <a:endParaRPr lang="en-US" sz="1950" dirty="0"/>
          </a:p>
        </p:txBody>
      </p:sp>
      <p:sp>
        <p:nvSpPr>
          <p:cNvPr id="11" name="Text 9"/>
          <p:cNvSpPr/>
          <p:nvPr/>
        </p:nvSpPr>
        <p:spPr>
          <a:xfrm>
            <a:off x="5465445" y="8513445"/>
            <a:ext cx="3349390" cy="75628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dirty="0">
                <a:solidFill>
                  <a:srgbClr val="52524C"/>
                </a:solidFill>
                <a:latin typeface="Segoe UI" pitchFamily="34" charset="0"/>
                <a:ea typeface="Segoe UI" pitchFamily="34" charset="-122"/>
                <a:cs typeface="Segoe UI" pitchFamily="34" charset="-120"/>
              </a:rPr>
              <a:t>Pertanyaan utama yang wajib dijawab visualisasi.</a:t>
            </a:r>
            <a:endParaRPr lang="en-US" sz="1950" dirty="0"/>
          </a:p>
        </p:txBody>
      </p:sp>
      <p:sp>
        <p:nvSpPr>
          <p:cNvPr id="12" name="Shape 10"/>
          <p:cNvSpPr/>
          <p:nvPr/>
        </p:nvSpPr>
        <p:spPr>
          <a:xfrm>
            <a:off x="9258300" y="7720965"/>
            <a:ext cx="3876675" cy="1842135"/>
          </a:xfrm>
          <a:prstGeom prst="roundRect">
            <a:avLst>
              <a:gd name="adj" fmla="val 7239"/>
            </a:avLst>
          </a:prstGeom>
          <a:solidFill>
            <a:srgbClr val="FFFFFF"/>
          </a:solidFill>
          <a:ln w="7620">
            <a:solidFill>
              <a:srgbClr val="E8E6E0"/>
            </a:solidFill>
            <a:prstDash val="solid"/>
          </a:ln>
        </p:spPr>
        <p:txBody>
          <a:bodyPr/>
          <a:lstStyle/>
          <a:p>
            <a:endParaRPr lang="en-ID"/>
          </a:p>
        </p:txBody>
      </p:sp>
      <p:sp>
        <p:nvSpPr>
          <p:cNvPr id="13" name="Text 11"/>
          <p:cNvSpPr/>
          <p:nvPr/>
        </p:nvSpPr>
        <p:spPr>
          <a:xfrm>
            <a:off x="9570720" y="8052435"/>
            <a:ext cx="3349390" cy="365760"/>
          </a:xfrm>
          <a:prstGeom prst="rect">
            <a:avLst/>
          </a:prstGeom>
          <a:noFill/>
          <a:ln/>
        </p:spPr>
        <p:txBody>
          <a:bodyPr wrap="square" lIns="25400" tIns="25400" rIns="25400" bIns="25400" rtlCol="0" anchor="t">
            <a:normAutofit/>
          </a:bodyPr>
          <a:lstStyle/>
          <a:p>
            <a:pPr marL="0" indent="0" algn="l">
              <a:buNone/>
            </a:pPr>
            <a:r>
              <a:rPr lang="en-US" sz="1950" b="1" dirty="0">
                <a:solidFill>
                  <a:srgbClr val="F2654E"/>
                </a:solidFill>
                <a:latin typeface="Segoe UI" pitchFamily="34" charset="0"/>
                <a:ea typeface="Segoe UI" pitchFamily="34" charset="-122"/>
                <a:cs typeface="Segoe UI" pitchFamily="34" charset="-120"/>
              </a:rPr>
              <a:t>Fokus Dashboard</a:t>
            </a:r>
            <a:endParaRPr lang="en-US" sz="1950" dirty="0"/>
          </a:p>
        </p:txBody>
      </p:sp>
      <p:sp>
        <p:nvSpPr>
          <p:cNvPr id="14" name="Text 12"/>
          <p:cNvSpPr/>
          <p:nvPr/>
        </p:nvSpPr>
        <p:spPr>
          <a:xfrm>
            <a:off x="9570720" y="8513445"/>
            <a:ext cx="3349390" cy="75628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dirty="0">
                <a:solidFill>
                  <a:srgbClr val="52524C"/>
                </a:solidFill>
                <a:latin typeface="Segoe UI" pitchFamily="34" charset="0"/>
                <a:ea typeface="Segoe UI" pitchFamily="34" charset="-122"/>
                <a:cs typeface="Segoe UI" pitchFamily="34" charset="-120"/>
              </a:rPr>
              <a:t>Visualisasi minimal yang harus dibangun.</a:t>
            </a:r>
            <a:endParaRPr lang="en-US" sz="1950" dirty="0"/>
          </a:p>
        </p:txBody>
      </p:sp>
      <p:sp>
        <p:nvSpPr>
          <p:cNvPr id="15" name="Shape 13"/>
          <p:cNvSpPr/>
          <p:nvPr/>
        </p:nvSpPr>
        <p:spPr>
          <a:xfrm>
            <a:off x="13363575" y="7720965"/>
            <a:ext cx="3876675" cy="1842135"/>
          </a:xfrm>
          <a:prstGeom prst="roundRect">
            <a:avLst>
              <a:gd name="adj" fmla="val 7239"/>
            </a:avLst>
          </a:prstGeom>
          <a:solidFill>
            <a:srgbClr val="FFFFFF"/>
          </a:solidFill>
          <a:ln w="7620">
            <a:solidFill>
              <a:srgbClr val="E8E6E0"/>
            </a:solidFill>
            <a:prstDash val="solid"/>
          </a:ln>
        </p:spPr>
        <p:txBody>
          <a:bodyPr/>
          <a:lstStyle/>
          <a:p>
            <a:endParaRPr lang="en-ID"/>
          </a:p>
        </p:txBody>
      </p:sp>
      <p:sp>
        <p:nvSpPr>
          <p:cNvPr id="16" name="Text 14"/>
          <p:cNvSpPr/>
          <p:nvPr/>
        </p:nvSpPr>
        <p:spPr>
          <a:xfrm>
            <a:off x="13675995" y="8052435"/>
            <a:ext cx="3349390" cy="365760"/>
          </a:xfrm>
          <a:prstGeom prst="rect">
            <a:avLst/>
          </a:prstGeom>
          <a:noFill/>
          <a:ln/>
        </p:spPr>
        <p:txBody>
          <a:bodyPr wrap="square" lIns="25400" tIns="25400" rIns="25400" bIns="25400" rtlCol="0" anchor="t">
            <a:normAutofit/>
          </a:bodyPr>
          <a:lstStyle/>
          <a:p>
            <a:pPr marL="0" indent="0" algn="l">
              <a:buNone/>
            </a:pPr>
            <a:r>
              <a:rPr lang="en-US" sz="1950" b="1" dirty="0">
                <a:solidFill>
                  <a:srgbClr val="F2654E"/>
                </a:solidFill>
                <a:latin typeface="Segoe UI" pitchFamily="34" charset="0"/>
                <a:ea typeface="Segoe UI" pitchFamily="34" charset="-122"/>
                <a:cs typeface="Segoe UI" pitchFamily="34" charset="-120"/>
              </a:rPr>
              <a:t>Audiens Simulasi</a:t>
            </a:r>
            <a:endParaRPr lang="en-US" sz="1950" dirty="0"/>
          </a:p>
        </p:txBody>
      </p:sp>
      <p:sp>
        <p:nvSpPr>
          <p:cNvPr id="17" name="Text 15"/>
          <p:cNvSpPr/>
          <p:nvPr/>
        </p:nvSpPr>
        <p:spPr>
          <a:xfrm>
            <a:off x="13675995" y="8513445"/>
            <a:ext cx="3349390" cy="75628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dirty="0">
                <a:solidFill>
                  <a:srgbClr val="52524C"/>
                </a:solidFill>
                <a:latin typeface="Segoe UI" pitchFamily="34" charset="0"/>
                <a:ea typeface="Segoe UI" pitchFamily="34" charset="-122"/>
                <a:cs typeface="Segoe UI" pitchFamily="34" charset="-120"/>
              </a:rPr>
              <a:t>Pemangku kepentingan yang dituju rekomendasi.</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762000"/>
            <a:ext cx="5358141"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2654E"/>
                </a:solidFill>
                <a:latin typeface="Segoe UI" pitchFamily="34" charset="0"/>
                <a:ea typeface="Segoe UI" pitchFamily="34" charset="-122"/>
                <a:cs typeface="Segoe UI" pitchFamily="34" charset="-120"/>
              </a:rPr>
              <a:t>06 / PEMBAGIAN KELOMPOK</a:t>
            </a:r>
            <a:endParaRPr lang="en-US" sz="1800" dirty="0"/>
          </a:p>
        </p:txBody>
      </p:sp>
      <p:sp>
        <p:nvSpPr>
          <p:cNvPr id="3" name="Text 1"/>
          <p:cNvSpPr/>
          <p:nvPr/>
        </p:nvSpPr>
        <p:spPr>
          <a:xfrm>
            <a:off x="1047750" y="1200150"/>
            <a:ext cx="7350292" cy="563047"/>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3900" b="1" kern="0" spc="-37" dirty="0">
                <a:solidFill>
                  <a:srgbClr val="23231F"/>
                </a:solidFill>
                <a:latin typeface="Segoe UI" pitchFamily="34" charset="0"/>
                <a:ea typeface="Segoe UI" pitchFamily="34" charset="-122"/>
                <a:cs typeface="Segoe UI" pitchFamily="34" charset="-120"/>
              </a:rPr>
              <a:t>Kelompok 01 sampai 05</a:t>
            </a:r>
            <a:endParaRPr lang="en-US" sz="3900" dirty="0"/>
          </a:p>
        </p:txBody>
      </p:sp>
      <p:sp>
        <p:nvSpPr>
          <p:cNvPr id="4" name="Text 2"/>
          <p:cNvSpPr/>
          <p:nvPr/>
        </p:nvSpPr>
        <p:spPr>
          <a:xfrm>
            <a:off x="15295484" y="1420297"/>
            <a:ext cx="2020967"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E6E66"/>
                </a:solidFill>
                <a:latin typeface="Segoe UI" pitchFamily="34" charset="0"/>
                <a:ea typeface="Segoe UI" pitchFamily="34" charset="-122"/>
                <a:cs typeface="Segoe UI" pitchFamily="34" charset="-120"/>
              </a:rPr>
              <a:t>5 dari 10 kelompok</a:t>
            </a:r>
            <a:endParaRPr lang="en-US" sz="1800" dirty="0"/>
          </a:p>
        </p:txBody>
      </p:sp>
      <p:sp>
        <p:nvSpPr>
          <p:cNvPr id="5" name="Shape 3"/>
          <p:cNvSpPr/>
          <p:nvPr/>
        </p:nvSpPr>
        <p:spPr>
          <a:xfrm>
            <a:off x="1047750" y="1915597"/>
            <a:ext cx="685800" cy="47625"/>
          </a:xfrm>
          <a:prstGeom prst="roundRect">
            <a:avLst>
              <a:gd name="adj" fmla="val 50000"/>
            </a:avLst>
          </a:prstGeom>
          <a:solidFill>
            <a:srgbClr val="F2654E"/>
          </a:solidFill>
          <a:ln/>
        </p:spPr>
        <p:txBody>
          <a:bodyPr/>
          <a:lstStyle/>
          <a:p>
            <a:endParaRPr lang="en-ID"/>
          </a:p>
        </p:txBody>
      </p:sp>
      <p:sp>
        <p:nvSpPr>
          <p:cNvPr id="6" name="Shape 4"/>
          <p:cNvSpPr/>
          <p:nvPr/>
        </p:nvSpPr>
        <p:spPr>
          <a:xfrm>
            <a:off x="1047750" y="2248972"/>
            <a:ext cx="16192500" cy="1348502"/>
          </a:xfrm>
          <a:prstGeom prst="roundRect">
            <a:avLst>
              <a:gd name="adj" fmla="val 8476"/>
            </a:avLst>
          </a:prstGeom>
          <a:solidFill>
            <a:srgbClr val="FFFFFF"/>
          </a:solidFill>
          <a:ln w="7620">
            <a:solidFill>
              <a:srgbClr val="E8E6E0"/>
            </a:solidFill>
            <a:prstDash val="solid"/>
          </a:ln>
        </p:spPr>
        <p:txBody>
          <a:bodyPr/>
          <a:lstStyle/>
          <a:p>
            <a:endParaRPr lang="en-ID"/>
          </a:p>
        </p:txBody>
      </p:sp>
      <p:sp>
        <p:nvSpPr>
          <p:cNvPr id="7" name="Text 5"/>
          <p:cNvSpPr/>
          <p:nvPr/>
        </p:nvSpPr>
        <p:spPr>
          <a:xfrm>
            <a:off x="1341120" y="2736533"/>
            <a:ext cx="121920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2654E"/>
                </a:solidFill>
                <a:latin typeface="Segoe UI" pitchFamily="34" charset="0"/>
                <a:ea typeface="Segoe UI" pitchFamily="34" charset="-122"/>
                <a:cs typeface="Segoe UI" pitchFamily="34" charset="-120"/>
              </a:rPr>
              <a:t>KLP01</a:t>
            </a:r>
            <a:endParaRPr lang="en-US" sz="2250" dirty="0"/>
          </a:p>
        </p:txBody>
      </p:sp>
      <p:sp>
        <p:nvSpPr>
          <p:cNvPr id="8" name="Text 6"/>
          <p:cNvSpPr/>
          <p:nvPr/>
        </p:nvSpPr>
        <p:spPr>
          <a:xfrm>
            <a:off x="2769870" y="2570797"/>
            <a:ext cx="6531875"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23231F"/>
                </a:solidFill>
                <a:latin typeface="Segoe UI" pitchFamily="34" charset="0"/>
                <a:ea typeface="Segoe UI" pitchFamily="34" charset="-122"/>
                <a:cs typeface="Segoe UI" pitchFamily="34" charset="-120"/>
              </a:rPr>
              <a:t>Profitability Analytics</a:t>
            </a:r>
            <a:endParaRPr lang="en-US" sz="2100" dirty="0"/>
          </a:p>
        </p:txBody>
      </p:sp>
      <p:sp>
        <p:nvSpPr>
          <p:cNvPr id="9" name="Text 7"/>
          <p:cNvSpPr/>
          <p:nvPr/>
        </p:nvSpPr>
        <p:spPr>
          <a:xfrm>
            <a:off x="2769870" y="2986088"/>
            <a:ext cx="6531875" cy="327660"/>
          </a:xfrm>
          <a:prstGeom prst="rect">
            <a:avLst/>
          </a:prstGeom>
          <a:noFill/>
          <a:ln/>
        </p:spPr>
        <p:txBody>
          <a:bodyPr wrap="square" lIns="25400" tIns="25400" rIns="25400" bIns="25400" rtlCol="0" anchor="t">
            <a:normAutofit/>
          </a:bodyPr>
          <a:lstStyle/>
          <a:p>
            <a:pPr marL="0" indent="0" algn="l">
              <a:buNone/>
            </a:pPr>
            <a:r>
              <a:rPr lang="en-US" sz="1725" dirty="0">
                <a:solidFill>
                  <a:srgbClr val="6E6E66"/>
                </a:solidFill>
                <a:latin typeface="Segoe UI" pitchFamily="34" charset="0"/>
                <a:ea typeface="Segoe UI" pitchFamily="34" charset="-122"/>
                <a:cs typeface="Segoe UI" pitchFamily="34" charset="-120"/>
              </a:rPr>
              <a:t>Head of Product / Chief Merchandising Officer</a:t>
            </a:r>
            <a:endParaRPr lang="en-US" sz="1725" dirty="0"/>
          </a:p>
        </p:txBody>
      </p:sp>
      <p:sp>
        <p:nvSpPr>
          <p:cNvPr id="10" name="Text 8"/>
          <p:cNvSpPr/>
          <p:nvPr/>
        </p:nvSpPr>
        <p:spPr>
          <a:xfrm>
            <a:off x="9397246" y="2603183"/>
            <a:ext cx="7776001"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6463F"/>
                </a:solidFill>
                <a:latin typeface="Segoe UI" pitchFamily="34" charset="0"/>
                <a:ea typeface="Segoe UI" pitchFamily="34" charset="-122"/>
                <a:cs typeface="Segoe UI" pitchFamily="34" charset="-120"/>
              </a:rPr>
              <a:t>Faradita Agustina Anggraini, Putri Ariyaningsih, Salwa Padmanaba, Muhammad Luthfi</a:t>
            </a:r>
            <a:endParaRPr lang="en-US" sz="1800" dirty="0"/>
          </a:p>
        </p:txBody>
      </p:sp>
      <p:sp>
        <p:nvSpPr>
          <p:cNvPr id="11" name="Shape 9"/>
          <p:cNvSpPr/>
          <p:nvPr/>
        </p:nvSpPr>
        <p:spPr>
          <a:xfrm>
            <a:off x="1047750" y="3749873"/>
            <a:ext cx="16192500" cy="1348621"/>
          </a:xfrm>
          <a:prstGeom prst="roundRect">
            <a:avLst>
              <a:gd name="adj" fmla="val 8475"/>
            </a:avLst>
          </a:prstGeom>
          <a:solidFill>
            <a:srgbClr val="FFFFFF"/>
          </a:solidFill>
          <a:ln w="7620">
            <a:solidFill>
              <a:srgbClr val="E8E6E0"/>
            </a:solidFill>
            <a:prstDash val="solid"/>
          </a:ln>
        </p:spPr>
        <p:txBody>
          <a:bodyPr/>
          <a:lstStyle/>
          <a:p>
            <a:endParaRPr lang="en-ID"/>
          </a:p>
        </p:txBody>
      </p:sp>
      <p:sp>
        <p:nvSpPr>
          <p:cNvPr id="12" name="Text 10"/>
          <p:cNvSpPr/>
          <p:nvPr/>
        </p:nvSpPr>
        <p:spPr>
          <a:xfrm>
            <a:off x="1341120" y="4237434"/>
            <a:ext cx="121920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2654E"/>
                </a:solidFill>
                <a:latin typeface="Segoe UI" pitchFamily="34" charset="0"/>
                <a:ea typeface="Segoe UI" pitchFamily="34" charset="-122"/>
                <a:cs typeface="Segoe UI" pitchFamily="34" charset="-120"/>
              </a:rPr>
              <a:t>KLP02</a:t>
            </a:r>
            <a:endParaRPr lang="en-US" sz="2250" dirty="0"/>
          </a:p>
        </p:txBody>
      </p:sp>
      <p:sp>
        <p:nvSpPr>
          <p:cNvPr id="13" name="Text 11"/>
          <p:cNvSpPr/>
          <p:nvPr/>
        </p:nvSpPr>
        <p:spPr>
          <a:xfrm>
            <a:off x="2769870" y="4071699"/>
            <a:ext cx="6531875"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23231F"/>
                </a:solidFill>
                <a:latin typeface="Segoe UI" pitchFamily="34" charset="0"/>
                <a:ea typeface="Segoe UI" pitchFamily="34" charset="-122"/>
                <a:cs typeface="Segoe UI" pitchFamily="34" charset="-120"/>
              </a:rPr>
              <a:t>Regional &amp; Market Performance</a:t>
            </a:r>
            <a:endParaRPr lang="en-US" sz="2100" dirty="0"/>
          </a:p>
        </p:txBody>
      </p:sp>
      <p:sp>
        <p:nvSpPr>
          <p:cNvPr id="14" name="Text 12"/>
          <p:cNvSpPr/>
          <p:nvPr/>
        </p:nvSpPr>
        <p:spPr>
          <a:xfrm>
            <a:off x="2769870" y="4486989"/>
            <a:ext cx="6531875" cy="327660"/>
          </a:xfrm>
          <a:prstGeom prst="rect">
            <a:avLst/>
          </a:prstGeom>
          <a:noFill/>
          <a:ln/>
        </p:spPr>
        <p:txBody>
          <a:bodyPr wrap="square" lIns="25400" tIns="25400" rIns="25400" bIns="25400" rtlCol="0" anchor="t">
            <a:normAutofit/>
          </a:bodyPr>
          <a:lstStyle/>
          <a:p>
            <a:pPr marL="0" indent="0" algn="l">
              <a:buNone/>
            </a:pPr>
            <a:r>
              <a:rPr lang="en-US" sz="1725" dirty="0">
                <a:solidFill>
                  <a:srgbClr val="6E6E66"/>
                </a:solidFill>
                <a:latin typeface="Segoe UI" pitchFamily="34" charset="0"/>
                <a:ea typeface="Segoe UI" pitchFamily="34" charset="-122"/>
                <a:cs typeface="Segoe UI" pitchFamily="34" charset="-120"/>
              </a:rPr>
              <a:t>Head of Regional Sales / VP Sales</a:t>
            </a:r>
            <a:endParaRPr lang="en-US" sz="1725" dirty="0"/>
          </a:p>
        </p:txBody>
      </p:sp>
      <p:sp>
        <p:nvSpPr>
          <p:cNvPr id="15" name="Text 13"/>
          <p:cNvSpPr/>
          <p:nvPr/>
        </p:nvSpPr>
        <p:spPr>
          <a:xfrm>
            <a:off x="9397246" y="4104084"/>
            <a:ext cx="7776001"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46463F"/>
                </a:solidFill>
                <a:latin typeface="Segoe UI" pitchFamily="34" charset="0"/>
                <a:ea typeface="Segoe UI" pitchFamily="34" charset="-122"/>
                <a:cs typeface="Segoe UI" pitchFamily="34" charset="-120"/>
              </a:rPr>
              <a:t>Nurlita Syaharani Jianiar, Faiq Favian Kurniawantoro, Arinii Nisa Qurrotaa'Yun</a:t>
            </a:r>
            <a:endParaRPr lang="en-US" sz="1800" dirty="0"/>
          </a:p>
        </p:txBody>
      </p:sp>
      <p:sp>
        <p:nvSpPr>
          <p:cNvPr id="16" name="Shape 14"/>
          <p:cNvSpPr/>
          <p:nvPr/>
        </p:nvSpPr>
        <p:spPr>
          <a:xfrm>
            <a:off x="1047750" y="5250895"/>
            <a:ext cx="16192500" cy="1348502"/>
          </a:xfrm>
          <a:prstGeom prst="roundRect">
            <a:avLst>
              <a:gd name="adj" fmla="val 8476"/>
            </a:avLst>
          </a:prstGeom>
          <a:solidFill>
            <a:srgbClr val="FFFFFF"/>
          </a:solidFill>
          <a:ln w="7620">
            <a:solidFill>
              <a:srgbClr val="E8E6E0"/>
            </a:solidFill>
            <a:prstDash val="solid"/>
          </a:ln>
        </p:spPr>
        <p:txBody>
          <a:bodyPr/>
          <a:lstStyle/>
          <a:p>
            <a:endParaRPr lang="en-ID"/>
          </a:p>
        </p:txBody>
      </p:sp>
      <p:sp>
        <p:nvSpPr>
          <p:cNvPr id="17" name="Text 15"/>
          <p:cNvSpPr/>
          <p:nvPr/>
        </p:nvSpPr>
        <p:spPr>
          <a:xfrm>
            <a:off x="1341120" y="5738456"/>
            <a:ext cx="121920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2654E"/>
                </a:solidFill>
                <a:latin typeface="Segoe UI" pitchFamily="34" charset="0"/>
                <a:ea typeface="Segoe UI" pitchFamily="34" charset="-122"/>
                <a:cs typeface="Segoe UI" pitchFamily="34" charset="-120"/>
              </a:rPr>
              <a:t>KLP03</a:t>
            </a:r>
            <a:endParaRPr lang="en-US" sz="2250" dirty="0"/>
          </a:p>
        </p:txBody>
      </p:sp>
      <p:sp>
        <p:nvSpPr>
          <p:cNvPr id="18" name="Text 16"/>
          <p:cNvSpPr/>
          <p:nvPr/>
        </p:nvSpPr>
        <p:spPr>
          <a:xfrm>
            <a:off x="2769870" y="5572720"/>
            <a:ext cx="6531875"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23231F"/>
                </a:solidFill>
                <a:latin typeface="Segoe UI" pitchFamily="34" charset="0"/>
                <a:ea typeface="Segoe UI" pitchFamily="34" charset="-122"/>
                <a:cs typeface="Segoe UI" pitchFamily="34" charset="-120"/>
              </a:rPr>
              <a:t>Customer Segmentation Analytics</a:t>
            </a:r>
            <a:endParaRPr lang="en-US" sz="2100" dirty="0"/>
          </a:p>
        </p:txBody>
      </p:sp>
      <p:sp>
        <p:nvSpPr>
          <p:cNvPr id="19" name="Text 17"/>
          <p:cNvSpPr/>
          <p:nvPr/>
        </p:nvSpPr>
        <p:spPr>
          <a:xfrm>
            <a:off x="2769870" y="5988011"/>
            <a:ext cx="6531875" cy="327660"/>
          </a:xfrm>
          <a:prstGeom prst="rect">
            <a:avLst/>
          </a:prstGeom>
          <a:noFill/>
          <a:ln/>
        </p:spPr>
        <p:txBody>
          <a:bodyPr wrap="square" lIns="25400" tIns="25400" rIns="25400" bIns="25400" rtlCol="0" anchor="t">
            <a:normAutofit/>
          </a:bodyPr>
          <a:lstStyle/>
          <a:p>
            <a:pPr marL="0" indent="0" algn="l">
              <a:buNone/>
            </a:pPr>
            <a:r>
              <a:rPr lang="en-US" sz="1725" dirty="0">
                <a:solidFill>
                  <a:srgbClr val="6E6E66"/>
                </a:solidFill>
                <a:latin typeface="Segoe UI" pitchFamily="34" charset="0"/>
                <a:ea typeface="Segoe UI" pitchFamily="34" charset="-122"/>
                <a:cs typeface="Segoe UI" pitchFamily="34" charset="-120"/>
              </a:rPr>
              <a:t>Head of Marketing / Customer Success Manager</a:t>
            </a:r>
            <a:endParaRPr lang="en-US" sz="1725" dirty="0"/>
          </a:p>
        </p:txBody>
      </p:sp>
      <p:sp>
        <p:nvSpPr>
          <p:cNvPr id="20" name="Text 18"/>
          <p:cNvSpPr/>
          <p:nvPr/>
        </p:nvSpPr>
        <p:spPr>
          <a:xfrm>
            <a:off x="9397246" y="5765125"/>
            <a:ext cx="7776001"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6463F"/>
                </a:solidFill>
                <a:latin typeface="Segoe UI" pitchFamily="34" charset="0"/>
                <a:ea typeface="Segoe UI" pitchFamily="34" charset="-122"/>
                <a:cs typeface="Segoe UI" pitchFamily="34" charset="-120"/>
              </a:rPr>
              <a:t>Nisrina Audy Fakhira, Meivita Dwi Ningsih, Raditya Budi Prabowo</a:t>
            </a:r>
            <a:endParaRPr lang="en-US" sz="1800" dirty="0"/>
          </a:p>
        </p:txBody>
      </p:sp>
      <p:sp>
        <p:nvSpPr>
          <p:cNvPr id="21" name="Shape 19"/>
          <p:cNvSpPr/>
          <p:nvPr/>
        </p:nvSpPr>
        <p:spPr>
          <a:xfrm>
            <a:off x="1047750" y="6751797"/>
            <a:ext cx="16192500" cy="1348502"/>
          </a:xfrm>
          <a:prstGeom prst="roundRect">
            <a:avLst>
              <a:gd name="adj" fmla="val 8476"/>
            </a:avLst>
          </a:prstGeom>
          <a:solidFill>
            <a:srgbClr val="FFFFFF"/>
          </a:solidFill>
          <a:ln w="7620">
            <a:solidFill>
              <a:srgbClr val="E8E6E0"/>
            </a:solidFill>
            <a:prstDash val="solid"/>
          </a:ln>
        </p:spPr>
        <p:txBody>
          <a:bodyPr/>
          <a:lstStyle/>
          <a:p>
            <a:endParaRPr lang="en-ID"/>
          </a:p>
        </p:txBody>
      </p:sp>
      <p:sp>
        <p:nvSpPr>
          <p:cNvPr id="22" name="Text 20"/>
          <p:cNvSpPr/>
          <p:nvPr/>
        </p:nvSpPr>
        <p:spPr>
          <a:xfrm>
            <a:off x="1341120" y="7239358"/>
            <a:ext cx="121920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2654E"/>
                </a:solidFill>
                <a:latin typeface="Segoe UI" pitchFamily="34" charset="0"/>
                <a:ea typeface="Segoe UI" pitchFamily="34" charset="-122"/>
                <a:cs typeface="Segoe UI" pitchFamily="34" charset="-120"/>
              </a:rPr>
              <a:t>KLP04</a:t>
            </a:r>
            <a:endParaRPr lang="en-US" sz="2250" dirty="0"/>
          </a:p>
        </p:txBody>
      </p:sp>
      <p:sp>
        <p:nvSpPr>
          <p:cNvPr id="23" name="Text 21"/>
          <p:cNvSpPr/>
          <p:nvPr/>
        </p:nvSpPr>
        <p:spPr>
          <a:xfrm>
            <a:off x="2769870" y="7073622"/>
            <a:ext cx="6531875"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23231F"/>
                </a:solidFill>
                <a:latin typeface="Segoe UI" pitchFamily="34" charset="0"/>
                <a:ea typeface="Segoe UI" pitchFamily="34" charset="-122"/>
                <a:cs typeface="Segoe UI" pitchFamily="34" charset="-120"/>
              </a:rPr>
              <a:t>Shipping &amp; Operational Efficiency</a:t>
            </a:r>
            <a:endParaRPr lang="en-US" sz="2100" dirty="0"/>
          </a:p>
        </p:txBody>
      </p:sp>
      <p:sp>
        <p:nvSpPr>
          <p:cNvPr id="24" name="Text 22"/>
          <p:cNvSpPr/>
          <p:nvPr/>
        </p:nvSpPr>
        <p:spPr>
          <a:xfrm>
            <a:off x="2769870" y="7488912"/>
            <a:ext cx="6531875" cy="327660"/>
          </a:xfrm>
          <a:prstGeom prst="rect">
            <a:avLst/>
          </a:prstGeom>
          <a:noFill/>
          <a:ln/>
        </p:spPr>
        <p:txBody>
          <a:bodyPr wrap="square" lIns="25400" tIns="25400" rIns="25400" bIns="25400" rtlCol="0" anchor="t">
            <a:normAutofit/>
          </a:bodyPr>
          <a:lstStyle/>
          <a:p>
            <a:pPr marL="0" indent="0" algn="l">
              <a:buNone/>
            </a:pPr>
            <a:r>
              <a:rPr lang="en-US" sz="1725" dirty="0">
                <a:solidFill>
                  <a:srgbClr val="6E6E66"/>
                </a:solidFill>
                <a:latin typeface="Segoe UI" pitchFamily="34" charset="0"/>
                <a:ea typeface="Segoe UI" pitchFamily="34" charset="-122"/>
                <a:cs typeface="Segoe UI" pitchFamily="34" charset="-120"/>
              </a:rPr>
              <a:t>Head of Operations / Supply Chain Manager</a:t>
            </a:r>
            <a:endParaRPr lang="en-US" sz="1725" dirty="0"/>
          </a:p>
        </p:txBody>
      </p:sp>
      <p:sp>
        <p:nvSpPr>
          <p:cNvPr id="25" name="Text 23"/>
          <p:cNvSpPr/>
          <p:nvPr/>
        </p:nvSpPr>
        <p:spPr>
          <a:xfrm>
            <a:off x="9397246" y="7266027"/>
            <a:ext cx="7776001"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6463F"/>
                </a:solidFill>
                <a:latin typeface="Segoe UI" pitchFamily="34" charset="0"/>
                <a:ea typeface="Segoe UI" pitchFamily="34" charset="-122"/>
                <a:cs typeface="Segoe UI" pitchFamily="34" charset="-120"/>
              </a:rPr>
              <a:t>Muhamad Furqon Al Farisy, Samuel Bonardo S, Nurjanatul Fitriah</a:t>
            </a:r>
            <a:endParaRPr lang="en-US" sz="1800" dirty="0"/>
          </a:p>
        </p:txBody>
      </p:sp>
      <p:sp>
        <p:nvSpPr>
          <p:cNvPr id="26" name="Shape 24"/>
          <p:cNvSpPr/>
          <p:nvPr/>
        </p:nvSpPr>
        <p:spPr>
          <a:xfrm>
            <a:off x="1047750" y="8252698"/>
            <a:ext cx="16192500" cy="1348502"/>
          </a:xfrm>
          <a:prstGeom prst="roundRect">
            <a:avLst>
              <a:gd name="adj" fmla="val 8476"/>
            </a:avLst>
          </a:prstGeom>
          <a:solidFill>
            <a:srgbClr val="FFFFFF"/>
          </a:solidFill>
          <a:ln w="7620">
            <a:solidFill>
              <a:srgbClr val="E8E6E0"/>
            </a:solidFill>
            <a:prstDash val="solid"/>
          </a:ln>
        </p:spPr>
        <p:txBody>
          <a:bodyPr/>
          <a:lstStyle/>
          <a:p>
            <a:endParaRPr lang="en-ID"/>
          </a:p>
        </p:txBody>
      </p:sp>
      <p:sp>
        <p:nvSpPr>
          <p:cNvPr id="27" name="Text 25"/>
          <p:cNvSpPr/>
          <p:nvPr/>
        </p:nvSpPr>
        <p:spPr>
          <a:xfrm>
            <a:off x="1341120" y="8740259"/>
            <a:ext cx="121920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2654E"/>
                </a:solidFill>
                <a:latin typeface="Segoe UI" pitchFamily="34" charset="0"/>
                <a:ea typeface="Segoe UI" pitchFamily="34" charset="-122"/>
                <a:cs typeface="Segoe UI" pitchFamily="34" charset="-120"/>
              </a:rPr>
              <a:t>KLP05</a:t>
            </a:r>
            <a:endParaRPr lang="en-US" sz="2250" dirty="0"/>
          </a:p>
        </p:txBody>
      </p:sp>
      <p:sp>
        <p:nvSpPr>
          <p:cNvPr id="28" name="Text 26"/>
          <p:cNvSpPr/>
          <p:nvPr/>
        </p:nvSpPr>
        <p:spPr>
          <a:xfrm>
            <a:off x="2769870" y="8574524"/>
            <a:ext cx="6531875"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23231F"/>
                </a:solidFill>
                <a:latin typeface="Segoe UI" pitchFamily="34" charset="0"/>
                <a:ea typeface="Segoe UI" pitchFamily="34" charset="-122"/>
                <a:cs typeface="Segoe UI" pitchFamily="34" charset="-120"/>
              </a:rPr>
              <a:t>Discount Strategy Analysis</a:t>
            </a:r>
            <a:endParaRPr lang="en-US" sz="2100" dirty="0"/>
          </a:p>
        </p:txBody>
      </p:sp>
      <p:sp>
        <p:nvSpPr>
          <p:cNvPr id="29" name="Text 27"/>
          <p:cNvSpPr/>
          <p:nvPr/>
        </p:nvSpPr>
        <p:spPr>
          <a:xfrm>
            <a:off x="2769870" y="8989814"/>
            <a:ext cx="6531875" cy="327660"/>
          </a:xfrm>
          <a:prstGeom prst="rect">
            <a:avLst/>
          </a:prstGeom>
          <a:noFill/>
          <a:ln/>
        </p:spPr>
        <p:txBody>
          <a:bodyPr wrap="square" lIns="25400" tIns="25400" rIns="25400" bIns="25400" rtlCol="0" anchor="t">
            <a:normAutofit/>
          </a:bodyPr>
          <a:lstStyle/>
          <a:p>
            <a:pPr marL="0" indent="0" algn="l">
              <a:buNone/>
            </a:pPr>
            <a:r>
              <a:rPr lang="en-US" sz="1725" dirty="0">
                <a:solidFill>
                  <a:srgbClr val="6E6E66"/>
                </a:solidFill>
                <a:latin typeface="Segoe UI" pitchFamily="34" charset="0"/>
                <a:ea typeface="Segoe UI" pitchFamily="34" charset="-122"/>
                <a:cs typeface="Segoe UI" pitchFamily="34" charset="-120"/>
              </a:rPr>
              <a:t>Chief Financial Officer / Head of Pricing</a:t>
            </a:r>
            <a:endParaRPr lang="en-US" sz="1725" dirty="0"/>
          </a:p>
        </p:txBody>
      </p:sp>
      <p:sp>
        <p:nvSpPr>
          <p:cNvPr id="30" name="Text 28"/>
          <p:cNvSpPr/>
          <p:nvPr/>
        </p:nvSpPr>
        <p:spPr>
          <a:xfrm>
            <a:off x="9397246" y="8606909"/>
            <a:ext cx="7776001"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6463F"/>
                </a:solidFill>
                <a:latin typeface="Segoe UI" pitchFamily="34" charset="0"/>
                <a:ea typeface="Segoe UI" pitchFamily="34" charset="-122"/>
                <a:cs typeface="Segoe UI" pitchFamily="34" charset="-120"/>
              </a:rPr>
              <a:t>Kayla Zahratun Nisa, Fauziah Rabi'Ah Jamin, W Salsa Fitriana Ichwan, Retha Varelie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762000"/>
            <a:ext cx="5359613"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2654E"/>
                </a:solidFill>
                <a:latin typeface="Segoe UI" pitchFamily="34" charset="0"/>
                <a:ea typeface="Segoe UI" pitchFamily="34" charset="-122"/>
                <a:cs typeface="Segoe UI" pitchFamily="34" charset="-120"/>
              </a:rPr>
              <a:t>07 / PEMBAGIAN KELOMPOK</a:t>
            </a:r>
            <a:endParaRPr lang="en-US" sz="1800" dirty="0"/>
          </a:p>
        </p:txBody>
      </p:sp>
      <p:sp>
        <p:nvSpPr>
          <p:cNvPr id="3" name="Text 1"/>
          <p:cNvSpPr/>
          <p:nvPr/>
        </p:nvSpPr>
        <p:spPr>
          <a:xfrm>
            <a:off x="1047750" y="1200150"/>
            <a:ext cx="7169818" cy="563047"/>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3900" b="1" kern="0" spc="-37" dirty="0">
                <a:solidFill>
                  <a:srgbClr val="23231F"/>
                </a:solidFill>
                <a:latin typeface="Segoe UI" pitchFamily="34" charset="0"/>
                <a:ea typeface="Segoe UI" pitchFamily="34" charset="-122"/>
                <a:cs typeface="Segoe UI" pitchFamily="34" charset="-120"/>
              </a:rPr>
              <a:t>Kelompok 06 sampai 10</a:t>
            </a:r>
            <a:endParaRPr lang="en-US" sz="3900" dirty="0"/>
          </a:p>
        </p:txBody>
      </p:sp>
      <p:sp>
        <p:nvSpPr>
          <p:cNvPr id="4" name="Text 2"/>
          <p:cNvSpPr/>
          <p:nvPr/>
        </p:nvSpPr>
        <p:spPr>
          <a:xfrm>
            <a:off x="15295484" y="1420297"/>
            <a:ext cx="2020967"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E6E66"/>
                </a:solidFill>
                <a:latin typeface="Segoe UI" pitchFamily="34" charset="0"/>
                <a:ea typeface="Segoe UI" pitchFamily="34" charset="-122"/>
                <a:cs typeface="Segoe UI" pitchFamily="34" charset="-120"/>
              </a:rPr>
              <a:t>5 dari 10 kelompok</a:t>
            </a:r>
            <a:endParaRPr lang="en-US" sz="1800" dirty="0"/>
          </a:p>
        </p:txBody>
      </p:sp>
      <p:sp>
        <p:nvSpPr>
          <p:cNvPr id="5" name="Shape 3"/>
          <p:cNvSpPr/>
          <p:nvPr/>
        </p:nvSpPr>
        <p:spPr>
          <a:xfrm>
            <a:off x="1047750" y="1915597"/>
            <a:ext cx="685800" cy="47625"/>
          </a:xfrm>
          <a:prstGeom prst="roundRect">
            <a:avLst>
              <a:gd name="adj" fmla="val 50000"/>
            </a:avLst>
          </a:prstGeom>
          <a:solidFill>
            <a:srgbClr val="F2654E"/>
          </a:solidFill>
          <a:ln/>
        </p:spPr>
        <p:txBody>
          <a:bodyPr/>
          <a:lstStyle/>
          <a:p>
            <a:endParaRPr lang="en-ID"/>
          </a:p>
        </p:txBody>
      </p:sp>
      <p:sp>
        <p:nvSpPr>
          <p:cNvPr id="6" name="Shape 4"/>
          <p:cNvSpPr/>
          <p:nvPr/>
        </p:nvSpPr>
        <p:spPr>
          <a:xfrm>
            <a:off x="1047750" y="2248972"/>
            <a:ext cx="16192500" cy="1348502"/>
          </a:xfrm>
          <a:prstGeom prst="roundRect">
            <a:avLst>
              <a:gd name="adj" fmla="val 8476"/>
            </a:avLst>
          </a:prstGeom>
          <a:solidFill>
            <a:srgbClr val="FFFFFF"/>
          </a:solidFill>
          <a:ln w="7620">
            <a:solidFill>
              <a:srgbClr val="E8E6E0"/>
            </a:solidFill>
            <a:prstDash val="solid"/>
          </a:ln>
        </p:spPr>
        <p:txBody>
          <a:bodyPr/>
          <a:lstStyle/>
          <a:p>
            <a:endParaRPr lang="en-ID"/>
          </a:p>
        </p:txBody>
      </p:sp>
      <p:sp>
        <p:nvSpPr>
          <p:cNvPr id="7" name="Text 5"/>
          <p:cNvSpPr/>
          <p:nvPr/>
        </p:nvSpPr>
        <p:spPr>
          <a:xfrm>
            <a:off x="1341120" y="2736533"/>
            <a:ext cx="121920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2654E"/>
                </a:solidFill>
                <a:latin typeface="Segoe UI" pitchFamily="34" charset="0"/>
                <a:ea typeface="Segoe UI" pitchFamily="34" charset="-122"/>
                <a:cs typeface="Segoe UI" pitchFamily="34" charset="-120"/>
              </a:rPr>
              <a:t>KLP06</a:t>
            </a:r>
            <a:endParaRPr lang="en-US" sz="2250" dirty="0"/>
          </a:p>
        </p:txBody>
      </p:sp>
      <p:sp>
        <p:nvSpPr>
          <p:cNvPr id="8" name="Text 6"/>
          <p:cNvSpPr/>
          <p:nvPr/>
        </p:nvSpPr>
        <p:spPr>
          <a:xfrm>
            <a:off x="2769870" y="2570797"/>
            <a:ext cx="6531875"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23231F"/>
                </a:solidFill>
                <a:latin typeface="Segoe UI" pitchFamily="34" charset="0"/>
                <a:ea typeface="Segoe UI" pitchFamily="34" charset="-122"/>
                <a:cs typeface="Segoe UI" pitchFamily="34" charset="-120"/>
              </a:rPr>
              <a:t>Furniture Category Deep-Dive</a:t>
            </a:r>
            <a:endParaRPr lang="en-US" sz="2100" dirty="0"/>
          </a:p>
        </p:txBody>
      </p:sp>
      <p:sp>
        <p:nvSpPr>
          <p:cNvPr id="9" name="Text 7"/>
          <p:cNvSpPr/>
          <p:nvPr/>
        </p:nvSpPr>
        <p:spPr>
          <a:xfrm>
            <a:off x="2769870" y="2986088"/>
            <a:ext cx="6531875" cy="327660"/>
          </a:xfrm>
          <a:prstGeom prst="rect">
            <a:avLst/>
          </a:prstGeom>
          <a:noFill/>
          <a:ln/>
        </p:spPr>
        <p:txBody>
          <a:bodyPr wrap="square" lIns="25400" tIns="25400" rIns="25400" bIns="25400" rtlCol="0" anchor="t">
            <a:normAutofit/>
          </a:bodyPr>
          <a:lstStyle/>
          <a:p>
            <a:pPr marL="0" indent="0" algn="l">
              <a:buNone/>
            </a:pPr>
            <a:r>
              <a:rPr lang="en-US" sz="1725" dirty="0">
                <a:solidFill>
                  <a:srgbClr val="6E6E66"/>
                </a:solidFill>
                <a:latin typeface="Segoe UI" pitchFamily="34" charset="0"/>
                <a:ea typeface="Segoe UI" pitchFamily="34" charset="-122"/>
                <a:cs typeface="Segoe UI" pitchFamily="34" charset="-120"/>
              </a:rPr>
              <a:t>Category Manager (Furniture) / Head of Merchandise</a:t>
            </a:r>
            <a:endParaRPr lang="en-US" sz="1725" dirty="0"/>
          </a:p>
        </p:txBody>
      </p:sp>
      <p:sp>
        <p:nvSpPr>
          <p:cNvPr id="10" name="Text 8"/>
          <p:cNvSpPr/>
          <p:nvPr/>
        </p:nvSpPr>
        <p:spPr>
          <a:xfrm>
            <a:off x="9397246" y="2763203"/>
            <a:ext cx="7776001"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6463F"/>
                </a:solidFill>
                <a:latin typeface="Segoe UI" pitchFamily="34" charset="0"/>
                <a:ea typeface="Segoe UI" pitchFamily="34" charset="-122"/>
                <a:cs typeface="Segoe UI" pitchFamily="34" charset="-120"/>
              </a:rPr>
              <a:t>Derul Mauludin, Nabil Maulana, Bagas Rae Supriya H</a:t>
            </a:r>
            <a:endParaRPr lang="en-US" sz="1800" dirty="0"/>
          </a:p>
        </p:txBody>
      </p:sp>
      <p:sp>
        <p:nvSpPr>
          <p:cNvPr id="11" name="Shape 9"/>
          <p:cNvSpPr/>
          <p:nvPr/>
        </p:nvSpPr>
        <p:spPr>
          <a:xfrm>
            <a:off x="1047750" y="3749873"/>
            <a:ext cx="16192500" cy="1348621"/>
          </a:xfrm>
          <a:prstGeom prst="roundRect">
            <a:avLst>
              <a:gd name="adj" fmla="val 8475"/>
            </a:avLst>
          </a:prstGeom>
          <a:solidFill>
            <a:srgbClr val="FFFFFF"/>
          </a:solidFill>
          <a:ln w="7620">
            <a:solidFill>
              <a:srgbClr val="E8E6E0"/>
            </a:solidFill>
            <a:prstDash val="solid"/>
          </a:ln>
        </p:spPr>
        <p:txBody>
          <a:bodyPr/>
          <a:lstStyle/>
          <a:p>
            <a:endParaRPr lang="en-ID"/>
          </a:p>
        </p:txBody>
      </p:sp>
      <p:sp>
        <p:nvSpPr>
          <p:cNvPr id="12" name="Text 10"/>
          <p:cNvSpPr/>
          <p:nvPr/>
        </p:nvSpPr>
        <p:spPr>
          <a:xfrm>
            <a:off x="1341120" y="4237434"/>
            <a:ext cx="121920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2654E"/>
                </a:solidFill>
                <a:latin typeface="Segoe UI" pitchFamily="34" charset="0"/>
                <a:ea typeface="Segoe UI" pitchFamily="34" charset="-122"/>
                <a:cs typeface="Segoe UI" pitchFamily="34" charset="-120"/>
              </a:rPr>
              <a:t>KLP07</a:t>
            </a:r>
            <a:endParaRPr lang="en-US" sz="2250" dirty="0"/>
          </a:p>
        </p:txBody>
      </p:sp>
      <p:sp>
        <p:nvSpPr>
          <p:cNvPr id="13" name="Text 11"/>
          <p:cNvSpPr/>
          <p:nvPr/>
        </p:nvSpPr>
        <p:spPr>
          <a:xfrm>
            <a:off x="2769870" y="4071699"/>
            <a:ext cx="6531875"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23231F"/>
                </a:solidFill>
                <a:latin typeface="Segoe UI" pitchFamily="34" charset="0"/>
                <a:ea typeface="Segoe UI" pitchFamily="34" charset="-122"/>
                <a:cs typeface="Segoe UI" pitchFamily="34" charset="-120"/>
              </a:rPr>
              <a:t>Technology Category Growth Engine</a:t>
            </a:r>
            <a:endParaRPr lang="en-US" sz="2100" dirty="0"/>
          </a:p>
        </p:txBody>
      </p:sp>
      <p:sp>
        <p:nvSpPr>
          <p:cNvPr id="14" name="Text 12"/>
          <p:cNvSpPr/>
          <p:nvPr/>
        </p:nvSpPr>
        <p:spPr>
          <a:xfrm>
            <a:off x="2769870" y="4486989"/>
            <a:ext cx="6531875" cy="327660"/>
          </a:xfrm>
          <a:prstGeom prst="rect">
            <a:avLst/>
          </a:prstGeom>
          <a:noFill/>
          <a:ln/>
        </p:spPr>
        <p:txBody>
          <a:bodyPr wrap="square" lIns="25400" tIns="25400" rIns="25400" bIns="25400" rtlCol="0" anchor="t">
            <a:normAutofit/>
          </a:bodyPr>
          <a:lstStyle/>
          <a:p>
            <a:pPr marL="0" indent="0" algn="l">
              <a:buNone/>
            </a:pPr>
            <a:r>
              <a:rPr lang="en-US" sz="1725" dirty="0">
                <a:solidFill>
                  <a:srgbClr val="6E6E66"/>
                </a:solidFill>
                <a:latin typeface="Segoe UI" pitchFamily="34" charset="0"/>
                <a:ea typeface="Segoe UI" pitchFamily="34" charset="-122"/>
                <a:cs typeface="Segoe UI" pitchFamily="34" charset="-120"/>
              </a:rPr>
              <a:t>Category Manager (Technology) / Head of Growth</a:t>
            </a:r>
            <a:endParaRPr lang="en-US" sz="1725" dirty="0"/>
          </a:p>
        </p:txBody>
      </p:sp>
      <p:sp>
        <p:nvSpPr>
          <p:cNvPr id="15" name="Text 13"/>
          <p:cNvSpPr/>
          <p:nvPr/>
        </p:nvSpPr>
        <p:spPr>
          <a:xfrm>
            <a:off x="9397246" y="4104084"/>
            <a:ext cx="7776001"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6463F"/>
                </a:solidFill>
                <a:latin typeface="Segoe UI" pitchFamily="34" charset="0"/>
                <a:ea typeface="Segoe UI" pitchFamily="34" charset="-122"/>
                <a:cs typeface="Segoe UI" pitchFamily="34" charset="-120"/>
              </a:rPr>
              <a:t>Muhammad Iqbal Maulana, Triasa Puspayunita Tapiheru, Fira Khairunnisa Simamora</a:t>
            </a:r>
            <a:endParaRPr lang="en-US" sz="1800" dirty="0"/>
          </a:p>
        </p:txBody>
      </p:sp>
      <p:sp>
        <p:nvSpPr>
          <p:cNvPr id="16" name="Shape 14"/>
          <p:cNvSpPr/>
          <p:nvPr/>
        </p:nvSpPr>
        <p:spPr>
          <a:xfrm>
            <a:off x="1047750" y="5250895"/>
            <a:ext cx="16192500" cy="1348502"/>
          </a:xfrm>
          <a:prstGeom prst="roundRect">
            <a:avLst>
              <a:gd name="adj" fmla="val 8476"/>
            </a:avLst>
          </a:prstGeom>
          <a:solidFill>
            <a:srgbClr val="FFFFFF"/>
          </a:solidFill>
          <a:ln w="7620">
            <a:solidFill>
              <a:srgbClr val="E8E6E0"/>
            </a:solidFill>
            <a:prstDash val="solid"/>
          </a:ln>
        </p:spPr>
        <p:txBody>
          <a:bodyPr/>
          <a:lstStyle/>
          <a:p>
            <a:endParaRPr lang="en-ID"/>
          </a:p>
        </p:txBody>
      </p:sp>
      <p:sp>
        <p:nvSpPr>
          <p:cNvPr id="17" name="Text 15"/>
          <p:cNvSpPr/>
          <p:nvPr/>
        </p:nvSpPr>
        <p:spPr>
          <a:xfrm>
            <a:off x="1341120" y="5738456"/>
            <a:ext cx="121920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2654E"/>
                </a:solidFill>
                <a:latin typeface="Segoe UI" pitchFamily="34" charset="0"/>
                <a:ea typeface="Segoe UI" pitchFamily="34" charset="-122"/>
                <a:cs typeface="Segoe UI" pitchFamily="34" charset="-120"/>
              </a:rPr>
              <a:t>KLP08</a:t>
            </a:r>
            <a:endParaRPr lang="en-US" sz="2250" dirty="0"/>
          </a:p>
        </p:txBody>
      </p:sp>
      <p:sp>
        <p:nvSpPr>
          <p:cNvPr id="18" name="Text 16"/>
          <p:cNvSpPr/>
          <p:nvPr/>
        </p:nvSpPr>
        <p:spPr>
          <a:xfrm>
            <a:off x="2769870" y="5572720"/>
            <a:ext cx="6531875"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23231F"/>
                </a:solidFill>
                <a:latin typeface="Segoe UI" pitchFamily="34" charset="0"/>
                <a:ea typeface="Segoe UI" pitchFamily="34" charset="-122"/>
                <a:cs typeface="Segoe UI" pitchFamily="34" charset="-120"/>
              </a:rPr>
              <a:t>Order Priority &amp; Service Level Analytics</a:t>
            </a:r>
            <a:endParaRPr lang="en-US" sz="2100" dirty="0"/>
          </a:p>
        </p:txBody>
      </p:sp>
      <p:sp>
        <p:nvSpPr>
          <p:cNvPr id="19" name="Text 17"/>
          <p:cNvSpPr/>
          <p:nvPr/>
        </p:nvSpPr>
        <p:spPr>
          <a:xfrm>
            <a:off x="2769870" y="5988011"/>
            <a:ext cx="6531875" cy="327660"/>
          </a:xfrm>
          <a:prstGeom prst="rect">
            <a:avLst/>
          </a:prstGeom>
          <a:noFill/>
          <a:ln/>
        </p:spPr>
        <p:txBody>
          <a:bodyPr wrap="square" lIns="25400" tIns="25400" rIns="25400" bIns="25400" rtlCol="0" anchor="t">
            <a:normAutofit/>
          </a:bodyPr>
          <a:lstStyle/>
          <a:p>
            <a:pPr marL="0" indent="0" algn="l">
              <a:buNone/>
            </a:pPr>
            <a:r>
              <a:rPr lang="en-US" sz="1725" dirty="0">
                <a:solidFill>
                  <a:srgbClr val="6E6E66"/>
                </a:solidFill>
                <a:latin typeface="Segoe UI" pitchFamily="34" charset="0"/>
                <a:ea typeface="Segoe UI" pitchFamily="34" charset="-122"/>
                <a:cs typeface="Segoe UI" pitchFamily="34" charset="-120"/>
              </a:rPr>
              <a:t>Head of Customer Service / COO</a:t>
            </a:r>
            <a:endParaRPr lang="en-US" sz="1725" dirty="0"/>
          </a:p>
        </p:txBody>
      </p:sp>
      <p:sp>
        <p:nvSpPr>
          <p:cNvPr id="20" name="Text 18"/>
          <p:cNvSpPr/>
          <p:nvPr/>
        </p:nvSpPr>
        <p:spPr>
          <a:xfrm>
            <a:off x="9397246" y="5605106"/>
            <a:ext cx="7776001"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6463F"/>
                </a:solidFill>
                <a:latin typeface="Segoe UI" pitchFamily="34" charset="0"/>
                <a:ea typeface="Segoe UI" pitchFamily="34" charset="-122"/>
                <a:cs typeface="Segoe UI" pitchFamily="34" charset="-120"/>
              </a:rPr>
              <a:t>Raden Ahmad Arijuddin B, Anisa Amelia Ghandi, Zaskia Hanifah, Angelica Fajarina Nugroho</a:t>
            </a:r>
            <a:endParaRPr lang="en-US" sz="1800" dirty="0"/>
          </a:p>
        </p:txBody>
      </p:sp>
      <p:sp>
        <p:nvSpPr>
          <p:cNvPr id="21" name="Shape 19"/>
          <p:cNvSpPr/>
          <p:nvPr/>
        </p:nvSpPr>
        <p:spPr>
          <a:xfrm>
            <a:off x="1047750" y="6751797"/>
            <a:ext cx="16192500" cy="1348502"/>
          </a:xfrm>
          <a:prstGeom prst="roundRect">
            <a:avLst>
              <a:gd name="adj" fmla="val 8476"/>
            </a:avLst>
          </a:prstGeom>
          <a:solidFill>
            <a:srgbClr val="FFFFFF"/>
          </a:solidFill>
          <a:ln w="7620">
            <a:solidFill>
              <a:srgbClr val="E8E6E0"/>
            </a:solidFill>
            <a:prstDash val="solid"/>
          </a:ln>
        </p:spPr>
        <p:txBody>
          <a:bodyPr/>
          <a:lstStyle/>
          <a:p>
            <a:endParaRPr lang="en-ID"/>
          </a:p>
        </p:txBody>
      </p:sp>
      <p:sp>
        <p:nvSpPr>
          <p:cNvPr id="22" name="Text 20"/>
          <p:cNvSpPr/>
          <p:nvPr/>
        </p:nvSpPr>
        <p:spPr>
          <a:xfrm>
            <a:off x="1341120" y="7239358"/>
            <a:ext cx="121920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2654E"/>
                </a:solidFill>
                <a:latin typeface="Segoe UI" pitchFamily="34" charset="0"/>
                <a:ea typeface="Segoe UI" pitchFamily="34" charset="-122"/>
                <a:cs typeface="Segoe UI" pitchFamily="34" charset="-120"/>
              </a:rPr>
              <a:t>KLP09</a:t>
            </a:r>
            <a:endParaRPr lang="en-US" sz="2250" dirty="0"/>
          </a:p>
        </p:txBody>
      </p:sp>
      <p:sp>
        <p:nvSpPr>
          <p:cNvPr id="23" name="Text 21"/>
          <p:cNvSpPr/>
          <p:nvPr/>
        </p:nvSpPr>
        <p:spPr>
          <a:xfrm>
            <a:off x="2769870" y="7073622"/>
            <a:ext cx="6531875"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23231F"/>
                </a:solidFill>
                <a:latin typeface="Segoe UI" pitchFamily="34" charset="0"/>
                <a:ea typeface="Segoe UI" pitchFamily="34" charset="-122"/>
                <a:cs typeface="Segoe UI" pitchFamily="34" charset="-120"/>
              </a:rPr>
              <a:t>Financial Risk &amp; Loss Detection</a:t>
            </a:r>
            <a:endParaRPr lang="en-US" sz="2100" dirty="0"/>
          </a:p>
        </p:txBody>
      </p:sp>
      <p:sp>
        <p:nvSpPr>
          <p:cNvPr id="24" name="Text 22"/>
          <p:cNvSpPr/>
          <p:nvPr/>
        </p:nvSpPr>
        <p:spPr>
          <a:xfrm>
            <a:off x="2769870" y="7488912"/>
            <a:ext cx="6531875" cy="327660"/>
          </a:xfrm>
          <a:prstGeom prst="rect">
            <a:avLst/>
          </a:prstGeom>
          <a:noFill/>
          <a:ln/>
        </p:spPr>
        <p:txBody>
          <a:bodyPr wrap="square" lIns="25400" tIns="25400" rIns="25400" bIns="25400" rtlCol="0" anchor="t">
            <a:normAutofit/>
          </a:bodyPr>
          <a:lstStyle/>
          <a:p>
            <a:pPr marL="0" indent="0" algn="l">
              <a:buNone/>
            </a:pPr>
            <a:r>
              <a:rPr lang="en-US" sz="1725" dirty="0">
                <a:solidFill>
                  <a:srgbClr val="6E6E66"/>
                </a:solidFill>
                <a:latin typeface="Segoe UI" pitchFamily="34" charset="0"/>
                <a:ea typeface="Segoe UI" pitchFamily="34" charset="-122"/>
                <a:cs typeface="Segoe UI" pitchFamily="34" charset="-120"/>
              </a:rPr>
              <a:t>Internal Auditor / Chief Risk Officer</a:t>
            </a:r>
            <a:endParaRPr lang="en-US" sz="1725" dirty="0"/>
          </a:p>
        </p:txBody>
      </p:sp>
      <p:sp>
        <p:nvSpPr>
          <p:cNvPr id="25" name="Text 23"/>
          <p:cNvSpPr/>
          <p:nvPr/>
        </p:nvSpPr>
        <p:spPr>
          <a:xfrm>
            <a:off x="9397246" y="7266027"/>
            <a:ext cx="7776001"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6463F"/>
                </a:solidFill>
                <a:latin typeface="Segoe UI" pitchFamily="34" charset="0"/>
                <a:ea typeface="Segoe UI" pitchFamily="34" charset="-122"/>
                <a:cs typeface="Segoe UI" pitchFamily="34" charset="-120"/>
              </a:rPr>
              <a:t>Kayla Najla Ramadhina, Ravy Handaru Pratomo, Raihan Febrian Asyifa</a:t>
            </a:r>
            <a:endParaRPr lang="en-US" sz="1800" dirty="0"/>
          </a:p>
        </p:txBody>
      </p:sp>
      <p:sp>
        <p:nvSpPr>
          <p:cNvPr id="26" name="Shape 24"/>
          <p:cNvSpPr/>
          <p:nvPr/>
        </p:nvSpPr>
        <p:spPr>
          <a:xfrm>
            <a:off x="1047750" y="8252698"/>
            <a:ext cx="16192500" cy="1348502"/>
          </a:xfrm>
          <a:prstGeom prst="roundRect">
            <a:avLst>
              <a:gd name="adj" fmla="val 8476"/>
            </a:avLst>
          </a:prstGeom>
          <a:solidFill>
            <a:srgbClr val="FFFFFF"/>
          </a:solidFill>
          <a:ln w="7620">
            <a:solidFill>
              <a:srgbClr val="E8E6E0"/>
            </a:solidFill>
            <a:prstDash val="solid"/>
          </a:ln>
        </p:spPr>
        <p:txBody>
          <a:bodyPr/>
          <a:lstStyle/>
          <a:p>
            <a:endParaRPr lang="en-ID"/>
          </a:p>
        </p:txBody>
      </p:sp>
      <p:sp>
        <p:nvSpPr>
          <p:cNvPr id="27" name="Text 25"/>
          <p:cNvSpPr/>
          <p:nvPr/>
        </p:nvSpPr>
        <p:spPr>
          <a:xfrm>
            <a:off x="1341120" y="8740259"/>
            <a:ext cx="121920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2654E"/>
                </a:solidFill>
                <a:latin typeface="Segoe UI" pitchFamily="34" charset="0"/>
                <a:ea typeface="Segoe UI" pitchFamily="34" charset="-122"/>
                <a:cs typeface="Segoe UI" pitchFamily="34" charset="-120"/>
              </a:rPr>
              <a:t>KLP10</a:t>
            </a:r>
            <a:endParaRPr lang="en-US" sz="2250" dirty="0"/>
          </a:p>
        </p:txBody>
      </p:sp>
      <p:sp>
        <p:nvSpPr>
          <p:cNvPr id="28" name="Text 26"/>
          <p:cNvSpPr/>
          <p:nvPr/>
        </p:nvSpPr>
        <p:spPr>
          <a:xfrm>
            <a:off x="2769870" y="8574524"/>
            <a:ext cx="6531875"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23231F"/>
                </a:solidFill>
                <a:latin typeface="Segoe UI" pitchFamily="34" charset="0"/>
                <a:ea typeface="Segoe UI" pitchFamily="34" charset="-122"/>
                <a:cs typeface="Segoe UI" pitchFamily="34" charset="-120"/>
              </a:rPr>
              <a:t>Executive Performance Dashboard</a:t>
            </a:r>
            <a:endParaRPr lang="en-US" sz="2100" dirty="0"/>
          </a:p>
        </p:txBody>
      </p:sp>
      <p:sp>
        <p:nvSpPr>
          <p:cNvPr id="29" name="Text 27"/>
          <p:cNvSpPr/>
          <p:nvPr/>
        </p:nvSpPr>
        <p:spPr>
          <a:xfrm>
            <a:off x="2769870" y="8989814"/>
            <a:ext cx="6531875" cy="327660"/>
          </a:xfrm>
          <a:prstGeom prst="rect">
            <a:avLst/>
          </a:prstGeom>
          <a:noFill/>
          <a:ln/>
        </p:spPr>
        <p:txBody>
          <a:bodyPr wrap="square" lIns="25400" tIns="25400" rIns="25400" bIns="25400" rtlCol="0" anchor="t">
            <a:normAutofit/>
          </a:bodyPr>
          <a:lstStyle/>
          <a:p>
            <a:pPr marL="0" indent="0" algn="l">
              <a:buNone/>
            </a:pPr>
            <a:r>
              <a:rPr lang="en-US" sz="1725" dirty="0">
                <a:solidFill>
                  <a:srgbClr val="6E6E66"/>
                </a:solidFill>
                <a:latin typeface="Segoe UI" pitchFamily="34" charset="0"/>
                <a:ea typeface="Segoe UI" pitchFamily="34" charset="-122"/>
                <a:cs typeface="Segoe UI" pitchFamily="34" charset="-120"/>
              </a:rPr>
              <a:t>CEO / Board of Directors</a:t>
            </a:r>
            <a:endParaRPr lang="en-US" sz="1725" dirty="0"/>
          </a:p>
        </p:txBody>
      </p:sp>
      <p:sp>
        <p:nvSpPr>
          <p:cNvPr id="30" name="Text 28"/>
          <p:cNvSpPr/>
          <p:nvPr/>
        </p:nvSpPr>
        <p:spPr>
          <a:xfrm>
            <a:off x="9397246" y="8766929"/>
            <a:ext cx="7776001"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6463F"/>
                </a:solidFill>
                <a:latin typeface="Segoe UI" pitchFamily="34" charset="0"/>
                <a:ea typeface="Segoe UI" pitchFamily="34" charset="-122"/>
                <a:cs typeface="Segoe UI" pitchFamily="34" charset="-120"/>
              </a:rPr>
              <a:t>Syihab Rifqi Hadzami, Muhamad Nazril Setiawan, Azzikra Rabbani M Achza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800100"/>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2654E"/>
                </a:solidFill>
                <a:latin typeface="Segoe UI" pitchFamily="34" charset="0"/>
                <a:ea typeface="Segoe UI" pitchFamily="34" charset="-122"/>
                <a:cs typeface="Segoe UI" pitchFamily="34" charset="-120"/>
              </a:rPr>
              <a:t>08 / OUTPUT</a:t>
            </a:r>
            <a:endParaRPr lang="en-US" sz="1800" dirty="0"/>
          </a:p>
        </p:txBody>
      </p:sp>
      <p:sp>
        <p:nvSpPr>
          <p:cNvPr id="3" name="Text 1"/>
          <p:cNvSpPr/>
          <p:nvPr/>
        </p:nvSpPr>
        <p:spPr>
          <a:xfrm>
            <a:off x="1047750" y="1238250"/>
            <a:ext cx="16678275" cy="603409"/>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200" b="1" kern="0" spc="-37" dirty="0">
                <a:solidFill>
                  <a:srgbClr val="23231F"/>
                </a:solidFill>
                <a:latin typeface="Segoe UI" pitchFamily="34" charset="0"/>
                <a:ea typeface="Segoe UI" pitchFamily="34" charset="-122"/>
                <a:cs typeface="Segoe UI" pitchFamily="34" charset="-120"/>
              </a:rPr>
              <a:t>Lima output yang harus dikumpulkan</a:t>
            </a:r>
            <a:endParaRPr lang="en-US" sz="4200" dirty="0"/>
          </a:p>
        </p:txBody>
      </p:sp>
      <p:sp>
        <p:nvSpPr>
          <p:cNvPr id="4" name="Shape 2"/>
          <p:cNvSpPr/>
          <p:nvPr/>
        </p:nvSpPr>
        <p:spPr>
          <a:xfrm>
            <a:off x="1047750" y="2013109"/>
            <a:ext cx="685800" cy="47625"/>
          </a:xfrm>
          <a:prstGeom prst="roundRect">
            <a:avLst>
              <a:gd name="adj" fmla="val 50000"/>
            </a:avLst>
          </a:prstGeom>
          <a:solidFill>
            <a:srgbClr val="F2654E"/>
          </a:solidFill>
          <a:ln/>
        </p:spPr>
        <p:txBody>
          <a:bodyPr/>
          <a:lstStyle/>
          <a:p>
            <a:endParaRPr lang="en-ID"/>
          </a:p>
        </p:txBody>
      </p:sp>
      <p:sp>
        <p:nvSpPr>
          <p:cNvPr id="5" name="Shape 3"/>
          <p:cNvSpPr/>
          <p:nvPr/>
        </p:nvSpPr>
        <p:spPr>
          <a:xfrm>
            <a:off x="1047750" y="2384584"/>
            <a:ext cx="16192500" cy="1328976"/>
          </a:xfrm>
          <a:prstGeom prst="roundRect">
            <a:avLst>
              <a:gd name="adj" fmla="val 8601"/>
            </a:avLst>
          </a:prstGeom>
          <a:solidFill>
            <a:srgbClr val="FFFFFF"/>
          </a:solidFill>
          <a:ln w="7620">
            <a:solidFill>
              <a:srgbClr val="E8E6E0"/>
            </a:solidFill>
            <a:prstDash val="solid"/>
          </a:ln>
        </p:spPr>
        <p:txBody>
          <a:bodyPr/>
          <a:lstStyle/>
          <a:p>
            <a:endParaRPr lang="en-ID"/>
          </a:p>
        </p:txBody>
      </p:sp>
      <p:sp>
        <p:nvSpPr>
          <p:cNvPr id="6" name="Text 4"/>
          <p:cNvSpPr/>
          <p:nvPr/>
        </p:nvSpPr>
        <p:spPr>
          <a:xfrm>
            <a:off x="1360170" y="2831902"/>
            <a:ext cx="74295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F2654E"/>
                </a:solidFill>
                <a:latin typeface="Segoe UI" pitchFamily="34" charset="0"/>
                <a:ea typeface="Segoe UI" pitchFamily="34" charset="-122"/>
                <a:cs typeface="Segoe UI" pitchFamily="34" charset="-120"/>
              </a:rPr>
              <a:t>01</a:t>
            </a:r>
            <a:endParaRPr lang="en-US" sz="2550" dirty="0"/>
          </a:p>
        </p:txBody>
      </p:sp>
      <p:sp>
        <p:nvSpPr>
          <p:cNvPr id="7" name="Text 5"/>
          <p:cNvSpPr/>
          <p:nvPr/>
        </p:nvSpPr>
        <p:spPr>
          <a:xfrm>
            <a:off x="2312670" y="2686169"/>
            <a:ext cx="11619853"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23231F"/>
                </a:solidFill>
                <a:latin typeface="Segoe UI" pitchFamily="34" charset="0"/>
                <a:ea typeface="Segoe UI" pitchFamily="34" charset="-122"/>
                <a:cs typeface="Segoe UI" pitchFamily="34" charset="-120"/>
              </a:rPr>
              <a:t>Dashboard 1 (Tableau Public)</a:t>
            </a:r>
            <a:endParaRPr lang="en-US" sz="2250" dirty="0"/>
          </a:p>
        </p:txBody>
      </p:sp>
      <p:sp>
        <p:nvSpPr>
          <p:cNvPr id="8" name="Text 6"/>
          <p:cNvSpPr/>
          <p:nvPr/>
        </p:nvSpPr>
        <p:spPr>
          <a:xfrm>
            <a:off x="2312670" y="3107174"/>
            <a:ext cx="11619853"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E6E66"/>
                </a:solidFill>
                <a:latin typeface="Segoe UI" pitchFamily="34" charset="0"/>
                <a:ea typeface="Segoe UI" pitchFamily="34" charset="-122"/>
                <a:cs typeface="Segoe UI" pitchFamily="34" charset="-120"/>
              </a:rPr>
              <a:t>Tepat 4 visualisasi yang berkaitan, minimal 1 filter interaktif.</a:t>
            </a:r>
            <a:endParaRPr lang="en-US" sz="1800" dirty="0"/>
          </a:p>
        </p:txBody>
      </p:sp>
      <p:sp>
        <p:nvSpPr>
          <p:cNvPr id="9" name="Shape 7"/>
          <p:cNvSpPr/>
          <p:nvPr/>
        </p:nvSpPr>
        <p:spPr>
          <a:xfrm>
            <a:off x="13879831" y="2809042"/>
            <a:ext cx="3048000" cy="480060"/>
          </a:xfrm>
          <a:prstGeom prst="roundRect">
            <a:avLst>
              <a:gd name="adj" fmla="val 15873"/>
            </a:avLst>
          </a:prstGeom>
          <a:solidFill>
            <a:srgbClr val="FFEEE8"/>
          </a:solidFill>
          <a:ln/>
        </p:spPr>
        <p:txBody>
          <a:bodyPr/>
          <a:lstStyle/>
          <a:p>
            <a:endParaRPr lang="en-ID"/>
          </a:p>
        </p:txBody>
      </p:sp>
      <p:sp>
        <p:nvSpPr>
          <p:cNvPr id="10" name="Text 8"/>
          <p:cNvSpPr/>
          <p:nvPr/>
        </p:nvSpPr>
        <p:spPr>
          <a:xfrm>
            <a:off x="13986511" y="2904292"/>
            <a:ext cx="2834640" cy="327660"/>
          </a:xfrm>
          <a:prstGeom prst="rect">
            <a:avLst/>
          </a:prstGeom>
          <a:noFill/>
          <a:ln/>
        </p:spPr>
        <p:txBody>
          <a:bodyPr wrap="square" lIns="25400" tIns="25400" rIns="25400" bIns="25400" rtlCol="0" anchor="t">
            <a:normAutofit/>
          </a:bodyPr>
          <a:lstStyle/>
          <a:p>
            <a:pPr marL="0" indent="0" algn="ctr">
              <a:buNone/>
            </a:pPr>
            <a:r>
              <a:rPr lang="en-US" sz="1725" dirty="0">
                <a:solidFill>
                  <a:srgbClr val="B0402C"/>
                </a:solidFill>
                <a:latin typeface="Segoe UI" pitchFamily="34" charset="0"/>
                <a:ea typeface="Segoe UI" pitchFamily="34" charset="-122"/>
                <a:cs typeface="Segoe UI" pitchFamily="34" charset="-120"/>
              </a:rPr>
              <a:t>Akun Tableau Public</a:t>
            </a:r>
            <a:endParaRPr lang="en-US" sz="1725" dirty="0"/>
          </a:p>
        </p:txBody>
      </p:sp>
      <p:sp>
        <p:nvSpPr>
          <p:cNvPr id="11" name="Shape 9"/>
          <p:cNvSpPr/>
          <p:nvPr/>
        </p:nvSpPr>
        <p:spPr>
          <a:xfrm>
            <a:off x="1047750" y="3846909"/>
            <a:ext cx="16192500" cy="1329095"/>
          </a:xfrm>
          <a:prstGeom prst="roundRect">
            <a:avLst>
              <a:gd name="adj" fmla="val 8600"/>
            </a:avLst>
          </a:prstGeom>
          <a:solidFill>
            <a:srgbClr val="FFFFFF"/>
          </a:solidFill>
          <a:ln w="7620">
            <a:solidFill>
              <a:srgbClr val="E8E6E0"/>
            </a:solidFill>
            <a:prstDash val="solid"/>
          </a:ln>
        </p:spPr>
        <p:txBody>
          <a:bodyPr/>
          <a:lstStyle/>
          <a:p>
            <a:endParaRPr lang="en-ID"/>
          </a:p>
        </p:txBody>
      </p:sp>
      <p:sp>
        <p:nvSpPr>
          <p:cNvPr id="12" name="Text 10"/>
          <p:cNvSpPr/>
          <p:nvPr/>
        </p:nvSpPr>
        <p:spPr>
          <a:xfrm>
            <a:off x="1360170" y="4294227"/>
            <a:ext cx="74295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F2654E"/>
                </a:solidFill>
                <a:latin typeface="Segoe UI" pitchFamily="34" charset="0"/>
                <a:ea typeface="Segoe UI" pitchFamily="34" charset="-122"/>
                <a:cs typeface="Segoe UI" pitchFamily="34" charset="-120"/>
              </a:rPr>
              <a:t>02</a:t>
            </a:r>
            <a:endParaRPr lang="en-US" sz="2550" dirty="0"/>
          </a:p>
        </p:txBody>
      </p:sp>
      <p:sp>
        <p:nvSpPr>
          <p:cNvPr id="13" name="Text 11"/>
          <p:cNvSpPr/>
          <p:nvPr/>
        </p:nvSpPr>
        <p:spPr>
          <a:xfrm>
            <a:off x="2312670" y="4148495"/>
            <a:ext cx="11619853"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23231F"/>
                </a:solidFill>
                <a:latin typeface="Segoe UI" pitchFamily="34" charset="0"/>
                <a:ea typeface="Segoe UI" pitchFamily="34" charset="-122"/>
                <a:cs typeface="Segoe UI" pitchFamily="34" charset="-120"/>
              </a:rPr>
              <a:t>Dashboard 2 (Tableau Public)</a:t>
            </a:r>
            <a:endParaRPr lang="en-US" sz="2250" dirty="0"/>
          </a:p>
        </p:txBody>
      </p:sp>
      <p:sp>
        <p:nvSpPr>
          <p:cNvPr id="14" name="Text 12"/>
          <p:cNvSpPr/>
          <p:nvPr/>
        </p:nvSpPr>
        <p:spPr>
          <a:xfrm>
            <a:off x="2312670" y="4569500"/>
            <a:ext cx="11619853"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E6E66"/>
                </a:solidFill>
                <a:latin typeface="Segoe UI" pitchFamily="34" charset="0"/>
                <a:ea typeface="Segoe UI" pitchFamily="34" charset="-122"/>
                <a:cs typeface="Segoe UI" pitchFamily="34" charset="-120"/>
              </a:rPr>
              <a:t>Tepat 4 visualisasi berbeda, perspektif yang melengkapi Dashboard 1.</a:t>
            </a:r>
            <a:endParaRPr lang="en-US" sz="1800" dirty="0"/>
          </a:p>
        </p:txBody>
      </p:sp>
      <p:sp>
        <p:nvSpPr>
          <p:cNvPr id="15" name="Shape 13"/>
          <p:cNvSpPr/>
          <p:nvPr/>
        </p:nvSpPr>
        <p:spPr>
          <a:xfrm>
            <a:off x="13879831" y="4271367"/>
            <a:ext cx="3048000" cy="480060"/>
          </a:xfrm>
          <a:prstGeom prst="roundRect">
            <a:avLst>
              <a:gd name="adj" fmla="val 15873"/>
            </a:avLst>
          </a:prstGeom>
          <a:solidFill>
            <a:srgbClr val="FFEEE8"/>
          </a:solidFill>
          <a:ln/>
        </p:spPr>
        <p:txBody>
          <a:bodyPr/>
          <a:lstStyle/>
          <a:p>
            <a:endParaRPr lang="en-ID"/>
          </a:p>
        </p:txBody>
      </p:sp>
      <p:sp>
        <p:nvSpPr>
          <p:cNvPr id="16" name="Text 14"/>
          <p:cNvSpPr/>
          <p:nvPr/>
        </p:nvSpPr>
        <p:spPr>
          <a:xfrm>
            <a:off x="13986511" y="4366617"/>
            <a:ext cx="2834640" cy="327660"/>
          </a:xfrm>
          <a:prstGeom prst="rect">
            <a:avLst/>
          </a:prstGeom>
          <a:noFill/>
          <a:ln/>
        </p:spPr>
        <p:txBody>
          <a:bodyPr wrap="square" lIns="25400" tIns="25400" rIns="25400" bIns="25400" rtlCol="0" anchor="t">
            <a:normAutofit/>
          </a:bodyPr>
          <a:lstStyle/>
          <a:p>
            <a:pPr algn="ctr"/>
            <a:r>
              <a:rPr lang="en-US" sz="1725" dirty="0">
                <a:solidFill>
                  <a:srgbClr val="B0402C"/>
                </a:solidFill>
                <a:latin typeface="Segoe UI" pitchFamily="34" charset="0"/>
                <a:ea typeface="Segoe UI" pitchFamily="34" charset="-122"/>
                <a:cs typeface="Segoe UI" pitchFamily="34" charset="-120"/>
              </a:rPr>
              <a:t>Akun Tableau Public</a:t>
            </a:r>
            <a:endParaRPr lang="en-US" sz="1725" dirty="0"/>
          </a:p>
        </p:txBody>
      </p:sp>
      <p:sp>
        <p:nvSpPr>
          <p:cNvPr id="17" name="Shape 15"/>
          <p:cNvSpPr/>
          <p:nvPr/>
        </p:nvSpPr>
        <p:spPr>
          <a:xfrm>
            <a:off x="1047750" y="5309354"/>
            <a:ext cx="16192500" cy="1328976"/>
          </a:xfrm>
          <a:prstGeom prst="roundRect">
            <a:avLst>
              <a:gd name="adj" fmla="val 8601"/>
            </a:avLst>
          </a:prstGeom>
          <a:solidFill>
            <a:srgbClr val="FFFFFF"/>
          </a:solidFill>
          <a:ln w="7620">
            <a:solidFill>
              <a:srgbClr val="E8E6E0"/>
            </a:solidFill>
            <a:prstDash val="solid"/>
          </a:ln>
        </p:spPr>
        <p:txBody>
          <a:bodyPr/>
          <a:lstStyle/>
          <a:p>
            <a:endParaRPr lang="en-ID"/>
          </a:p>
        </p:txBody>
      </p:sp>
      <p:sp>
        <p:nvSpPr>
          <p:cNvPr id="18" name="Text 16"/>
          <p:cNvSpPr/>
          <p:nvPr/>
        </p:nvSpPr>
        <p:spPr>
          <a:xfrm>
            <a:off x="1360170" y="5756672"/>
            <a:ext cx="74295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F2654E"/>
                </a:solidFill>
                <a:latin typeface="Segoe UI" pitchFamily="34" charset="0"/>
                <a:ea typeface="Segoe UI" pitchFamily="34" charset="-122"/>
                <a:cs typeface="Segoe UI" pitchFamily="34" charset="-120"/>
              </a:rPr>
              <a:t>03</a:t>
            </a:r>
            <a:endParaRPr lang="en-US" sz="2550" dirty="0"/>
          </a:p>
        </p:txBody>
      </p:sp>
      <p:sp>
        <p:nvSpPr>
          <p:cNvPr id="19" name="Text 17"/>
          <p:cNvSpPr/>
          <p:nvPr/>
        </p:nvSpPr>
        <p:spPr>
          <a:xfrm>
            <a:off x="2312670" y="5610939"/>
            <a:ext cx="11619853"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23231F"/>
                </a:solidFill>
                <a:latin typeface="Segoe UI" pitchFamily="34" charset="0"/>
                <a:ea typeface="Segoe UI" pitchFamily="34" charset="-122"/>
                <a:cs typeface="Segoe UI" pitchFamily="34" charset="-120"/>
              </a:rPr>
              <a:t>Tableau Story</a:t>
            </a:r>
            <a:endParaRPr lang="en-US" sz="2250" dirty="0"/>
          </a:p>
        </p:txBody>
      </p:sp>
      <p:sp>
        <p:nvSpPr>
          <p:cNvPr id="20" name="Text 18"/>
          <p:cNvSpPr/>
          <p:nvPr/>
        </p:nvSpPr>
        <p:spPr>
          <a:xfrm>
            <a:off x="2312670" y="6031945"/>
            <a:ext cx="11619853"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E6E66"/>
                </a:solidFill>
                <a:latin typeface="Segoe UI" pitchFamily="34" charset="0"/>
                <a:ea typeface="Segoe UI" pitchFamily="34" charset="-122"/>
                <a:cs typeface="Segoe UI" pitchFamily="34" charset="-120"/>
              </a:rPr>
              <a:t>Minimal 5 Story Points: Konteks, Temuan 1, Temuan 2, Sintesis, Rekomendasi.</a:t>
            </a:r>
            <a:endParaRPr lang="en-US" sz="1800" dirty="0"/>
          </a:p>
        </p:txBody>
      </p:sp>
      <p:sp>
        <p:nvSpPr>
          <p:cNvPr id="21" name="Shape 19"/>
          <p:cNvSpPr/>
          <p:nvPr/>
        </p:nvSpPr>
        <p:spPr>
          <a:xfrm>
            <a:off x="13879831" y="5733812"/>
            <a:ext cx="3048000" cy="480060"/>
          </a:xfrm>
          <a:prstGeom prst="roundRect">
            <a:avLst>
              <a:gd name="adj" fmla="val 15873"/>
            </a:avLst>
          </a:prstGeom>
          <a:solidFill>
            <a:srgbClr val="FFEEE8"/>
          </a:solidFill>
          <a:ln/>
        </p:spPr>
        <p:txBody>
          <a:bodyPr/>
          <a:lstStyle/>
          <a:p>
            <a:endParaRPr lang="en-ID"/>
          </a:p>
        </p:txBody>
      </p:sp>
      <p:sp>
        <p:nvSpPr>
          <p:cNvPr id="22" name="Text 20"/>
          <p:cNvSpPr/>
          <p:nvPr/>
        </p:nvSpPr>
        <p:spPr>
          <a:xfrm>
            <a:off x="13986511" y="5829062"/>
            <a:ext cx="2834640" cy="327660"/>
          </a:xfrm>
          <a:prstGeom prst="rect">
            <a:avLst/>
          </a:prstGeom>
          <a:noFill/>
          <a:ln/>
        </p:spPr>
        <p:txBody>
          <a:bodyPr wrap="square" lIns="25400" tIns="25400" rIns="25400" bIns="25400" rtlCol="0" anchor="t">
            <a:normAutofit/>
          </a:bodyPr>
          <a:lstStyle/>
          <a:p>
            <a:pPr algn="ctr"/>
            <a:r>
              <a:rPr lang="en-US" sz="1725" dirty="0">
                <a:solidFill>
                  <a:srgbClr val="B0402C"/>
                </a:solidFill>
                <a:latin typeface="Segoe UI" pitchFamily="34" charset="0"/>
                <a:ea typeface="Segoe UI" pitchFamily="34" charset="-122"/>
                <a:cs typeface="Segoe UI" pitchFamily="34" charset="-120"/>
              </a:rPr>
              <a:t>Akun Tableau Public</a:t>
            </a:r>
            <a:endParaRPr lang="en-US" sz="1725" dirty="0"/>
          </a:p>
        </p:txBody>
      </p:sp>
      <p:sp>
        <p:nvSpPr>
          <p:cNvPr id="23" name="Shape 21"/>
          <p:cNvSpPr/>
          <p:nvPr/>
        </p:nvSpPr>
        <p:spPr>
          <a:xfrm>
            <a:off x="1047750" y="6771680"/>
            <a:ext cx="16192500" cy="1329095"/>
          </a:xfrm>
          <a:prstGeom prst="roundRect">
            <a:avLst>
              <a:gd name="adj" fmla="val 8600"/>
            </a:avLst>
          </a:prstGeom>
          <a:solidFill>
            <a:srgbClr val="FFFFFF"/>
          </a:solidFill>
          <a:ln w="7620">
            <a:solidFill>
              <a:srgbClr val="E8E6E0"/>
            </a:solidFill>
            <a:prstDash val="solid"/>
          </a:ln>
        </p:spPr>
        <p:txBody>
          <a:bodyPr/>
          <a:lstStyle/>
          <a:p>
            <a:endParaRPr lang="en-ID"/>
          </a:p>
        </p:txBody>
      </p:sp>
      <p:sp>
        <p:nvSpPr>
          <p:cNvPr id="24" name="Text 22"/>
          <p:cNvSpPr/>
          <p:nvPr/>
        </p:nvSpPr>
        <p:spPr>
          <a:xfrm>
            <a:off x="1360170" y="7218998"/>
            <a:ext cx="74295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F2654E"/>
                </a:solidFill>
                <a:latin typeface="Segoe UI" pitchFamily="34" charset="0"/>
                <a:ea typeface="Segoe UI" pitchFamily="34" charset="-122"/>
                <a:cs typeface="Segoe UI" pitchFamily="34" charset="-120"/>
              </a:rPr>
              <a:t>04</a:t>
            </a:r>
            <a:endParaRPr lang="en-US" sz="2550" dirty="0"/>
          </a:p>
        </p:txBody>
      </p:sp>
      <p:sp>
        <p:nvSpPr>
          <p:cNvPr id="25" name="Text 23"/>
          <p:cNvSpPr/>
          <p:nvPr/>
        </p:nvSpPr>
        <p:spPr>
          <a:xfrm>
            <a:off x="2312670" y="7073265"/>
            <a:ext cx="11619853"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23231F"/>
                </a:solidFill>
                <a:latin typeface="Segoe UI" pitchFamily="34" charset="0"/>
                <a:ea typeface="Segoe UI" pitchFamily="34" charset="-122"/>
                <a:cs typeface="Segoe UI" pitchFamily="34" charset="-120"/>
              </a:rPr>
              <a:t>Laporan Analitis (PDF)</a:t>
            </a:r>
            <a:endParaRPr lang="en-US" sz="2250" dirty="0"/>
          </a:p>
        </p:txBody>
      </p:sp>
      <p:sp>
        <p:nvSpPr>
          <p:cNvPr id="26" name="Text 24"/>
          <p:cNvSpPr/>
          <p:nvPr/>
        </p:nvSpPr>
        <p:spPr>
          <a:xfrm>
            <a:off x="2312670" y="7494270"/>
            <a:ext cx="11619853"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E6E66"/>
                </a:solidFill>
                <a:latin typeface="Segoe UI" pitchFamily="34" charset="0"/>
                <a:ea typeface="Segoe UI" pitchFamily="34" charset="-122"/>
                <a:cs typeface="Segoe UI" pitchFamily="34" charset="-120"/>
              </a:rPr>
              <a:t>Mengikuti struktur Bab 1 sampai 8 dengan referensi APA 7.</a:t>
            </a:r>
            <a:endParaRPr lang="en-US" sz="1800" dirty="0"/>
          </a:p>
        </p:txBody>
      </p:sp>
      <p:sp>
        <p:nvSpPr>
          <p:cNvPr id="27" name="Shape 25"/>
          <p:cNvSpPr/>
          <p:nvPr/>
        </p:nvSpPr>
        <p:spPr>
          <a:xfrm>
            <a:off x="13879831" y="7196138"/>
            <a:ext cx="3048000" cy="480060"/>
          </a:xfrm>
          <a:prstGeom prst="roundRect">
            <a:avLst>
              <a:gd name="adj" fmla="val 15873"/>
            </a:avLst>
          </a:prstGeom>
          <a:solidFill>
            <a:srgbClr val="F1F0EB"/>
          </a:solidFill>
          <a:ln/>
        </p:spPr>
        <p:txBody>
          <a:bodyPr/>
          <a:lstStyle/>
          <a:p>
            <a:endParaRPr lang="en-ID"/>
          </a:p>
        </p:txBody>
      </p:sp>
      <p:sp>
        <p:nvSpPr>
          <p:cNvPr id="28" name="Text 26"/>
          <p:cNvSpPr/>
          <p:nvPr/>
        </p:nvSpPr>
        <p:spPr>
          <a:xfrm>
            <a:off x="13986511" y="7291388"/>
            <a:ext cx="2834640" cy="327660"/>
          </a:xfrm>
          <a:prstGeom prst="rect">
            <a:avLst/>
          </a:prstGeom>
          <a:noFill/>
          <a:ln/>
        </p:spPr>
        <p:txBody>
          <a:bodyPr wrap="square" lIns="25400" tIns="25400" rIns="25400" bIns="25400" rtlCol="0" anchor="t">
            <a:normAutofit/>
          </a:bodyPr>
          <a:lstStyle/>
          <a:p>
            <a:pPr algn="ctr"/>
            <a:r>
              <a:rPr lang="en-US" sz="1725" dirty="0">
                <a:solidFill>
                  <a:srgbClr val="B0402C"/>
                </a:solidFill>
                <a:latin typeface="Segoe UI" pitchFamily="34" charset="0"/>
                <a:ea typeface="Segoe UI" pitchFamily="34" charset="-122"/>
                <a:cs typeface="Segoe UI" pitchFamily="34" charset="-120"/>
              </a:rPr>
              <a:t>Link via LEADS</a:t>
            </a:r>
            <a:endParaRPr lang="en-US" sz="1725" dirty="0"/>
          </a:p>
        </p:txBody>
      </p:sp>
      <p:sp>
        <p:nvSpPr>
          <p:cNvPr id="29" name="Shape 27"/>
          <p:cNvSpPr/>
          <p:nvPr/>
        </p:nvSpPr>
        <p:spPr>
          <a:xfrm>
            <a:off x="1047750" y="8234125"/>
            <a:ext cx="16192500" cy="1328976"/>
          </a:xfrm>
          <a:prstGeom prst="roundRect">
            <a:avLst>
              <a:gd name="adj" fmla="val 8601"/>
            </a:avLst>
          </a:prstGeom>
          <a:solidFill>
            <a:srgbClr val="FFFFFF"/>
          </a:solidFill>
          <a:ln w="7620">
            <a:solidFill>
              <a:srgbClr val="E8E6E0"/>
            </a:solidFill>
            <a:prstDash val="solid"/>
          </a:ln>
        </p:spPr>
        <p:txBody>
          <a:bodyPr/>
          <a:lstStyle/>
          <a:p>
            <a:endParaRPr lang="en-ID"/>
          </a:p>
        </p:txBody>
      </p:sp>
      <p:sp>
        <p:nvSpPr>
          <p:cNvPr id="30" name="Text 28"/>
          <p:cNvSpPr/>
          <p:nvPr/>
        </p:nvSpPr>
        <p:spPr>
          <a:xfrm>
            <a:off x="1360170" y="8681442"/>
            <a:ext cx="74295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F2654E"/>
                </a:solidFill>
                <a:latin typeface="Segoe UI" pitchFamily="34" charset="0"/>
                <a:ea typeface="Segoe UI" pitchFamily="34" charset="-122"/>
                <a:cs typeface="Segoe UI" pitchFamily="34" charset="-120"/>
              </a:rPr>
              <a:t>05</a:t>
            </a:r>
            <a:endParaRPr lang="en-US" sz="2550" dirty="0"/>
          </a:p>
        </p:txBody>
      </p:sp>
      <p:sp>
        <p:nvSpPr>
          <p:cNvPr id="31" name="Text 29"/>
          <p:cNvSpPr/>
          <p:nvPr/>
        </p:nvSpPr>
        <p:spPr>
          <a:xfrm>
            <a:off x="2312670" y="8535710"/>
            <a:ext cx="11619853"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23231F"/>
                </a:solidFill>
                <a:latin typeface="Segoe UI" pitchFamily="34" charset="0"/>
                <a:ea typeface="Segoe UI" pitchFamily="34" charset="-122"/>
                <a:cs typeface="Segoe UI" pitchFamily="34" charset="-120"/>
              </a:rPr>
              <a:t>Presentasi (PDF)</a:t>
            </a:r>
            <a:endParaRPr lang="en-US" sz="2250" dirty="0"/>
          </a:p>
        </p:txBody>
      </p:sp>
      <p:sp>
        <p:nvSpPr>
          <p:cNvPr id="32" name="Text 30"/>
          <p:cNvSpPr/>
          <p:nvPr/>
        </p:nvSpPr>
        <p:spPr>
          <a:xfrm>
            <a:off x="2312670" y="8956715"/>
            <a:ext cx="11619853"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E6E66"/>
                </a:solidFill>
                <a:latin typeface="Segoe UI" pitchFamily="34" charset="0"/>
                <a:ea typeface="Segoe UI" pitchFamily="34" charset="-122"/>
                <a:cs typeface="Segoe UI" pitchFamily="34" charset="-120"/>
              </a:rPr>
              <a:t>Materi 10 sampai 15 slide yang merangkum temuan dan rekomendasi.</a:t>
            </a:r>
            <a:endParaRPr lang="en-US" sz="1800" dirty="0"/>
          </a:p>
        </p:txBody>
      </p:sp>
      <p:sp>
        <p:nvSpPr>
          <p:cNvPr id="33" name="Shape 31"/>
          <p:cNvSpPr/>
          <p:nvPr/>
        </p:nvSpPr>
        <p:spPr>
          <a:xfrm>
            <a:off x="13879831" y="8658583"/>
            <a:ext cx="3048000" cy="480060"/>
          </a:xfrm>
          <a:prstGeom prst="roundRect">
            <a:avLst>
              <a:gd name="adj" fmla="val 15873"/>
            </a:avLst>
          </a:prstGeom>
          <a:solidFill>
            <a:srgbClr val="F1F0EB"/>
          </a:solidFill>
          <a:ln/>
        </p:spPr>
        <p:txBody>
          <a:bodyPr/>
          <a:lstStyle/>
          <a:p>
            <a:endParaRPr lang="en-ID"/>
          </a:p>
        </p:txBody>
      </p:sp>
      <p:sp>
        <p:nvSpPr>
          <p:cNvPr id="34" name="Text 32"/>
          <p:cNvSpPr/>
          <p:nvPr/>
        </p:nvSpPr>
        <p:spPr>
          <a:xfrm>
            <a:off x="13986511" y="8753833"/>
            <a:ext cx="2834640" cy="327660"/>
          </a:xfrm>
          <a:prstGeom prst="rect">
            <a:avLst/>
          </a:prstGeom>
          <a:noFill/>
          <a:ln/>
        </p:spPr>
        <p:txBody>
          <a:bodyPr wrap="square" lIns="25400" tIns="25400" rIns="25400" bIns="25400" rtlCol="0" anchor="t">
            <a:normAutofit/>
          </a:bodyPr>
          <a:lstStyle/>
          <a:p>
            <a:pPr algn="ctr"/>
            <a:r>
              <a:rPr lang="en-US" sz="1725" dirty="0">
                <a:solidFill>
                  <a:srgbClr val="B0402C"/>
                </a:solidFill>
                <a:latin typeface="Segoe UI" pitchFamily="34" charset="0"/>
                <a:ea typeface="Segoe UI" pitchFamily="34" charset="-122"/>
                <a:cs typeface="Segoe UI" pitchFamily="34" charset="-120"/>
              </a:rPr>
              <a:t>Link via LEADS</a:t>
            </a:r>
            <a:endParaRPr lang="en-US" sz="17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800100"/>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2654E"/>
                </a:solidFill>
                <a:latin typeface="Segoe UI" pitchFamily="34" charset="0"/>
                <a:ea typeface="Segoe UI" pitchFamily="34" charset="-122"/>
                <a:cs typeface="Segoe UI" pitchFamily="34" charset="-120"/>
              </a:rPr>
              <a:t>09 / KETENTUAN VISUALISASI</a:t>
            </a:r>
            <a:endParaRPr lang="en-US" sz="1800" dirty="0"/>
          </a:p>
        </p:txBody>
      </p:sp>
      <p:sp>
        <p:nvSpPr>
          <p:cNvPr id="3" name="Text 1"/>
          <p:cNvSpPr/>
          <p:nvPr/>
        </p:nvSpPr>
        <p:spPr>
          <a:xfrm>
            <a:off x="1047750" y="1238250"/>
            <a:ext cx="16678275" cy="603409"/>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200" b="1" kern="0" spc="-37" dirty="0">
                <a:solidFill>
                  <a:srgbClr val="23231F"/>
                </a:solidFill>
                <a:latin typeface="Segoe UI" pitchFamily="34" charset="0"/>
                <a:ea typeface="Segoe UI" pitchFamily="34" charset="-122"/>
                <a:cs typeface="Segoe UI" pitchFamily="34" charset="-120"/>
              </a:rPr>
              <a:t>Aturan dashboard dan story</a:t>
            </a:r>
            <a:endParaRPr lang="en-US" sz="4200" dirty="0"/>
          </a:p>
        </p:txBody>
      </p:sp>
      <p:sp>
        <p:nvSpPr>
          <p:cNvPr id="4" name="Shape 2"/>
          <p:cNvSpPr/>
          <p:nvPr/>
        </p:nvSpPr>
        <p:spPr>
          <a:xfrm>
            <a:off x="1047750" y="2013109"/>
            <a:ext cx="685800" cy="47625"/>
          </a:xfrm>
          <a:prstGeom prst="roundRect">
            <a:avLst>
              <a:gd name="adj" fmla="val 50000"/>
            </a:avLst>
          </a:prstGeom>
          <a:solidFill>
            <a:srgbClr val="F2654E"/>
          </a:solidFill>
          <a:ln/>
        </p:spPr>
        <p:txBody>
          <a:bodyPr/>
          <a:lstStyle/>
          <a:p>
            <a:endParaRPr lang="en-ID"/>
          </a:p>
        </p:txBody>
      </p:sp>
      <p:sp>
        <p:nvSpPr>
          <p:cNvPr id="5" name="Shape 3"/>
          <p:cNvSpPr/>
          <p:nvPr/>
        </p:nvSpPr>
        <p:spPr>
          <a:xfrm>
            <a:off x="1047750" y="2403634"/>
            <a:ext cx="7905750" cy="7159466"/>
          </a:xfrm>
          <a:prstGeom prst="roundRect">
            <a:avLst>
              <a:gd name="adj" fmla="val 1863"/>
            </a:avLst>
          </a:prstGeom>
          <a:solidFill>
            <a:srgbClr val="FFFFFF"/>
          </a:solidFill>
          <a:ln w="7620">
            <a:solidFill>
              <a:srgbClr val="E8E6E0"/>
            </a:solidFill>
            <a:prstDash val="solid"/>
          </a:ln>
        </p:spPr>
        <p:txBody>
          <a:bodyPr/>
          <a:lstStyle/>
          <a:p>
            <a:endParaRPr lang="en-ID"/>
          </a:p>
        </p:txBody>
      </p:sp>
      <p:sp>
        <p:nvSpPr>
          <p:cNvPr id="6" name="Text 4"/>
          <p:cNvSpPr/>
          <p:nvPr/>
        </p:nvSpPr>
        <p:spPr>
          <a:xfrm>
            <a:off x="1417320" y="2735104"/>
            <a:ext cx="7381609" cy="342900"/>
          </a:xfrm>
          <a:prstGeom prst="rect">
            <a:avLst/>
          </a:prstGeom>
          <a:noFill/>
          <a:ln/>
        </p:spPr>
        <p:txBody>
          <a:bodyPr wrap="square" lIns="25400" tIns="25400" rIns="25400" bIns="25400" rtlCol="0" anchor="t">
            <a:normAutofit/>
          </a:bodyPr>
          <a:lstStyle/>
          <a:p>
            <a:pPr marL="0" indent="0" algn="l">
              <a:buNone/>
            </a:pPr>
            <a:r>
              <a:rPr lang="en-US" sz="1800" b="1" kern="0" spc="150" dirty="0">
                <a:solidFill>
                  <a:srgbClr val="F2654E"/>
                </a:solidFill>
                <a:latin typeface="Segoe UI" pitchFamily="34" charset="0"/>
                <a:ea typeface="Segoe UI" pitchFamily="34" charset="-122"/>
                <a:cs typeface="Segoe UI" pitchFamily="34" charset="-120"/>
              </a:rPr>
              <a:t>SETIAP DASHBOARD</a:t>
            </a:r>
            <a:endParaRPr lang="en-US" sz="1800" dirty="0"/>
          </a:p>
        </p:txBody>
      </p:sp>
      <p:sp>
        <p:nvSpPr>
          <p:cNvPr id="7" name="Text 5"/>
          <p:cNvSpPr/>
          <p:nvPr/>
        </p:nvSpPr>
        <p:spPr>
          <a:xfrm>
            <a:off x="1417320" y="3268504"/>
            <a:ext cx="184547" cy="398145"/>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100" dirty="0">
                <a:solidFill>
                  <a:srgbClr val="F2654E"/>
                </a:solidFill>
                <a:latin typeface="Segoe UI" pitchFamily="34" charset="0"/>
                <a:ea typeface="Segoe UI" pitchFamily="34" charset="-122"/>
                <a:cs typeface="Segoe UI" pitchFamily="34" charset="-120"/>
              </a:rPr>
              <a:t>•</a:t>
            </a:r>
            <a:endParaRPr lang="en-US" sz="2100" dirty="0"/>
          </a:p>
        </p:txBody>
      </p:sp>
      <p:sp>
        <p:nvSpPr>
          <p:cNvPr id="8" name="Text 6"/>
          <p:cNvSpPr/>
          <p:nvPr/>
        </p:nvSpPr>
        <p:spPr>
          <a:xfrm>
            <a:off x="1697117" y="3268504"/>
            <a:ext cx="5627324" cy="3981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23231F"/>
                </a:solidFill>
                <a:latin typeface="Segoe UI" pitchFamily="34" charset="0"/>
                <a:ea typeface="Segoe UI" pitchFamily="34" charset="-122"/>
                <a:cs typeface="Segoe UI" pitchFamily="34" charset="-120"/>
              </a:rPr>
              <a:t>Tepat </a:t>
            </a:r>
            <a:r>
              <a:rPr lang="en-US" sz="2025" b="1" dirty="0">
                <a:solidFill>
                  <a:srgbClr val="23231F"/>
                </a:solidFill>
                <a:latin typeface="Segoe UI" pitchFamily="34" charset="0"/>
                <a:ea typeface="Segoe UI" pitchFamily="34" charset="-122"/>
                <a:cs typeface="Segoe UI" pitchFamily="34" charset="-120"/>
              </a:rPr>
              <a:t>4 visualisasi</a:t>
            </a:r>
            <a:r>
              <a:rPr lang="en-US" sz="2025" dirty="0">
                <a:solidFill>
                  <a:srgbClr val="23231F"/>
                </a:solidFill>
                <a:latin typeface="Segoe UI" pitchFamily="34" charset="0"/>
                <a:ea typeface="Segoe UI" pitchFamily="34" charset="-122"/>
                <a:cs typeface="Segoe UI" pitchFamily="34" charset="-120"/>
              </a:rPr>
              <a:t>, tidak lebih dan tidak kurang.</a:t>
            </a:r>
            <a:endParaRPr lang="en-US" sz="2025" dirty="0"/>
          </a:p>
        </p:txBody>
      </p:sp>
      <p:sp>
        <p:nvSpPr>
          <p:cNvPr id="9" name="Text 7"/>
          <p:cNvSpPr/>
          <p:nvPr/>
        </p:nvSpPr>
        <p:spPr>
          <a:xfrm>
            <a:off x="1417320" y="3819049"/>
            <a:ext cx="184547" cy="398145"/>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100" dirty="0">
                <a:solidFill>
                  <a:srgbClr val="F2654E"/>
                </a:solidFill>
                <a:latin typeface="Segoe UI" pitchFamily="34" charset="0"/>
                <a:ea typeface="Segoe UI" pitchFamily="34" charset="-122"/>
                <a:cs typeface="Segoe UI" pitchFamily="34" charset="-120"/>
              </a:rPr>
              <a:t>•</a:t>
            </a:r>
            <a:endParaRPr lang="en-US" sz="2100" dirty="0"/>
          </a:p>
        </p:txBody>
      </p:sp>
      <p:sp>
        <p:nvSpPr>
          <p:cNvPr id="10" name="Text 8"/>
          <p:cNvSpPr/>
          <p:nvPr/>
        </p:nvSpPr>
        <p:spPr>
          <a:xfrm>
            <a:off x="1697117" y="3819049"/>
            <a:ext cx="6909098" cy="3981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23231F"/>
                </a:solidFill>
                <a:latin typeface="Segoe UI" pitchFamily="34" charset="0"/>
                <a:ea typeface="Segoe UI" pitchFamily="34" charset="-122"/>
                <a:cs typeface="Segoe UI" pitchFamily="34" charset="-120"/>
              </a:rPr>
              <a:t>Tidak boleh dua chart identik untuk pertanyaan yang sama.</a:t>
            </a:r>
            <a:endParaRPr lang="en-US" sz="2025" dirty="0"/>
          </a:p>
        </p:txBody>
      </p:sp>
      <p:sp>
        <p:nvSpPr>
          <p:cNvPr id="11" name="Text 9"/>
          <p:cNvSpPr/>
          <p:nvPr/>
        </p:nvSpPr>
        <p:spPr>
          <a:xfrm>
            <a:off x="1417320" y="4369594"/>
            <a:ext cx="184547" cy="398145"/>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100" dirty="0">
                <a:solidFill>
                  <a:srgbClr val="F2654E"/>
                </a:solidFill>
                <a:latin typeface="Segoe UI" pitchFamily="34" charset="0"/>
                <a:ea typeface="Segoe UI" pitchFamily="34" charset="-122"/>
                <a:cs typeface="Segoe UI" pitchFamily="34" charset="-120"/>
              </a:rPr>
              <a:t>•</a:t>
            </a:r>
            <a:endParaRPr lang="en-US" sz="2100" dirty="0"/>
          </a:p>
        </p:txBody>
      </p:sp>
      <p:sp>
        <p:nvSpPr>
          <p:cNvPr id="12" name="Text 10"/>
          <p:cNvSpPr/>
          <p:nvPr/>
        </p:nvSpPr>
        <p:spPr>
          <a:xfrm>
            <a:off x="1697117" y="4369594"/>
            <a:ext cx="6454738" cy="3981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23231F"/>
                </a:solidFill>
                <a:latin typeface="Segoe UI" pitchFamily="34" charset="0"/>
                <a:ea typeface="Segoe UI" pitchFamily="34" charset="-122"/>
                <a:cs typeface="Segoe UI" pitchFamily="34" charset="-120"/>
              </a:rPr>
              <a:t>Judul mencerminkan insight, bukan sekadar nama field.</a:t>
            </a:r>
            <a:endParaRPr lang="en-US" sz="2025" dirty="0"/>
          </a:p>
        </p:txBody>
      </p:sp>
      <p:sp>
        <p:nvSpPr>
          <p:cNvPr id="13" name="Text 11"/>
          <p:cNvSpPr/>
          <p:nvPr/>
        </p:nvSpPr>
        <p:spPr>
          <a:xfrm>
            <a:off x="1417320" y="4920139"/>
            <a:ext cx="184547" cy="398145"/>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100" dirty="0">
                <a:solidFill>
                  <a:srgbClr val="F2654E"/>
                </a:solidFill>
                <a:latin typeface="Segoe UI" pitchFamily="34" charset="0"/>
                <a:ea typeface="Segoe UI" pitchFamily="34" charset="-122"/>
                <a:cs typeface="Segoe UI" pitchFamily="34" charset="-120"/>
              </a:rPr>
              <a:t>•</a:t>
            </a:r>
            <a:endParaRPr lang="en-US" sz="2100" dirty="0"/>
          </a:p>
        </p:txBody>
      </p:sp>
      <p:sp>
        <p:nvSpPr>
          <p:cNvPr id="14" name="Text 12"/>
          <p:cNvSpPr/>
          <p:nvPr/>
        </p:nvSpPr>
        <p:spPr>
          <a:xfrm>
            <a:off x="1697117" y="4920139"/>
            <a:ext cx="6513848" cy="3981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23231F"/>
                </a:solidFill>
                <a:latin typeface="Segoe UI" pitchFamily="34" charset="0"/>
                <a:ea typeface="Segoe UI" pitchFamily="34" charset="-122"/>
                <a:cs typeface="Segoe UI" pitchFamily="34" charset="-120"/>
              </a:rPr>
              <a:t>Warna konsisten: warna sama berarti entitas yang sama.</a:t>
            </a:r>
            <a:endParaRPr lang="en-US" sz="2025" dirty="0"/>
          </a:p>
        </p:txBody>
      </p:sp>
      <p:sp>
        <p:nvSpPr>
          <p:cNvPr id="15" name="Text 13"/>
          <p:cNvSpPr/>
          <p:nvPr/>
        </p:nvSpPr>
        <p:spPr>
          <a:xfrm>
            <a:off x="1417320" y="5470684"/>
            <a:ext cx="184547" cy="398145"/>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100" dirty="0">
                <a:solidFill>
                  <a:srgbClr val="F2654E"/>
                </a:solidFill>
                <a:latin typeface="Segoe UI" pitchFamily="34" charset="0"/>
                <a:ea typeface="Segoe UI" pitchFamily="34" charset="-122"/>
                <a:cs typeface="Segoe UI" pitchFamily="34" charset="-120"/>
              </a:rPr>
              <a:t>•</a:t>
            </a:r>
            <a:endParaRPr lang="en-US" sz="2100" dirty="0"/>
          </a:p>
        </p:txBody>
      </p:sp>
      <p:sp>
        <p:nvSpPr>
          <p:cNvPr id="16" name="Text 14"/>
          <p:cNvSpPr/>
          <p:nvPr/>
        </p:nvSpPr>
        <p:spPr>
          <a:xfrm>
            <a:off x="1697117" y="5470684"/>
            <a:ext cx="5726658" cy="3981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23231F"/>
                </a:solidFill>
                <a:latin typeface="Segoe UI" pitchFamily="34" charset="0"/>
                <a:ea typeface="Segoe UI" pitchFamily="34" charset="-122"/>
                <a:cs typeface="Segoe UI" pitchFamily="34" charset="-120"/>
              </a:rPr>
              <a:t>Minimal satu dashboard memakai filter interaktif.</a:t>
            </a:r>
            <a:endParaRPr lang="en-US" sz="2025" dirty="0"/>
          </a:p>
        </p:txBody>
      </p:sp>
      <p:sp>
        <p:nvSpPr>
          <p:cNvPr id="17" name="Text 15"/>
          <p:cNvSpPr/>
          <p:nvPr/>
        </p:nvSpPr>
        <p:spPr>
          <a:xfrm>
            <a:off x="1417320" y="6021229"/>
            <a:ext cx="184547" cy="398145"/>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100" dirty="0">
                <a:solidFill>
                  <a:srgbClr val="F2654E"/>
                </a:solidFill>
                <a:latin typeface="Segoe UI" pitchFamily="34" charset="0"/>
                <a:ea typeface="Segoe UI" pitchFamily="34" charset="-122"/>
                <a:cs typeface="Segoe UI" pitchFamily="34" charset="-120"/>
              </a:rPr>
              <a:t>•</a:t>
            </a:r>
            <a:endParaRPr lang="en-US" sz="2100" dirty="0"/>
          </a:p>
        </p:txBody>
      </p:sp>
      <p:sp>
        <p:nvSpPr>
          <p:cNvPr id="18" name="Text 16"/>
          <p:cNvSpPr/>
          <p:nvPr/>
        </p:nvSpPr>
        <p:spPr>
          <a:xfrm>
            <a:off x="1697117" y="6021229"/>
            <a:ext cx="6675970" cy="3981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23231F"/>
                </a:solidFill>
                <a:latin typeface="Segoe UI" pitchFamily="34" charset="0"/>
                <a:ea typeface="Segoe UI" pitchFamily="34" charset="-122"/>
                <a:cs typeface="Segoe UI" pitchFamily="34" charset="-120"/>
              </a:rPr>
              <a:t>Tooltip menampilkan informasi yang relevan dan terbaca.</a:t>
            </a:r>
            <a:endParaRPr lang="en-US" sz="2025" dirty="0"/>
          </a:p>
        </p:txBody>
      </p:sp>
      <p:sp>
        <p:nvSpPr>
          <p:cNvPr id="19" name="Shape 17"/>
          <p:cNvSpPr/>
          <p:nvPr/>
        </p:nvSpPr>
        <p:spPr>
          <a:xfrm>
            <a:off x="9334500" y="2403634"/>
            <a:ext cx="7905750" cy="7159466"/>
          </a:xfrm>
          <a:prstGeom prst="roundRect">
            <a:avLst>
              <a:gd name="adj" fmla="val 1863"/>
            </a:avLst>
          </a:prstGeom>
          <a:solidFill>
            <a:srgbClr val="FFFFFF"/>
          </a:solidFill>
          <a:ln w="7620">
            <a:solidFill>
              <a:srgbClr val="E8E6E0"/>
            </a:solidFill>
            <a:prstDash val="solid"/>
          </a:ln>
        </p:spPr>
        <p:txBody>
          <a:bodyPr/>
          <a:lstStyle/>
          <a:p>
            <a:endParaRPr lang="en-ID"/>
          </a:p>
        </p:txBody>
      </p:sp>
      <p:sp>
        <p:nvSpPr>
          <p:cNvPr id="20" name="Text 18"/>
          <p:cNvSpPr/>
          <p:nvPr/>
        </p:nvSpPr>
        <p:spPr>
          <a:xfrm>
            <a:off x="9704070" y="2735104"/>
            <a:ext cx="7381609" cy="342900"/>
          </a:xfrm>
          <a:prstGeom prst="rect">
            <a:avLst/>
          </a:prstGeom>
          <a:noFill/>
          <a:ln/>
        </p:spPr>
        <p:txBody>
          <a:bodyPr wrap="square" lIns="25400" tIns="25400" rIns="25400" bIns="25400" rtlCol="0" anchor="t">
            <a:normAutofit/>
          </a:bodyPr>
          <a:lstStyle/>
          <a:p>
            <a:pPr marL="0" indent="0" algn="l">
              <a:buNone/>
            </a:pPr>
            <a:r>
              <a:rPr lang="en-US" sz="1800" b="1" kern="0" spc="150" dirty="0">
                <a:solidFill>
                  <a:srgbClr val="F2654E"/>
                </a:solidFill>
                <a:latin typeface="Segoe UI" pitchFamily="34" charset="0"/>
                <a:ea typeface="Segoe UI" pitchFamily="34" charset="-122"/>
                <a:cs typeface="Segoe UI" pitchFamily="34" charset="-120"/>
              </a:rPr>
              <a:t>TABLEAU STORY</a:t>
            </a:r>
            <a:endParaRPr lang="en-US" sz="1800" dirty="0"/>
          </a:p>
        </p:txBody>
      </p:sp>
      <p:sp>
        <p:nvSpPr>
          <p:cNvPr id="21" name="Text 19"/>
          <p:cNvSpPr/>
          <p:nvPr/>
        </p:nvSpPr>
        <p:spPr>
          <a:xfrm>
            <a:off x="9704070" y="3268504"/>
            <a:ext cx="184547" cy="398145"/>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100" dirty="0">
                <a:solidFill>
                  <a:srgbClr val="F2654E"/>
                </a:solidFill>
                <a:latin typeface="Segoe UI" pitchFamily="34" charset="0"/>
                <a:ea typeface="Segoe UI" pitchFamily="34" charset="-122"/>
                <a:cs typeface="Segoe UI" pitchFamily="34" charset="-120"/>
              </a:rPr>
              <a:t>•</a:t>
            </a:r>
            <a:endParaRPr lang="en-US" sz="2100" dirty="0"/>
          </a:p>
        </p:txBody>
      </p:sp>
      <p:sp>
        <p:nvSpPr>
          <p:cNvPr id="22" name="Text 20"/>
          <p:cNvSpPr/>
          <p:nvPr/>
        </p:nvSpPr>
        <p:spPr>
          <a:xfrm>
            <a:off x="9983867" y="3268504"/>
            <a:ext cx="4808126" cy="3981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23231F"/>
                </a:solidFill>
                <a:latin typeface="Segoe UI" pitchFamily="34" charset="0"/>
                <a:ea typeface="Segoe UI" pitchFamily="34" charset="-122"/>
                <a:cs typeface="Segoe UI" pitchFamily="34" charset="-120"/>
              </a:rPr>
              <a:t>Minimal </a:t>
            </a:r>
            <a:r>
              <a:rPr lang="en-US" sz="2025" b="1" dirty="0">
                <a:solidFill>
                  <a:srgbClr val="23231F"/>
                </a:solidFill>
                <a:latin typeface="Segoe UI" pitchFamily="34" charset="0"/>
                <a:ea typeface="Segoe UI" pitchFamily="34" charset="-122"/>
                <a:cs typeface="Segoe UI" pitchFamily="34" charset="-120"/>
              </a:rPr>
              <a:t>5 Story Points </a:t>
            </a:r>
            <a:r>
              <a:rPr lang="en-US" sz="2025" dirty="0">
                <a:solidFill>
                  <a:srgbClr val="23231F"/>
                </a:solidFill>
                <a:latin typeface="Segoe UI" pitchFamily="34" charset="0"/>
                <a:ea typeface="Segoe UI" pitchFamily="34" charset="-122"/>
                <a:cs typeface="Segoe UI" pitchFamily="34" charset="-120"/>
              </a:rPr>
              <a:t>dalam satu story.</a:t>
            </a:r>
            <a:endParaRPr lang="en-US" sz="2025" dirty="0"/>
          </a:p>
        </p:txBody>
      </p:sp>
      <p:sp>
        <p:nvSpPr>
          <p:cNvPr id="23" name="Text 21"/>
          <p:cNvSpPr/>
          <p:nvPr/>
        </p:nvSpPr>
        <p:spPr>
          <a:xfrm>
            <a:off x="9704070" y="3819049"/>
            <a:ext cx="184547" cy="398145"/>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100" dirty="0">
                <a:solidFill>
                  <a:srgbClr val="F2654E"/>
                </a:solidFill>
                <a:latin typeface="Segoe UI" pitchFamily="34" charset="0"/>
                <a:ea typeface="Segoe UI" pitchFamily="34" charset="-122"/>
                <a:cs typeface="Segoe UI" pitchFamily="34" charset="-120"/>
              </a:rPr>
              <a:t>•</a:t>
            </a:r>
            <a:endParaRPr lang="en-US" sz="2100" dirty="0"/>
          </a:p>
        </p:txBody>
      </p:sp>
      <p:sp>
        <p:nvSpPr>
          <p:cNvPr id="24" name="Text 22"/>
          <p:cNvSpPr/>
          <p:nvPr/>
        </p:nvSpPr>
        <p:spPr>
          <a:xfrm>
            <a:off x="9983867" y="3819049"/>
            <a:ext cx="6629614" cy="3981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23231F"/>
                </a:solidFill>
                <a:latin typeface="Segoe UI" pitchFamily="34" charset="0"/>
                <a:ea typeface="Segoe UI" pitchFamily="34" charset="-122"/>
                <a:cs typeface="Segoe UI" pitchFamily="34" charset="-120"/>
              </a:rPr>
              <a:t>Setiap point punya caption yang menjelaskan maknanya.</a:t>
            </a:r>
            <a:endParaRPr lang="en-US" sz="2025" dirty="0"/>
          </a:p>
        </p:txBody>
      </p:sp>
      <p:sp>
        <p:nvSpPr>
          <p:cNvPr id="25" name="Text 23"/>
          <p:cNvSpPr/>
          <p:nvPr/>
        </p:nvSpPr>
        <p:spPr>
          <a:xfrm>
            <a:off x="9704070" y="4369594"/>
            <a:ext cx="184547" cy="398145"/>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100" dirty="0">
                <a:solidFill>
                  <a:srgbClr val="F2654E"/>
                </a:solidFill>
                <a:latin typeface="Segoe UI" pitchFamily="34" charset="0"/>
                <a:ea typeface="Segoe UI" pitchFamily="34" charset="-122"/>
                <a:cs typeface="Segoe UI" pitchFamily="34" charset="-120"/>
              </a:rPr>
              <a:t>•</a:t>
            </a:r>
            <a:endParaRPr lang="en-US" sz="2100" dirty="0"/>
          </a:p>
        </p:txBody>
      </p:sp>
      <p:sp>
        <p:nvSpPr>
          <p:cNvPr id="26" name="Text 24"/>
          <p:cNvSpPr/>
          <p:nvPr/>
        </p:nvSpPr>
        <p:spPr>
          <a:xfrm>
            <a:off x="9983867" y="4369594"/>
            <a:ext cx="6253250" cy="3981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23231F"/>
                </a:solidFill>
                <a:latin typeface="Segoe UI" pitchFamily="34" charset="0"/>
                <a:ea typeface="Segoe UI" pitchFamily="34" charset="-122"/>
                <a:cs typeface="Segoe UI" pitchFamily="34" charset="-120"/>
              </a:rPr>
              <a:t>Alur logis: dari konteks, temuan, hingga rekomendasi.</a:t>
            </a:r>
            <a:endParaRPr lang="en-US" sz="2025" dirty="0"/>
          </a:p>
        </p:txBody>
      </p:sp>
      <p:sp>
        <p:nvSpPr>
          <p:cNvPr id="27" name="Text 25"/>
          <p:cNvSpPr/>
          <p:nvPr/>
        </p:nvSpPr>
        <p:spPr>
          <a:xfrm>
            <a:off x="9704070" y="4920139"/>
            <a:ext cx="184547" cy="398145"/>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100" dirty="0">
                <a:solidFill>
                  <a:srgbClr val="F2654E"/>
                </a:solidFill>
                <a:latin typeface="Segoe UI" pitchFamily="34" charset="0"/>
                <a:ea typeface="Segoe UI" pitchFamily="34" charset="-122"/>
                <a:cs typeface="Segoe UI" pitchFamily="34" charset="-120"/>
              </a:rPr>
              <a:t>•</a:t>
            </a:r>
            <a:endParaRPr lang="en-US" sz="2100" dirty="0"/>
          </a:p>
        </p:txBody>
      </p:sp>
      <p:sp>
        <p:nvSpPr>
          <p:cNvPr id="28" name="Text 26"/>
          <p:cNvSpPr/>
          <p:nvPr/>
        </p:nvSpPr>
        <p:spPr>
          <a:xfrm>
            <a:off x="9983867" y="4920139"/>
            <a:ext cx="6873166" cy="3981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23231F"/>
                </a:solidFill>
                <a:latin typeface="Segoe UI" pitchFamily="34" charset="0"/>
                <a:ea typeface="Segoe UI" pitchFamily="34" charset="-122"/>
                <a:cs typeface="Segoe UI" pitchFamily="34" charset="-120"/>
              </a:rPr>
              <a:t>Story Point terakhir wajib berisi rekomendasi berbasis data.</a:t>
            </a:r>
            <a:endParaRPr lang="en-US" sz="2025" dirty="0"/>
          </a:p>
        </p:txBody>
      </p:sp>
      <p:sp>
        <p:nvSpPr>
          <p:cNvPr id="29" name="Shape 27"/>
          <p:cNvSpPr/>
          <p:nvPr/>
        </p:nvSpPr>
        <p:spPr>
          <a:xfrm>
            <a:off x="9704070" y="5527834"/>
            <a:ext cx="7166610" cy="1454944"/>
          </a:xfrm>
          <a:prstGeom prst="roundRect">
            <a:avLst>
              <a:gd name="adj" fmla="val 6547"/>
            </a:avLst>
          </a:prstGeom>
          <a:solidFill>
            <a:srgbClr val="FFEEE8"/>
          </a:solidFill>
          <a:ln/>
        </p:spPr>
        <p:txBody>
          <a:bodyPr/>
          <a:lstStyle/>
          <a:p>
            <a:endParaRPr lang="en-ID"/>
          </a:p>
        </p:txBody>
      </p:sp>
      <p:sp>
        <p:nvSpPr>
          <p:cNvPr id="30" name="Text 28"/>
          <p:cNvSpPr/>
          <p:nvPr/>
        </p:nvSpPr>
        <p:spPr>
          <a:xfrm>
            <a:off x="9951720" y="5737384"/>
            <a:ext cx="6886309" cy="1073944"/>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875" dirty="0">
                <a:solidFill>
                  <a:srgbClr val="B0402C"/>
                </a:solidFill>
                <a:latin typeface="Segoe UI" pitchFamily="34" charset="0"/>
                <a:ea typeface="Segoe UI" pitchFamily="34" charset="-122"/>
                <a:cs typeface="Segoe UI" pitchFamily="34" charset="-120"/>
              </a:rPr>
              <a:t>Lima titik narasi: Konteks dan Business Question, Temuan Dashboard 1, Temuan Dashboard 2, Sintesis, Rekomendasi Strategis.</a:t>
            </a:r>
            <a:endParaRPr lang="en-US" sz="18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800100"/>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2654E"/>
                </a:solidFill>
                <a:latin typeface="Segoe UI" pitchFamily="34" charset="0"/>
                <a:ea typeface="Segoe UI" pitchFamily="34" charset="-122"/>
                <a:cs typeface="Segoe UI" pitchFamily="34" charset="-120"/>
              </a:rPr>
              <a:t>10 / ALUR KERJA TEKNIS</a:t>
            </a:r>
            <a:endParaRPr lang="en-US" sz="1800" dirty="0"/>
          </a:p>
        </p:txBody>
      </p:sp>
      <p:sp>
        <p:nvSpPr>
          <p:cNvPr id="3" name="Text 1"/>
          <p:cNvSpPr/>
          <p:nvPr/>
        </p:nvSpPr>
        <p:spPr>
          <a:xfrm>
            <a:off x="1047750" y="1238250"/>
            <a:ext cx="16678275" cy="603409"/>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200" b="1" kern="0" spc="-37" dirty="0">
                <a:solidFill>
                  <a:srgbClr val="23231F"/>
                </a:solidFill>
                <a:latin typeface="Segoe UI" pitchFamily="34" charset="0"/>
                <a:ea typeface="Segoe UI" pitchFamily="34" charset="-122"/>
                <a:cs typeface="Segoe UI" pitchFamily="34" charset="-120"/>
              </a:rPr>
              <a:t>Lima langkah dari data ke publikasi</a:t>
            </a:r>
            <a:endParaRPr lang="en-US" sz="4200" dirty="0"/>
          </a:p>
        </p:txBody>
      </p:sp>
      <p:sp>
        <p:nvSpPr>
          <p:cNvPr id="4" name="Shape 2"/>
          <p:cNvSpPr/>
          <p:nvPr/>
        </p:nvSpPr>
        <p:spPr>
          <a:xfrm>
            <a:off x="1047750" y="2013109"/>
            <a:ext cx="685800" cy="47625"/>
          </a:xfrm>
          <a:prstGeom prst="roundRect">
            <a:avLst>
              <a:gd name="adj" fmla="val 50000"/>
            </a:avLst>
          </a:prstGeom>
          <a:solidFill>
            <a:srgbClr val="F2654E"/>
          </a:solidFill>
          <a:ln/>
        </p:spPr>
        <p:txBody>
          <a:bodyPr/>
          <a:lstStyle/>
          <a:p>
            <a:endParaRPr lang="en-ID"/>
          </a:p>
        </p:txBody>
      </p:sp>
      <p:sp>
        <p:nvSpPr>
          <p:cNvPr id="5" name="Shape 3"/>
          <p:cNvSpPr/>
          <p:nvPr/>
        </p:nvSpPr>
        <p:spPr>
          <a:xfrm>
            <a:off x="1047750" y="6217920"/>
            <a:ext cx="3086100" cy="2701290"/>
          </a:xfrm>
          <a:prstGeom prst="roundRect">
            <a:avLst>
              <a:gd name="adj" fmla="val 4937"/>
            </a:avLst>
          </a:prstGeom>
          <a:solidFill>
            <a:srgbClr val="FFFFFF"/>
          </a:solidFill>
          <a:ln w="7620">
            <a:solidFill>
              <a:srgbClr val="E8E6E0"/>
            </a:solidFill>
            <a:prstDash val="solid"/>
          </a:ln>
        </p:spPr>
        <p:txBody>
          <a:bodyPr/>
          <a:lstStyle/>
          <a:p>
            <a:endParaRPr lang="en-ID"/>
          </a:p>
        </p:txBody>
      </p:sp>
      <p:sp>
        <p:nvSpPr>
          <p:cNvPr id="6" name="Shape 4"/>
          <p:cNvSpPr/>
          <p:nvPr/>
        </p:nvSpPr>
        <p:spPr>
          <a:xfrm>
            <a:off x="1303020" y="6511290"/>
            <a:ext cx="514350" cy="514350"/>
          </a:xfrm>
          <a:prstGeom prst="ellipse">
            <a:avLst/>
          </a:prstGeom>
          <a:solidFill>
            <a:srgbClr val="F2654E"/>
          </a:solidFill>
          <a:ln/>
        </p:spPr>
        <p:txBody>
          <a:bodyPr/>
          <a:lstStyle/>
          <a:p>
            <a:endParaRPr lang="en-ID"/>
          </a:p>
        </p:txBody>
      </p:sp>
      <p:sp>
        <p:nvSpPr>
          <p:cNvPr id="7" name="Text 5"/>
          <p:cNvSpPr/>
          <p:nvPr/>
        </p:nvSpPr>
        <p:spPr>
          <a:xfrm>
            <a:off x="1264920" y="6511290"/>
            <a:ext cx="590550" cy="552450"/>
          </a:xfrm>
          <a:prstGeom prst="rect">
            <a:avLst/>
          </a:prstGeom>
          <a:noFill/>
          <a:ln/>
        </p:spPr>
        <p:txBody>
          <a:bodyPr wrap="square" lIns="25400" tIns="25400" rIns="25400" bIns="25400" rtlCol="0" anchor="ctr">
            <a:normAutofit/>
          </a:bodyPr>
          <a:lstStyle/>
          <a:p>
            <a:pPr marL="0" indent="0" algn="ctr">
              <a:buNone/>
            </a:pPr>
            <a:r>
              <a:rPr lang="en-US" sz="2100" b="1" dirty="0">
                <a:solidFill>
                  <a:srgbClr val="FFFFFF"/>
                </a:solidFill>
                <a:latin typeface="Segoe UI" pitchFamily="34" charset="0"/>
                <a:ea typeface="Segoe UI" pitchFamily="34" charset="-122"/>
                <a:cs typeface="Segoe UI" pitchFamily="34" charset="-120"/>
              </a:rPr>
              <a:t>1</a:t>
            </a:r>
            <a:endParaRPr lang="en-US" sz="2100" dirty="0"/>
          </a:p>
        </p:txBody>
      </p:sp>
      <p:sp>
        <p:nvSpPr>
          <p:cNvPr id="8" name="Text 6"/>
          <p:cNvSpPr/>
          <p:nvPr/>
        </p:nvSpPr>
        <p:spPr>
          <a:xfrm>
            <a:off x="1303020" y="7178040"/>
            <a:ext cx="2652827"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23231F"/>
                </a:solidFill>
                <a:latin typeface="Segoe UI" pitchFamily="34" charset="0"/>
                <a:ea typeface="Segoe UI" pitchFamily="34" charset="-122"/>
                <a:cs typeface="Segoe UI" pitchFamily="34" charset="-120"/>
              </a:rPr>
              <a:t>Unduh dataset</a:t>
            </a:r>
            <a:endParaRPr lang="en-US" sz="2025" dirty="0"/>
          </a:p>
        </p:txBody>
      </p:sp>
      <p:sp>
        <p:nvSpPr>
          <p:cNvPr id="9" name="Text 7"/>
          <p:cNvSpPr/>
          <p:nvPr/>
        </p:nvSpPr>
        <p:spPr>
          <a:xfrm>
            <a:off x="1303020" y="7665720"/>
            <a:ext cx="2652827" cy="99822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E66"/>
                </a:solidFill>
                <a:latin typeface="Segoe UI" pitchFamily="34" charset="0"/>
                <a:ea typeface="Segoe UI" pitchFamily="34" charset="-122"/>
                <a:cs typeface="Segoe UI" pitchFamily="34" charset="-120"/>
              </a:rPr>
              <a:t>Ambil Global Superstore dari Kaggle dalam format CSV.</a:t>
            </a:r>
            <a:endParaRPr lang="en-US" sz="1800" dirty="0"/>
          </a:p>
        </p:txBody>
      </p:sp>
      <p:sp>
        <p:nvSpPr>
          <p:cNvPr id="10" name="Shape 8"/>
          <p:cNvSpPr/>
          <p:nvPr/>
        </p:nvSpPr>
        <p:spPr>
          <a:xfrm>
            <a:off x="4324350" y="6217920"/>
            <a:ext cx="3086100" cy="2701290"/>
          </a:xfrm>
          <a:prstGeom prst="roundRect">
            <a:avLst>
              <a:gd name="adj" fmla="val 4937"/>
            </a:avLst>
          </a:prstGeom>
          <a:solidFill>
            <a:srgbClr val="FFFFFF"/>
          </a:solidFill>
          <a:ln w="7620">
            <a:solidFill>
              <a:srgbClr val="E8E6E0"/>
            </a:solidFill>
            <a:prstDash val="solid"/>
          </a:ln>
        </p:spPr>
        <p:txBody>
          <a:bodyPr/>
          <a:lstStyle/>
          <a:p>
            <a:endParaRPr lang="en-ID"/>
          </a:p>
        </p:txBody>
      </p:sp>
      <p:sp>
        <p:nvSpPr>
          <p:cNvPr id="11" name="Shape 9"/>
          <p:cNvSpPr/>
          <p:nvPr/>
        </p:nvSpPr>
        <p:spPr>
          <a:xfrm>
            <a:off x="4579620" y="6511290"/>
            <a:ext cx="514350" cy="514350"/>
          </a:xfrm>
          <a:prstGeom prst="ellipse">
            <a:avLst/>
          </a:prstGeom>
          <a:solidFill>
            <a:srgbClr val="F2654E"/>
          </a:solidFill>
          <a:ln/>
        </p:spPr>
        <p:txBody>
          <a:bodyPr/>
          <a:lstStyle/>
          <a:p>
            <a:endParaRPr lang="en-ID"/>
          </a:p>
        </p:txBody>
      </p:sp>
      <p:sp>
        <p:nvSpPr>
          <p:cNvPr id="12" name="Text 10"/>
          <p:cNvSpPr/>
          <p:nvPr/>
        </p:nvSpPr>
        <p:spPr>
          <a:xfrm>
            <a:off x="4541520" y="6511290"/>
            <a:ext cx="590550" cy="552450"/>
          </a:xfrm>
          <a:prstGeom prst="rect">
            <a:avLst/>
          </a:prstGeom>
          <a:noFill/>
          <a:ln/>
        </p:spPr>
        <p:txBody>
          <a:bodyPr wrap="square" lIns="25400" tIns="25400" rIns="25400" bIns="25400" rtlCol="0" anchor="ctr">
            <a:normAutofit/>
          </a:bodyPr>
          <a:lstStyle/>
          <a:p>
            <a:pPr marL="0" indent="0" algn="ctr">
              <a:buNone/>
            </a:pPr>
            <a:r>
              <a:rPr lang="en-US" sz="2100" b="1" dirty="0">
                <a:solidFill>
                  <a:srgbClr val="FFFFFF"/>
                </a:solidFill>
                <a:latin typeface="Segoe UI" pitchFamily="34" charset="0"/>
                <a:ea typeface="Segoe UI" pitchFamily="34" charset="-122"/>
                <a:cs typeface="Segoe UI" pitchFamily="34" charset="-120"/>
              </a:rPr>
              <a:t>2</a:t>
            </a:r>
            <a:endParaRPr lang="en-US" sz="2100" dirty="0"/>
          </a:p>
        </p:txBody>
      </p:sp>
      <p:sp>
        <p:nvSpPr>
          <p:cNvPr id="13" name="Text 11"/>
          <p:cNvSpPr/>
          <p:nvPr/>
        </p:nvSpPr>
        <p:spPr>
          <a:xfrm>
            <a:off x="4579620" y="7178040"/>
            <a:ext cx="2652827"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23231F"/>
                </a:solidFill>
                <a:latin typeface="Segoe UI" pitchFamily="34" charset="0"/>
                <a:ea typeface="Segoe UI" pitchFamily="34" charset="-122"/>
                <a:cs typeface="Segoe UI" pitchFamily="34" charset="-120"/>
              </a:rPr>
              <a:t>Koneksikan</a:t>
            </a:r>
            <a:endParaRPr lang="en-US" sz="2025" dirty="0"/>
          </a:p>
        </p:txBody>
      </p:sp>
      <p:sp>
        <p:nvSpPr>
          <p:cNvPr id="14" name="Text 12"/>
          <p:cNvSpPr/>
          <p:nvPr/>
        </p:nvSpPr>
        <p:spPr>
          <a:xfrm>
            <a:off x="4579620" y="7665720"/>
            <a:ext cx="2652827" cy="99822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E66"/>
                </a:solidFill>
                <a:latin typeface="Segoe UI" pitchFamily="34" charset="0"/>
                <a:ea typeface="Segoe UI" pitchFamily="34" charset="-122"/>
                <a:cs typeface="Segoe UI" pitchFamily="34" charset="-120"/>
              </a:rPr>
              <a:t>Connect ke Tableau via Text File. Pastikan tipe data benar.</a:t>
            </a:r>
            <a:endParaRPr lang="en-US" sz="1800" dirty="0"/>
          </a:p>
        </p:txBody>
      </p:sp>
      <p:sp>
        <p:nvSpPr>
          <p:cNvPr id="15" name="Shape 13"/>
          <p:cNvSpPr/>
          <p:nvPr/>
        </p:nvSpPr>
        <p:spPr>
          <a:xfrm>
            <a:off x="7600950" y="6217920"/>
            <a:ext cx="3086100" cy="2701290"/>
          </a:xfrm>
          <a:prstGeom prst="roundRect">
            <a:avLst>
              <a:gd name="adj" fmla="val 4937"/>
            </a:avLst>
          </a:prstGeom>
          <a:solidFill>
            <a:srgbClr val="FFFFFF"/>
          </a:solidFill>
          <a:ln w="7620">
            <a:solidFill>
              <a:srgbClr val="E8E6E0"/>
            </a:solidFill>
            <a:prstDash val="solid"/>
          </a:ln>
        </p:spPr>
        <p:txBody>
          <a:bodyPr/>
          <a:lstStyle/>
          <a:p>
            <a:endParaRPr lang="en-ID"/>
          </a:p>
        </p:txBody>
      </p:sp>
      <p:sp>
        <p:nvSpPr>
          <p:cNvPr id="16" name="Shape 14"/>
          <p:cNvSpPr/>
          <p:nvPr/>
        </p:nvSpPr>
        <p:spPr>
          <a:xfrm>
            <a:off x="7856220" y="6511290"/>
            <a:ext cx="514350" cy="514350"/>
          </a:xfrm>
          <a:prstGeom prst="ellipse">
            <a:avLst/>
          </a:prstGeom>
          <a:solidFill>
            <a:srgbClr val="F2654E"/>
          </a:solidFill>
          <a:ln/>
        </p:spPr>
        <p:txBody>
          <a:bodyPr/>
          <a:lstStyle/>
          <a:p>
            <a:endParaRPr lang="en-ID"/>
          </a:p>
        </p:txBody>
      </p:sp>
      <p:sp>
        <p:nvSpPr>
          <p:cNvPr id="17" name="Text 15"/>
          <p:cNvSpPr/>
          <p:nvPr/>
        </p:nvSpPr>
        <p:spPr>
          <a:xfrm>
            <a:off x="7818120" y="6511290"/>
            <a:ext cx="590550" cy="552450"/>
          </a:xfrm>
          <a:prstGeom prst="rect">
            <a:avLst/>
          </a:prstGeom>
          <a:noFill/>
          <a:ln/>
        </p:spPr>
        <p:txBody>
          <a:bodyPr wrap="square" lIns="25400" tIns="25400" rIns="25400" bIns="25400" rtlCol="0" anchor="ctr">
            <a:normAutofit/>
          </a:bodyPr>
          <a:lstStyle/>
          <a:p>
            <a:pPr marL="0" indent="0" algn="ctr">
              <a:buNone/>
            </a:pPr>
            <a:r>
              <a:rPr lang="en-US" sz="2100" b="1" dirty="0">
                <a:solidFill>
                  <a:srgbClr val="FFFFFF"/>
                </a:solidFill>
                <a:latin typeface="Segoe UI" pitchFamily="34" charset="0"/>
                <a:ea typeface="Segoe UI" pitchFamily="34" charset="-122"/>
                <a:cs typeface="Segoe UI" pitchFamily="34" charset="-120"/>
              </a:rPr>
              <a:t>3</a:t>
            </a:r>
            <a:endParaRPr lang="en-US" sz="2100" dirty="0"/>
          </a:p>
        </p:txBody>
      </p:sp>
      <p:sp>
        <p:nvSpPr>
          <p:cNvPr id="18" name="Text 16"/>
          <p:cNvSpPr/>
          <p:nvPr/>
        </p:nvSpPr>
        <p:spPr>
          <a:xfrm>
            <a:off x="7856220" y="7178040"/>
            <a:ext cx="2652827"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23231F"/>
                </a:solidFill>
                <a:latin typeface="Segoe UI" pitchFamily="34" charset="0"/>
                <a:ea typeface="Segoe UI" pitchFamily="34" charset="-122"/>
                <a:cs typeface="Segoe UI" pitchFamily="34" charset="-120"/>
              </a:rPr>
              <a:t>Bangun visualisasi</a:t>
            </a:r>
            <a:endParaRPr lang="en-US" sz="2025" dirty="0"/>
          </a:p>
        </p:txBody>
      </p:sp>
      <p:sp>
        <p:nvSpPr>
          <p:cNvPr id="19" name="Text 17"/>
          <p:cNvSpPr/>
          <p:nvPr/>
        </p:nvSpPr>
        <p:spPr>
          <a:xfrm>
            <a:off x="7856220" y="7665720"/>
            <a:ext cx="2652827" cy="99822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E66"/>
                </a:solidFill>
                <a:latin typeface="Segoe UI" pitchFamily="34" charset="0"/>
                <a:ea typeface="Segoe UI" pitchFamily="34" charset="-122"/>
                <a:cs typeface="Segoe UI" pitchFamily="34" charset="-120"/>
              </a:rPr>
              <a:t>Buat chart sesuai use case. Jangan ubah nama kolom asli.</a:t>
            </a:r>
            <a:endParaRPr lang="en-US" sz="1800" dirty="0"/>
          </a:p>
        </p:txBody>
      </p:sp>
      <p:sp>
        <p:nvSpPr>
          <p:cNvPr id="20" name="Shape 18"/>
          <p:cNvSpPr/>
          <p:nvPr/>
        </p:nvSpPr>
        <p:spPr>
          <a:xfrm>
            <a:off x="10877550" y="6217920"/>
            <a:ext cx="3086100" cy="2701290"/>
          </a:xfrm>
          <a:prstGeom prst="roundRect">
            <a:avLst>
              <a:gd name="adj" fmla="val 4937"/>
            </a:avLst>
          </a:prstGeom>
          <a:solidFill>
            <a:srgbClr val="FFFFFF"/>
          </a:solidFill>
          <a:ln w="7620">
            <a:solidFill>
              <a:srgbClr val="E8E6E0"/>
            </a:solidFill>
            <a:prstDash val="solid"/>
          </a:ln>
        </p:spPr>
        <p:txBody>
          <a:bodyPr/>
          <a:lstStyle/>
          <a:p>
            <a:endParaRPr lang="en-ID"/>
          </a:p>
        </p:txBody>
      </p:sp>
      <p:sp>
        <p:nvSpPr>
          <p:cNvPr id="21" name="Shape 19"/>
          <p:cNvSpPr/>
          <p:nvPr/>
        </p:nvSpPr>
        <p:spPr>
          <a:xfrm>
            <a:off x="11132820" y="6511290"/>
            <a:ext cx="514350" cy="514350"/>
          </a:xfrm>
          <a:prstGeom prst="ellipse">
            <a:avLst/>
          </a:prstGeom>
          <a:solidFill>
            <a:srgbClr val="F2654E"/>
          </a:solidFill>
          <a:ln/>
        </p:spPr>
        <p:txBody>
          <a:bodyPr/>
          <a:lstStyle/>
          <a:p>
            <a:endParaRPr lang="en-ID"/>
          </a:p>
        </p:txBody>
      </p:sp>
      <p:sp>
        <p:nvSpPr>
          <p:cNvPr id="22" name="Text 20"/>
          <p:cNvSpPr/>
          <p:nvPr/>
        </p:nvSpPr>
        <p:spPr>
          <a:xfrm>
            <a:off x="11094720" y="6511290"/>
            <a:ext cx="590550" cy="552450"/>
          </a:xfrm>
          <a:prstGeom prst="rect">
            <a:avLst/>
          </a:prstGeom>
          <a:noFill/>
          <a:ln/>
        </p:spPr>
        <p:txBody>
          <a:bodyPr wrap="square" lIns="25400" tIns="25400" rIns="25400" bIns="25400" rtlCol="0" anchor="ctr">
            <a:normAutofit/>
          </a:bodyPr>
          <a:lstStyle/>
          <a:p>
            <a:pPr marL="0" indent="0" algn="ctr">
              <a:buNone/>
            </a:pPr>
            <a:r>
              <a:rPr lang="en-US" sz="2100" b="1" dirty="0">
                <a:solidFill>
                  <a:srgbClr val="FFFFFF"/>
                </a:solidFill>
                <a:latin typeface="Segoe UI" pitchFamily="34" charset="0"/>
                <a:ea typeface="Segoe UI" pitchFamily="34" charset="-122"/>
                <a:cs typeface="Segoe UI" pitchFamily="34" charset="-120"/>
              </a:rPr>
              <a:t>4</a:t>
            </a:r>
            <a:endParaRPr lang="en-US" sz="2100" dirty="0"/>
          </a:p>
        </p:txBody>
      </p:sp>
      <p:sp>
        <p:nvSpPr>
          <p:cNvPr id="23" name="Text 21"/>
          <p:cNvSpPr/>
          <p:nvPr/>
        </p:nvSpPr>
        <p:spPr>
          <a:xfrm>
            <a:off x="11132820" y="7178040"/>
            <a:ext cx="2652827"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23231F"/>
                </a:solidFill>
                <a:latin typeface="Segoe UI" pitchFamily="34" charset="0"/>
                <a:ea typeface="Segoe UI" pitchFamily="34" charset="-122"/>
                <a:cs typeface="Segoe UI" pitchFamily="34" charset="-120"/>
              </a:rPr>
              <a:t>Susun naratif</a:t>
            </a:r>
            <a:endParaRPr lang="en-US" sz="2025" dirty="0"/>
          </a:p>
        </p:txBody>
      </p:sp>
      <p:sp>
        <p:nvSpPr>
          <p:cNvPr id="24" name="Text 22"/>
          <p:cNvSpPr/>
          <p:nvPr/>
        </p:nvSpPr>
        <p:spPr>
          <a:xfrm>
            <a:off x="11132820" y="7665720"/>
            <a:ext cx="2652827" cy="99822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E66"/>
                </a:solidFill>
                <a:latin typeface="Segoe UI" pitchFamily="34" charset="0"/>
                <a:ea typeface="Segoe UI" pitchFamily="34" charset="-122"/>
                <a:cs typeface="Segoe UI" pitchFamily="34" charset="-120"/>
              </a:rPr>
              <a:t>Rangkai 2 dashboard dan 1 story yang saling melengkapi.</a:t>
            </a:r>
            <a:endParaRPr lang="en-US" sz="1800" dirty="0"/>
          </a:p>
        </p:txBody>
      </p:sp>
      <p:sp>
        <p:nvSpPr>
          <p:cNvPr id="25" name="Shape 23"/>
          <p:cNvSpPr/>
          <p:nvPr/>
        </p:nvSpPr>
        <p:spPr>
          <a:xfrm>
            <a:off x="14154150" y="6217920"/>
            <a:ext cx="3086100" cy="2701290"/>
          </a:xfrm>
          <a:prstGeom prst="roundRect">
            <a:avLst>
              <a:gd name="adj" fmla="val 4937"/>
            </a:avLst>
          </a:prstGeom>
          <a:solidFill>
            <a:srgbClr val="FFFFFF"/>
          </a:solidFill>
          <a:ln w="7620">
            <a:solidFill>
              <a:srgbClr val="E8E6E0"/>
            </a:solidFill>
            <a:prstDash val="solid"/>
          </a:ln>
        </p:spPr>
        <p:txBody>
          <a:bodyPr/>
          <a:lstStyle/>
          <a:p>
            <a:endParaRPr lang="en-ID"/>
          </a:p>
        </p:txBody>
      </p:sp>
      <p:sp>
        <p:nvSpPr>
          <p:cNvPr id="26" name="Shape 24"/>
          <p:cNvSpPr/>
          <p:nvPr/>
        </p:nvSpPr>
        <p:spPr>
          <a:xfrm>
            <a:off x="14409420" y="6511290"/>
            <a:ext cx="514350" cy="514350"/>
          </a:xfrm>
          <a:prstGeom prst="ellipse">
            <a:avLst/>
          </a:prstGeom>
          <a:solidFill>
            <a:srgbClr val="F2654E"/>
          </a:solidFill>
          <a:ln/>
        </p:spPr>
        <p:txBody>
          <a:bodyPr/>
          <a:lstStyle/>
          <a:p>
            <a:endParaRPr lang="en-ID"/>
          </a:p>
        </p:txBody>
      </p:sp>
      <p:sp>
        <p:nvSpPr>
          <p:cNvPr id="27" name="Text 25"/>
          <p:cNvSpPr/>
          <p:nvPr/>
        </p:nvSpPr>
        <p:spPr>
          <a:xfrm>
            <a:off x="14371320" y="6511290"/>
            <a:ext cx="590550" cy="552450"/>
          </a:xfrm>
          <a:prstGeom prst="rect">
            <a:avLst/>
          </a:prstGeom>
          <a:noFill/>
          <a:ln/>
        </p:spPr>
        <p:txBody>
          <a:bodyPr wrap="square" lIns="25400" tIns="25400" rIns="25400" bIns="25400" rtlCol="0" anchor="ctr">
            <a:normAutofit/>
          </a:bodyPr>
          <a:lstStyle/>
          <a:p>
            <a:pPr marL="0" indent="0" algn="ctr">
              <a:buNone/>
            </a:pPr>
            <a:r>
              <a:rPr lang="en-US" sz="2100" b="1" dirty="0">
                <a:solidFill>
                  <a:srgbClr val="FFFFFF"/>
                </a:solidFill>
                <a:latin typeface="Segoe UI" pitchFamily="34" charset="0"/>
                <a:ea typeface="Segoe UI" pitchFamily="34" charset="-122"/>
                <a:cs typeface="Segoe UI" pitchFamily="34" charset="-120"/>
              </a:rPr>
              <a:t>5</a:t>
            </a:r>
            <a:endParaRPr lang="en-US" sz="2100" dirty="0"/>
          </a:p>
        </p:txBody>
      </p:sp>
      <p:sp>
        <p:nvSpPr>
          <p:cNvPr id="28" name="Text 26"/>
          <p:cNvSpPr/>
          <p:nvPr/>
        </p:nvSpPr>
        <p:spPr>
          <a:xfrm>
            <a:off x="14409420" y="7178040"/>
            <a:ext cx="2652827"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23231F"/>
                </a:solidFill>
                <a:latin typeface="Segoe UI" pitchFamily="34" charset="0"/>
                <a:ea typeface="Segoe UI" pitchFamily="34" charset="-122"/>
                <a:cs typeface="Segoe UI" pitchFamily="34" charset="-120"/>
              </a:rPr>
              <a:t>Publikasikan</a:t>
            </a:r>
            <a:endParaRPr lang="en-US" sz="2025" dirty="0"/>
          </a:p>
        </p:txBody>
      </p:sp>
      <p:sp>
        <p:nvSpPr>
          <p:cNvPr id="29" name="Text 27"/>
          <p:cNvSpPr/>
          <p:nvPr/>
        </p:nvSpPr>
        <p:spPr>
          <a:xfrm>
            <a:off x="14409420" y="7665720"/>
            <a:ext cx="2652827" cy="99822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E66"/>
                </a:solidFill>
                <a:latin typeface="Segoe UI" pitchFamily="34" charset="0"/>
                <a:ea typeface="Segoe UI" pitchFamily="34" charset="-122"/>
                <a:cs typeface="Segoe UI" pitchFamily="34" charset="-120"/>
              </a:rPr>
              <a:t>Unggah ke Tableau Public, visibilitas Public, uji link tanpa login.</a:t>
            </a:r>
            <a:endParaRPr lang="en-US" sz="1800" dirty="0"/>
          </a:p>
        </p:txBody>
      </p:sp>
      <p:sp>
        <p:nvSpPr>
          <p:cNvPr id="30" name="Text 28"/>
          <p:cNvSpPr/>
          <p:nvPr/>
        </p:nvSpPr>
        <p:spPr>
          <a:xfrm>
            <a:off x="1047750" y="9243060"/>
            <a:ext cx="16678275" cy="358140"/>
          </a:xfrm>
          <a:prstGeom prst="rect">
            <a:avLst/>
          </a:prstGeom>
          <a:noFill/>
          <a:ln/>
        </p:spPr>
        <p:txBody>
          <a:bodyPr wrap="square" lIns="25400" tIns="25400" rIns="25400" bIns="25400" rtlCol="0" anchor="t">
            <a:normAutofit/>
          </a:bodyPr>
          <a:lstStyle/>
          <a:p>
            <a:pPr marL="0" indent="0" algn="l">
              <a:buNone/>
            </a:pPr>
            <a:r>
              <a:rPr lang="en-US" sz="1875" dirty="0">
                <a:solidFill>
                  <a:srgbClr val="6E6E66"/>
                </a:solidFill>
                <a:latin typeface="Segoe UI" pitchFamily="34" charset="0"/>
                <a:ea typeface="Segoe UI" pitchFamily="34" charset="-122"/>
                <a:cs typeface="Segoe UI" pitchFamily="34" charset="-120"/>
              </a:rPr>
              <a:t>Format nama publikasi: </a:t>
            </a:r>
            <a:r>
              <a:rPr lang="en-US" sz="1875" b="1" dirty="0">
                <a:solidFill>
                  <a:srgbClr val="23231F"/>
                </a:solidFill>
                <a:latin typeface="Segoe UI" pitchFamily="34" charset="0"/>
                <a:ea typeface="Segoe UI" pitchFamily="34" charset="-122"/>
                <a:cs typeface="Segoe UI" pitchFamily="34" charset="-120"/>
              </a:rPr>
              <a:t>KLP[NN]_KelasA_[NamaDashboard/Story]</a:t>
            </a:r>
            <a:r>
              <a:rPr lang="en-US" sz="1875" dirty="0">
                <a:solidFill>
                  <a:srgbClr val="6E6E66"/>
                </a:solidFill>
                <a:latin typeface="Segoe UI" pitchFamily="34" charset="0"/>
                <a:ea typeface="Segoe UI" pitchFamily="34" charset="-122"/>
                <a:cs typeface="Segoe UI" pitchFamily="34" charset="-120"/>
              </a:rPr>
              <a:t>. Contoh: KLP01_KelasA_Dashboard1.</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800100"/>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2654E"/>
                </a:solidFill>
                <a:latin typeface="Segoe UI" pitchFamily="34" charset="0"/>
                <a:ea typeface="Segoe UI" pitchFamily="34" charset="-122"/>
                <a:cs typeface="Segoe UI" pitchFamily="34" charset="-120"/>
              </a:rPr>
              <a:t>11 / LAPORAN KELOMPOK</a:t>
            </a:r>
            <a:endParaRPr lang="en-US" sz="1800" dirty="0"/>
          </a:p>
        </p:txBody>
      </p:sp>
      <p:sp>
        <p:nvSpPr>
          <p:cNvPr id="3" name="Text 1"/>
          <p:cNvSpPr/>
          <p:nvPr/>
        </p:nvSpPr>
        <p:spPr>
          <a:xfrm>
            <a:off x="1047750" y="1238250"/>
            <a:ext cx="16678275" cy="603409"/>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200" b="1" kern="0" spc="-37" dirty="0">
                <a:solidFill>
                  <a:srgbClr val="23231F"/>
                </a:solidFill>
                <a:latin typeface="Segoe UI" pitchFamily="34" charset="0"/>
                <a:ea typeface="Segoe UI" pitchFamily="34" charset="-122"/>
                <a:cs typeface="Segoe UI" pitchFamily="34" charset="-120"/>
              </a:rPr>
              <a:t>Struktur laporan dari cover ke lampiran</a:t>
            </a:r>
            <a:endParaRPr lang="en-US" sz="4200" dirty="0"/>
          </a:p>
        </p:txBody>
      </p:sp>
      <p:sp>
        <p:nvSpPr>
          <p:cNvPr id="4" name="Shape 2"/>
          <p:cNvSpPr/>
          <p:nvPr/>
        </p:nvSpPr>
        <p:spPr>
          <a:xfrm>
            <a:off x="1047750" y="2013109"/>
            <a:ext cx="685800" cy="47625"/>
          </a:xfrm>
          <a:prstGeom prst="roundRect">
            <a:avLst>
              <a:gd name="adj" fmla="val 50000"/>
            </a:avLst>
          </a:prstGeom>
          <a:solidFill>
            <a:srgbClr val="F2654E"/>
          </a:solidFill>
          <a:ln/>
        </p:spPr>
        <p:txBody>
          <a:bodyPr/>
          <a:lstStyle/>
          <a:p>
            <a:endParaRPr lang="en-ID"/>
          </a:p>
        </p:txBody>
      </p:sp>
      <p:sp>
        <p:nvSpPr>
          <p:cNvPr id="5" name="Shape 3"/>
          <p:cNvSpPr/>
          <p:nvPr/>
        </p:nvSpPr>
        <p:spPr>
          <a:xfrm>
            <a:off x="1047750" y="4857512"/>
            <a:ext cx="7848600" cy="9525"/>
          </a:xfrm>
          <a:prstGeom prst="rect">
            <a:avLst/>
          </a:prstGeom>
          <a:solidFill>
            <a:srgbClr val="E6E4DD"/>
          </a:solidFill>
          <a:ln/>
        </p:spPr>
        <p:txBody>
          <a:bodyPr/>
          <a:lstStyle/>
          <a:p>
            <a:endParaRPr lang="en-ID"/>
          </a:p>
        </p:txBody>
      </p:sp>
      <p:sp>
        <p:nvSpPr>
          <p:cNvPr id="6" name="Text 4"/>
          <p:cNvSpPr/>
          <p:nvPr/>
        </p:nvSpPr>
        <p:spPr>
          <a:xfrm>
            <a:off x="1047750" y="4426982"/>
            <a:ext cx="1219200" cy="327660"/>
          </a:xfrm>
          <a:prstGeom prst="rect">
            <a:avLst/>
          </a:prstGeom>
          <a:noFill/>
          <a:ln/>
        </p:spPr>
        <p:txBody>
          <a:bodyPr wrap="square" lIns="25400" tIns="25400" rIns="25400" bIns="25400" rtlCol="0" anchor="t">
            <a:normAutofit/>
          </a:bodyPr>
          <a:lstStyle/>
          <a:p>
            <a:pPr marL="0" indent="0" algn="l">
              <a:buNone/>
            </a:pPr>
            <a:r>
              <a:rPr lang="en-US" sz="1725" b="1" kern="0" spc="75" dirty="0">
                <a:solidFill>
                  <a:srgbClr val="A8A79F"/>
                </a:solidFill>
                <a:latin typeface="Segoe UI" pitchFamily="34" charset="0"/>
                <a:ea typeface="Segoe UI" pitchFamily="34" charset="-122"/>
                <a:cs typeface="Segoe UI" pitchFamily="34" charset="-120"/>
              </a:rPr>
              <a:t>COVER</a:t>
            </a:r>
            <a:endParaRPr lang="en-US" sz="1725" dirty="0"/>
          </a:p>
        </p:txBody>
      </p:sp>
      <p:sp>
        <p:nvSpPr>
          <p:cNvPr id="7" name="Text 5"/>
          <p:cNvSpPr/>
          <p:nvPr/>
        </p:nvSpPr>
        <p:spPr>
          <a:xfrm>
            <a:off x="2400300" y="4388882"/>
            <a:ext cx="4832776" cy="373380"/>
          </a:xfrm>
          <a:prstGeom prst="rect">
            <a:avLst/>
          </a:prstGeom>
          <a:noFill/>
          <a:ln/>
        </p:spPr>
        <p:txBody>
          <a:bodyPr wrap="square" lIns="25400" tIns="25400" rIns="25400" bIns="25400" rtlCol="0" anchor="t">
            <a:normAutofit/>
          </a:bodyPr>
          <a:lstStyle/>
          <a:p>
            <a:pPr marL="0" indent="0" algn="l">
              <a:buNone/>
            </a:pPr>
            <a:r>
              <a:rPr lang="en-US" sz="2025" dirty="0">
                <a:solidFill>
                  <a:srgbClr val="23231F"/>
                </a:solidFill>
                <a:latin typeface="Segoe UI" pitchFamily="34" charset="0"/>
                <a:ea typeface="Segoe UI" pitchFamily="34" charset="-122"/>
                <a:cs typeface="Segoe UI" pitchFamily="34" charset="-120"/>
              </a:rPr>
              <a:t>Judul, anggota, use case, identitas matkul</a:t>
            </a:r>
            <a:endParaRPr lang="en-US" sz="2025" dirty="0"/>
          </a:p>
        </p:txBody>
      </p:sp>
      <p:sp>
        <p:nvSpPr>
          <p:cNvPr id="8" name="Shape 6"/>
          <p:cNvSpPr/>
          <p:nvPr/>
        </p:nvSpPr>
        <p:spPr>
          <a:xfrm>
            <a:off x="9391650" y="4857512"/>
            <a:ext cx="7848600" cy="9525"/>
          </a:xfrm>
          <a:prstGeom prst="rect">
            <a:avLst/>
          </a:prstGeom>
          <a:solidFill>
            <a:srgbClr val="E6E4DD"/>
          </a:solidFill>
          <a:ln/>
        </p:spPr>
        <p:txBody>
          <a:bodyPr/>
          <a:lstStyle/>
          <a:p>
            <a:endParaRPr lang="en-ID"/>
          </a:p>
        </p:txBody>
      </p:sp>
      <p:sp>
        <p:nvSpPr>
          <p:cNvPr id="9" name="Text 7"/>
          <p:cNvSpPr/>
          <p:nvPr/>
        </p:nvSpPr>
        <p:spPr>
          <a:xfrm>
            <a:off x="9391650" y="4426982"/>
            <a:ext cx="1219200" cy="327660"/>
          </a:xfrm>
          <a:prstGeom prst="rect">
            <a:avLst/>
          </a:prstGeom>
          <a:noFill/>
          <a:ln/>
        </p:spPr>
        <p:txBody>
          <a:bodyPr wrap="square" lIns="25400" tIns="25400" rIns="25400" bIns="25400" rtlCol="0" anchor="t">
            <a:normAutofit/>
          </a:bodyPr>
          <a:lstStyle/>
          <a:p>
            <a:pPr marL="0" indent="0" algn="l">
              <a:buNone/>
            </a:pPr>
            <a:r>
              <a:rPr lang="en-US" sz="1725" b="1" kern="0" spc="75" dirty="0">
                <a:solidFill>
                  <a:srgbClr val="A8A79F"/>
                </a:solidFill>
                <a:latin typeface="Segoe UI" pitchFamily="34" charset="0"/>
                <a:ea typeface="Segoe UI" pitchFamily="34" charset="-122"/>
                <a:cs typeface="Segoe UI" pitchFamily="34" charset="-120"/>
              </a:rPr>
              <a:t>BAB 1</a:t>
            </a:r>
            <a:endParaRPr lang="en-US" sz="1725" dirty="0"/>
          </a:p>
        </p:txBody>
      </p:sp>
      <p:sp>
        <p:nvSpPr>
          <p:cNvPr id="10" name="Text 8"/>
          <p:cNvSpPr/>
          <p:nvPr/>
        </p:nvSpPr>
        <p:spPr>
          <a:xfrm>
            <a:off x="10744200" y="4388882"/>
            <a:ext cx="4185879" cy="373380"/>
          </a:xfrm>
          <a:prstGeom prst="rect">
            <a:avLst/>
          </a:prstGeom>
          <a:noFill/>
          <a:ln/>
        </p:spPr>
        <p:txBody>
          <a:bodyPr wrap="square" lIns="25400" tIns="25400" rIns="25400" bIns="25400" rtlCol="0" anchor="t">
            <a:normAutofit/>
          </a:bodyPr>
          <a:lstStyle/>
          <a:p>
            <a:pPr marL="0" indent="0" algn="l">
              <a:buNone/>
            </a:pPr>
            <a:r>
              <a:rPr lang="en-US" sz="2025" dirty="0">
                <a:solidFill>
                  <a:srgbClr val="23231F"/>
                </a:solidFill>
                <a:latin typeface="Segoe UI" pitchFamily="34" charset="0"/>
                <a:ea typeface="Segoe UI" pitchFamily="34" charset="-122"/>
                <a:cs typeface="Segoe UI" pitchFamily="34" charset="-120"/>
              </a:rPr>
              <a:t>Pendahuluan dan business question</a:t>
            </a:r>
            <a:endParaRPr lang="en-US" sz="2025" dirty="0"/>
          </a:p>
        </p:txBody>
      </p:sp>
      <p:sp>
        <p:nvSpPr>
          <p:cNvPr id="11" name="Shape 9"/>
          <p:cNvSpPr/>
          <p:nvPr/>
        </p:nvSpPr>
        <p:spPr>
          <a:xfrm>
            <a:off x="1047750" y="5505212"/>
            <a:ext cx="7848600" cy="9525"/>
          </a:xfrm>
          <a:prstGeom prst="rect">
            <a:avLst/>
          </a:prstGeom>
          <a:solidFill>
            <a:srgbClr val="E6E4DD"/>
          </a:solidFill>
          <a:ln/>
        </p:spPr>
        <p:txBody>
          <a:bodyPr/>
          <a:lstStyle/>
          <a:p>
            <a:endParaRPr lang="en-ID"/>
          </a:p>
        </p:txBody>
      </p:sp>
      <p:sp>
        <p:nvSpPr>
          <p:cNvPr id="12" name="Text 10"/>
          <p:cNvSpPr/>
          <p:nvPr/>
        </p:nvSpPr>
        <p:spPr>
          <a:xfrm>
            <a:off x="1047750" y="5074682"/>
            <a:ext cx="1219200" cy="327660"/>
          </a:xfrm>
          <a:prstGeom prst="rect">
            <a:avLst/>
          </a:prstGeom>
          <a:noFill/>
          <a:ln/>
        </p:spPr>
        <p:txBody>
          <a:bodyPr wrap="square" lIns="25400" tIns="25400" rIns="25400" bIns="25400" rtlCol="0" anchor="t">
            <a:normAutofit/>
          </a:bodyPr>
          <a:lstStyle/>
          <a:p>
            <a:pPr marL="0" indent="0" algn="l">
              <a:buNone/>
            </a:pPr>
            <a:r>
              <a:rPr lang="en-US" sz="1725" b="1" kern="0" spc="75" dirty="0">
                <a:solidFill>
                  <a:srgbClr val="A8A79F"/>
                </a:solidFill>
                <a:latin typeface="Segoe UI" pitchFamily="34" charset="0"/>
                <a:ea typeface="Segoe UI" pitchFamily="34" charset="-122"/>
                <a:cs typeface="Segoe UI" pitchFamily="34" charset="-120"/>
              </a:rPr>
              <a:t>BAB 2</a:t>
            </a:r>
            <a:endParaRPr lang="en-US" sz="1725" dirty="0"/>
          </a:p>
        </p:txBody>
      </p:sp>
      <p:sp>
        <p:nvSpPr>
          <p:cNvPr id="13" name="Text 11"/>
          <p:cNvSpPr/>
          <p:nvPr/>
        </p:nvSpPr>
        <p:spPr>
          <a:xfrm>
            <a:off x="2400300" y="5036582"/>
            <a:ext cx="5171860" cy="373380"/>
          </a:xfrm>
          <a:prstGeom prst="rect">
            <a:avLst/>
          </a:prstGeom>
          <a:noFill/>
          <a:ln/>
        </p:spPr>
        <p:txBody>
          <a:bodyPr wrap="square" lIns="25400" tIns="25400" rIns="25400" bIns="25400" rtlCol="0" anchor="t">
            <a:normAutofit/>
          </a:bodyPr>
          <a:lstStyle/>
          <a:p>
            <a:pPr marL="0" indent="0" algn="l">
              <a:buNone/>
            </a:pPr>
            <a:r>
              <a:rPr lang="en-US" sz="2025" dirty="0">
                <a:solidFill>
                  <a:srgbClr val="23231F"/>
                </a:solidFill>
                <a:latin typeface="Segoe UI" pitchFamily="34" charset="0"/>
                <a:ea typeface="Segoe UI" pitchFamily="34" charset="-122"/>
                <a:cs typeface="Segoe UI" pitchFamily="34" charset="-120"/>
              </a:rPr>
              <a:t>Tinjauan teori visualisasi, minimal 5 referensi</a:t>
            </a:r>
            <a:endParaRPr lang="en-US" sz="2025" dirty="0"/>
          </a:p>
        </p:txBody>
      </p:sp>
      <p:sp>
        <p:nvSpPr>
          <p:cNvPr id="14" name="Shape 12"/>
          <p:cNvSpPr/>
          <p:nvPr/>
        </p:nvSpPr>
        <p:spPr>
          <a:xfrm>
            <a:off x="9391650" y="5505212"/>
            <a:ext cx="7848600" cy="9525"/>
          </a:xfrm>
          <a:prstGeom prst="rect">
            <a:avLst/>
          </a:prstGeom>
          <a:solidFill>
            <a:srgbClr val="E6E4DD"/>
          </a:solidFill>
          <a:ln/>
        </p:spPr>
        <p:txBody>
          <a:bodyPr/>
          <a:lstStyle/>
          <a:p>
            <a:endParaRPr lang="en-ID"/>
          </a:p>
        </p:txBody>
      </p:sp>
      <p:sp>
        <p:nvSpPr>
          <p:cNvPr id="15" name="Text 13"/>
          <p:cNvSpPr/>
          <p:nvPr/>
        </p:nvSpPr>
        <p:spPr>
          <a:xfrm>
            <a:off x="9391650" y="5074682"/>
            <a:ext cx="1219200" cy="327660"/>
          </a:xfrm>
          <a:prstGeom prst="rect">
            <a:avLst/>
          </a:prstGeom>
          <a:noFill/>
          <a:ln/>
        </p:spPr>
        <p:txBody>
          <a:bodyPr wrap="square" lIns="25400" tIns="25400" rIns="25400" bIns="25400" rtlCol="0" anchor="t">
            <a:normAutofit/>
          </a:bodyPr>
          <a:lstStyle/>
          <a:p>
            <a:pPr marL="0" indent="0" algn="l">
              <a:buNone/>
            </a:pPr>
            <a:r>
              <a:rPr lang="en-US" sz="1725" b="1" kern="0" spc="75" dirty="0">
                <a:solidFill>
                  <a:srgbClr val="A8A79F"/>
                </a:solidFill>
                <a:latin typeface="Segoe UI" pitchFamily="34" charset="0"/>
                <a:ea typeface="Segoe UI" pitchFamily="34" charset="-122"/>
                <a:cs typeface="Segoe UI" pitchFamily="34" charset="-120"/>
              </a:rPr>
              <a:t>BAB 3</a:t>
            </a:r>
            <a:endParaRPr lang="en-US" sz="1725" dirty="0"/>
          </a:p>
        </p:txBody>
      </p:sp>
      <p:sp>
        <p:nvSpPr>
          <p:cNvPr id="16" name="Text 14"/>
          <p:cNvSpPr/>
          <p:nvPr/>
        </p:nvSpPr>
        <p:spPr>
          <a:xfrm>
            <a:off x="10744200" y="5036582"/>
            <a:ext cx="3749301" cy="373380"/>
          </a:xfrm>
          <a:prstGeom prst="rect">
            <a:avLst/>
          </a:prstGeom>
          <a:noFill/>
          <a:ln/>
        </p:spPr>
        <p:txBody>
          <a:bodyPr wrap="square" lIns="25400" tIns="25400" rIns="25400" bIns="25400" rtlCol="0" anchor="t">
            <a:normAutofit/>
          </a:bodyPr>
          <a:lstStyle/>
          <a:p>
            <a:pPr marL="0" indent="0" algn="l">
              <a:buNone/>
            </a:pPr>
            <a:r>
              <a:rPr lang="en-US" sz="2025" dirty="0">
                <a:solidFill>
                  <a:srgbClr val="23231F"/>
                </a:solidFill>
                <a:latin typeface="Segoe UI" pitchFamily="34" charset="0"/>
                <a:ea typeface="Segoe UI" pitchFamily="34" charset="-122"/>
                <a:cs typeface="Segoe UI" pitchFamily="34" charset="-120"/>
              </a:rPr>
              <a:t>Pemahaman dan persiapan data</a:t>
            </a:r>
            <a:endParaRPr lang="en-US" sz="2025" dirty="0"/>
          </a:p>
        </p:txBody>
      </p:sp>
      <p:sp>
        <p:nvSpPr>
          <p:cNvPr id="17" name="Shape 15"/>
          <p:cNvSpPr/>
          <p:nvPr/>
        </p:nvSpPr>
        <p:spPr>
          <a:xfrm>
            <a:off x="1047750" y="6152912"/>
            <a:ext cx="7848600" cy="9525"/>
          </a:xfrm>
          <a:prstGeom prst="rect">
            <a:avLst/>
          </a:prstGeom>
          <a:solidFill>
            <a:srgbClr val="E6E4DD"/>
          </a:solidFill>
          <a:ln/>
        </p:spPr>
        <p:txBody>
          <a:bodyPr/>
          <a:lstStyle/>
          <a:p>
            <a:endParaRPr lang="en-ID"/>
          </a:p>
        </p:txBody>
      </p:sp>
      <p:sp>
        <p:nvSpPr>
          <p:cNvPr id="18" name="Text 16"/>
          <p:cNvSpPr/>
          <p:nvPr/>
        </p:nvSpPr>
        <p:spPr>
          <a:xfrm>
            <a:off x="1047750" y="5722382"/>
            <a:ext cx="1219200" cy="327660"/>
          </a:xfrm>
          <a:prstGeom prst="rect">
            <a:avLst/>
          </a:prstGeom>
          <a:noFill/>
          <a:ln/>
        </p:spPr>
        <p:txBody>
          <a:bodyPr wrap="square" lIns="25400" tIns="25400" rIns="25400" bIns="25400" rtlCol="0" anchor="t">
            <a:normAutofit/>
          </a:bodyPr>
          <a:lstStyle/>
          <a:p>
            <a:pPr marL="0" indent="0" algn="l">
              <a:buNone/>
            </a:pPr>
            <a:r>
              <a:rPr lang="en-US" sz="1725" b="1" kern="0" spc="75" dirty="0">
                <a:solidFill>
                  <a:srgbClr val="A8A79F"/>
                </a:solidFill>
                <a:latin typeface="Segoe UI" pitchFamily="34" charset="0"/>
                <a:ea typeface="Segoe UI" pitchFamily="34" charset="-122"/>
                <a:cs typeface="Segoe UI" pitchFamily="34" charset="-120"/>
              </a:rPr>
              <a:t>BAB 4</a:t>
            </a:r>
            <a:endParaRPr lang="en-US" sz="1725" dirty="0"/>
          </a:p>
        </p:txBody>
      </p:sp>
      <p:sp>
        <p:nvSpPr>
          <p:cNvPr id="19" name="Text 17"/>
          <p:cNvSpPr/>
          <p:nvPr/>
        </p:nvSpPr>
        <p:spPr>
          <a:xfrm>
            <a:off x="2400300" y="5684282"/>
            <a:ext cx="4499946" cy="373380"/>
          </a:xfrm>
          <a:prstGeom prst="rect">
            <a:avLst/>
          </a:prstGeom>
          <a:noFill/>
          <a:ln/>
        </p:spPr>
        <p:txBody>
          <a:bodyPr wrap="square" lIns="25400" tIns="25400" rIns="25400" bIns="25400" rtlCol="0" anchor="t">
            <a:normAutofit/>
          </a:bodyPr>
          <a:lstStyle/>
          <a:p>
            <a:pPr marL="0" indent="0" algn="l">
              <a:buNone/>
            </a:pPr>
            <a:r>
              <a:rPr lang="en-US" sz="2025" dirty="0">
                <a:solidFill>
                  <a:srgbClr val="23231F"/>
                </a:solidFill>
                <a:latin typeface="Segoe UI" pitchFamily="34" charset="0"/>
                <a:ea typeface="Segoe UI" pitchFamily="34" charset="-122"/>
                <a:cs typeface="Segoe UI" pitchFamily="34" charset="-120"/>
              </a:rPr>
              <a:t>Analisis Dashboard 1 dan insight kunci</a:t>
            </a:r>
            <a:endParaRPr lang="en-US" sz="2025" dirty="0"/>
          </a:p>
        </p:txBody>
      </p:sp>
      <p:sp>
        <p:nvSpPr>
          <p:cNvPr id="20" name="Shape 18"/>
          <p:cNvSpPr/>
          <p:nvPr/>
        </p:nvSpPr>
        <p:spPr>
          <a:xfrm>
            <a:off x="9391650" y="6152912"/>
            <a:ext cx="7848600" cy="9525"/>
          </a:xfrm>
          <a:prstGeom prst="rect">
            <a:avLst/>
          </a:prstGeom>
          <a:solidFill>
            <a:srgbClr val="E6E4DD"/>
          </a:solidFill>
          <a:ln/>
        </p:spPr>
        <p:txBody>
          <a:bodyPr/>
          <a:lstStyle/>
          <a:p>
            <a:endParaRPr lang="en-ID"/>
          </a:p>
        </p:txBody>
      </p:sp>
      <p:sp>
        <p:nvSpPr>
          <p:cNvPr id="21" name="Text 19"/>
          <p:cNvSpPr/>
          <p:nvPr/>
        </p:nvSpPr>
        <p:spPr>
          <a:xfrm>
            <a:off x="9391650" y="5722382"/>
            <a:ext cx="1219200" cy="327660"/>
          </a:xfrm>
          <a:prstGeom prst="rect">
            <a:avLst/>
          </a:prstGeom>
          <a:noFill/>
          <a:ln/>
        </p:spPr>
        <p:txBody>
          <a:bodyPr wrap="square" lIns="25400" tIns="25400" rIns="25400" bIns="25400" rtlCol="0" anchor="t">
            <a:normAutofit/>
          </a:bodyPr>
          <a:lstStyle/>
          <a:p>
            <a:pPr marL="0" indent="0" algn="l">
              <a:buNone/>
            </a:pPr>
            <a:r>
              <a:rPr lang="en-US" sz="1725" b="1" kern="0" spc="75" dirty="0">
                <a:solidFill>
                  <a:srgbClr val="A8A79F"/>
                </a:solidFill>
                <a:latin typeface="Segoe UI" pitchFamily="34" charset="0"/>
                <a:ea typeface="Segoe UI" pitchFamily="34" charset="-122"/>
                <a:cs typeface="Segoe UI" pitchFamily="34" charset="-120"/>
              </a:rPr>
              <a:t>BAB 5</a:t>
            </a:r>
            <a:endParaRPr lang="en-US" sz="1725" dirty="0"/>
          </a:p>
        </p:txBody>
      </p:sp>
      <p:sp>
        <p:nvSpPr>
          <p:cNvPr id="22" name="Text 20"/>
          <p:cNvSpPr/>
          <p:nvPr/>
        </p:nvSpPr>
        <p:spPr>
          <a:xfrm>
            <a:off x="10744200" y="5684282"/>
            <a:ext cx="5130899" cy="373380"/>
          </a:xfrm>
          <a:prstGeom prst="rect">
            <a:avLst/>
          </a:prstGeom>
          <a:noFill/>
          <a:ln/>
        </p:spPr>
        <p:txBody>
          <a:bodyPr wrap="square" lIns="25400" tIns="25400" rIns="25400" bIns="25400" rtlCol="0" anchor="t">
            <a:normAutofit/>
          </a:bodyPr>
          <a:lstStyle/>
          <a:p>
            <a:pPr marL="0" indent="0" algn="l">
              <a:buNone/>
            </a:pPr>
            <a:r>
              <a:rPr lang="en-US" sz="2025" dirty="0">
                <a:solidFill>
                  <a:srgbClr val="23231F"/>
                </a:solidFill>
                <a:latin typeface="Segoe UI" pitchFamily="34" charset="0"/>
                <a:ea typeface="Segoe UI" pitchFamily="34" charset="-122"/>
                <a:cs typeface="Segoe UI" pitchFamily="34" charset="-120"/>
              </a:rPr>
              <a:t>Analisis Dashboard 2 dan komplementaritas</a:t>
            </a:r>
            <a:endParaRPr lang="en-US" sz="2025" dirty="0"/>
          </a:p>
        </p:txBody>
      </p:sp>
      <p:sp>
        <p:nvSpPr>
          <p:cNvPr id="23" name="Shape 21"/>
          <p:cNvSpPr/>
          <p:nvPr/>
        </p:nvSpPr>
        <p:spPr>
          <a:xfrm>
            <a:off x="1047750" y="6922532"/>
            <a:ext cx="7848600" cy="9525"/>
          </a:xfrm>
          <a:prstGeom prst="rect">
            <a:avLst/>
          </a:prstGeom>
          <a:solidFill>
            <a:srgbClr val="E6E4DD"/>
          </a:solidFill>
          <a:ln/>
        </p:spPr>
        <p:txBody>
          <a:bodyPr/>
          <a:lstStyle/>
          <a:p>
            <a:endParaRPr lang="en-ID"/>
          </a:p>
        </p:txBody>
      </p:sp>
      <p:sp>
        <p:nvSpPr>
          <p:cNvPr id="24" name="Text 22"/>
          <p:cNvSpPr/>
          <p:nvPr/>
        </p:nvSpPr>
        <p:spPr>
          <a:xfrm>
            <a:off x="1047750" y="6370082"/>
            <a:ext cx="1219200" cy="327660"/>
          </a:xfrm>
          <a:prstGeom prst="rect">
            <a:avLst/>
          </a:prstGeom>
          <a:noFill/>
          <a:ln/>
        </p:spPr>
        <p:txBody>
          <a:bodyPr wrap="square" lIns="25400" tIns="25400" rIns="25400" bIns="25400" rtlCol="0" anchor="t">
            <a:normAutofit/>
          </a:bodyPr>
          <a:lstStyle/>
          <a:p>
            <a:pPr marL="0" indent="0" algn="l">
              <a:buNone/>
            </a:pPr>
            <a:r>
              <a:rPr lang="en-US" sz="1725" b="1" kern="0" spc="75" dirty="0">
                <a:solidFill>
                  <a:srgbClr val="A8A79F"/>
                </a:solidFill>
                <a:latin typeface="Segoe UI" pitchFamily="34" charset="0"/>
                <a:ea typeface="Segoe UI" pitchFamily="34" charset="-122"/>
                <a:cs typeface="Segoe UI" pitchFamily="34" charset="-120"/>
              </a:rPr>
              <a:t>BAB 6</a:t>
            </a:r>
            <a:endParaRPr lang="en-US" sz="1725" dirty="0"/>
          </a:p>
        </p:txBody>
      </p:sp>
      <p:sp>
        <p:nvSpPr>
          <p:cNvPr id="25" name="Text 23"/>
          <p:cNvSpPr/>
          <p:nvPr/>
        </p:nvSpPr>
        <p:spPr>
          <a:xfrm>
            <a:off x="2400300" y="6331982"/>
            <a:ext cx="3404575" cy="373380"/>
          </a:xfrm>
          <a:prstGeom prst="rect">
            <a:avLst/>
          </a:prstGeom>
          <a:noFill/>
          <a:ln/>
        </p:spPr>
        <p:txBody>
          <a:bodyPr wrap="square" lIns="25400" tIns="25400" rIns="25400" bIns="25400" rtlCol="0" anchor="t">
            <a:normAutofit/>
          </a:bodyPr>
          <a:lstStyle/>
          <a:p>
            <a:pPr marL="0" indent="0" algn="l">
              <a:buNone/>
            </a:pPr>
            <a:r>
              <a:rPr lang="en-US" sz="2025" dirty="0">
                <a:solidFill>
                  <a:srgbClr val="23231F"/>
                </a:solidFill>
                <a:latin typeface="Segoe UI" pitchFamily="34" charset="0"/>
                <a:ea typeface="Segoe UI" pitchFamily="34" charset="-122"/>
                <a:cs typeface="Segoe UI" pitchFamily="34" charset="-120"/>
              </a:rPr>
              <a:t>Tableau Story dan alur naratif</a:t>
            </a:r>
            <a:endParaRPr lang="en-US" sz="2025" dirty="0"/>
          </a:p>
        </p:txBody>
      </p:sp>
      <p:sp>
        <p:nvSpPr>
          <p:cNvPr id="26" name="Shape 24"/>
          <p:cNvSpPr/>
          <p:nvPr/>
        </p:nvSpPr>
        <p:spPr>
          <a:xfrm>
            <a:off x="9391650" y="6331982"/>
            <a:ext cx="7848600" cy="598170"/>
          </a:xfrm>
          <a:prstGeom prst="roundRect">
            <a:avLst>
              <a:gd name="adj" fmla="val 12739"/>
            </a:avLst>
          </a:prstGeom>
          <a:solidFill>
            <a:srgbClr val="FFEEE8"/>
          </a:solidFill>
          <a:ln/>
        </p:spPr>
        <p:txBody>
          <a:bodyPr/>
          <a:lstStyle/>
          <a:p>
            <a:endParaRPr lang="en-ID"/>
          </a:p>
        </p:txBody>
      </p:sp>
      <p:sp>
        <p:nvSpPr>
          <p:cNvPr id="27" name="Shape 25"/>
          <p:cNvSpPr/>
          <p:nvPr/>
        </p:nvSpPr>
        <p:spPr>
          <a:xfrm>
            <a:off x="9391650" y="6914912"/>
            <a:ext cx="7848600" cy="15240"/>
          </a:xfrm>
          <a:prstGeom prst="rect">
            <a:avLst/>
          </a:prstGeom>
          <a:solidFill>
            <a:srgbClr val="F2654E"/>
          </a:solidFill>
          <a:ln/>
        </p:spPr>
        <p:txBody>
          <a:bodyPr/>
          <a:lstStyle/>
          <a:p>
            <a:endParaRPr lang="en-ID"/>
          </a:p>
        </p:txBody>
      </p:sp>
      <p:sp>
        <p:nvSpPr>
          <p:cNvPr id="28" name="Text 26"/>
          <p:cNvSpPr/>
          <p:nvPr/>
        </p:nvSpPr>
        <p:spPr>
          <a:xfrm>
            <a:off x="9544050" y="6484382"/>
            <a:ext cx="1104900" cy="327660"/>
          </a:xfrm>
          <a:prstGeom prst="rect">
            <a:avLst/>
          </a:prstGeom>
          <a:noFill/>
          <a:ln/>
        </p:spPr>
        <p:txBody>
          <a:bodyPr wrap="square" lIns="25400" tIns="25400" rIns="25400" bIns="25400" rtlCol="0" anchor="t">
            <a:normAutofit/>
          </a:bodyPr>
          <a:lstStyle/>
          <a:p>
            <a:pPr marL="0" indent="0" algn="l">
              <a:buNone/>
            </a:pPr>
            <a:r>
              <a:rPr lang="en-US" sz="1725" b="1" kern="0" spc="75" dirty="0">
                <a:solidFill>
                  <a:srgbClr val="F2654E"/>
                </a:solidFill>
                <a:latin typeface="Segoe UI" pitchFamily="34" charset="0"/>
                <a:ea typeface="Segoe UI" pitchFamily="34" charset="-122"/>
                <a:cs typeface="Segoe UI" pitchFamily="34" charset="-120"/>
              </a:rPr>
              <a:t>BAB 7</a:t>
            </a:r>
            <a:endParaRPr lang="en-US" sz="1725" dirty="0"/>
          </a:p>
        </p:txBody>
      </p:sp>
      <p:sp>
        <p:nvSpPr>
          <p:cNvPr id="29" name="Text 27"/>
          <p:cNvSpPr/>
          <p:nvPr/>
        </p:nvSpPr>
        <p:spPr>
          <a:xfrm>
            <a:off x="10782300" y="6446282"/>
            <a:ext cx="4220340" cy="373380"/>
          </a:xfrm>
          <a:prstGeom prst="rect">
            <a:avLst/>
          </a:prstGeom>
          <a:noFill/>
          <a:ln/>
        </p:spPr>
        <p:txBody>
          <a:bodyPr wrap="square" lIns="25400" tIns="25400" rIns="25400" bIns="25400" rtlCol="0" anchor="t">
            <a:normAutofit fontScale="92500"/>
          </a:bodyPr>
          <a:lstStyle/>
          <a:p>
            <a:pPr marL="0" indent="0" algn="l">
              <a:buNone/>
            </a:pPr>
            <a:r>
              <a:rPr lang="en-US" sz="2025" b="1" dirty="0">
                <a:solidFill>
                  <a:srgbClr val="B0402C"/>
                </a:solidFill>
                <a:latin typeface="Segoe UI" pitchFamily="34" charset="0"/>
                <a:ea typeface="Segoe UI" pitchFamily="34" charset="-122"/>
                <a:cs typeface="Segoe UI" pitchFamily="34" charset="-120"/>
              </a:rPr>
              <a:t>Sintesis dan Rekomendasi Strategis</a:t>
            </a:r>
            <a:endParaRPr lang="en-US" sz="2025" dirty="0"/>
          </a:p>
        </p:txBody>
      </p:sp>
      <p:sp>
        <p:nvSpPr>
          <p:cNvPr id="30" name="Shape 28"/>
          <p:cNvSpPr/>
          <p:nvPr/>
        </p:nvSpPr>
        <p:spPr>
          <a:xfrm>
            <a:off x="1047750" y="7570232"/>
            <a:ext cx="7848600" cy="9525"/>
          </a:xfrm>
          <a:prstGeom prst="rect">
            <a:avLst/>
          </a:prstGeom>
          <a:solidFill>
            <a:srgbClr val="E6E4DD"/>
          </a:solidFill>
          <a:ln/>
        </p:spPr>
        <p:txBody>
          <a:bodyPr/>
          <a:lstStyle/>
          <a:p>
            <a:endParaRPr lang="en-ID"/>
          </a:p>
        </p:txBody>
      </p:sp>
      <p:sp>
        <p:nvSpPr>
          <p:cNvPr id="31" name="Text 29"/>
          <p:cNvSpPr/>
          <p:nvPr/>
        </p:nvSpPr>
        <p:spPr>
          <a:xfrm>
            <a:off x="1047750" y="7139702"/>
            <a:ext cx="1219200" cy="327660"/>
          </a:xfrm>
          <a:prstGeom prst="rect">
            <a:avLst/>
          </a:prstGeom>
          <a:noFill/>
          <a:ln/>
        </p:spPr>
        <p:txBody>
          <a:bodyPr wrap="square" lIns="25400" tIns="25400" rIns="25400" bIns="25400" rtlCol="0" anchor="t">
            <a:normAutofit/>
          </a:bodyPr>
          <a:lstStyle/>
          <a:p>
            <a:pPr marL="0" indent="0" algn="l">
              <a:buNone/>
            </a:pPr>
            <a:r>
              <a:rPr lang="en-US" sz="1725" b="1" kern="0" spc="75" dirty="0">
                <a:solidFill>
                  <a:srgbClr val="A8A79F"/>
                </a:solidFill>
                <a:latin typeface="Segoe UI" pitchFamily="34" charset="0"/>
                <a:ea typeface="Segoe UI" pitchFamily="34" charset="-122"/>
                <a:cs typeface="Segoe UI" pitchFamily="34" charset="-120"/>
              </a:rPr>
              <a:t>BAB 8</a:t>
            </a:r>
            <a:endParaRPr lang="en-US" sz="1725" dirty="0"/>
          </a:p>
        </p:txBody>
      </p:sp>
      <p:sp>
        <p:nvSpPr>
          <p:cNvPr id="32" name="Text 30"/>
          <p:cNvSpPr/>
          <p:nvPr/>
        </p:nvSpPr>
        <p:spPr>
          <a:xfrm>
            <a:off x="2400300" y="7101602"/>
            <a:ext cx="1384816" cy="373380"/>
          </a:xfrm>
          <a:prstGeom prst="rect">
            <a:avLst/>
          </a:prstGeom>
          <a:noFill/>
          <a:ln/>
        </p:spPr>
        <p:txBody>
          <a:bodyPr wrap="square" lIns="25400" tIns="25400" rIns="25400" bIns="25400" rtlCol="0" anchor="t">
            <a:normAutofit/>
          </a:bodyPr>
          <a:lstStyle/>
          <a:p>
            <a:pPr marL="0" indent="0" algn="l">
              <a:buNone/>
            </a:pPr>
            <a:r>
              <a:rPr lang="en-US" sz="2025" dirty="0">
                <a:solidFill>
                  <a:srgbClr val="23231F"/>
                </a:solidFill>
                <a:latin typeface="Segoe UI" pitchFamily="34" charset="0"/>
                <a:ea typeface="Segoe UI" pitchFamily="34" charset="-122"/>
                <a:cs typeface="Segoe UI" pitchFamily="34" charset="-120"/>
              </a:rPr>
              <a:t>Kesimpulan</a:t>
            </a:r>
            <a:endParaRPr lang="en-US" sz="2025" dirty="0"/>
          </a:p>
        </p:txBody>
      </p:sp>
      <p:sp>
        <p:nvSpPr>
          <p:cNvPr id="33" name="Shape 31"/>
          <p:cNvSpPr/>
          <p:nvPr/>
        </p:nvSpPr>
        <p:spPr>
          <a:xfrm>
            <a:off x="9391650" y="7570232"/>
            <a:ext cx="7848600" cy="9525"/>
          </a:xfrm>
          <a:prstGeom prst="rect">
            <a:avLst/>
          </a:prstGeom>
          <a:solidFill>
            <a:srgbClr val="E6E4DD"/>
          </a:solidFill>
          <a:ln/>
        </p:spPr>
        <p:txBody>
          <a:bodyPr/>
          <a:lstStyle/>
          <a:p>
            <a:endParaRPr lang="en-ID"/>
          </a:p>
        </p:txBody>
      </p:sp>
      <p:sp>
        <p:nvSpPr>
          <p:cNvPr id="34" name="Text 32"/>
          <p:cNvSpPr/>
          <p:nvPr/>
        </p:nvSpPr>
        <p:spPr>
          <a:xfrm>
            <a:off x="9391650" y="7139702"/>
            <a:ext cx="1219200" cy="327660"/>
          </a:xfrm>
          <a:prstGeom prst="rect">
            <a:avLst/>
          </a:prstGeom>
          <a:noFill/>
          <a:ln/>
        </p:spPr>
        <p:txBody>
          <a:bodyPr wrap="square" lIns="25400" tIns="25400" rIns="25400" bIns="25400" rtlCol="0" anchor="t">
            <a:normAutofit/>
          </a:bodyPr>
          <a:lstStyle/>
          <a:p>
            <a:pPr marL="0" indent="0" algn="l">
              <a:buNone/>
            </a:pPr>
            <a:r>
              <a:rPr lang="en-US" sz="1725" b="1" kern="0" spc="75" dirty="0">
                <a:solidFill>
                  <a:srgbClr val="A8A79F"/>
                </a:solidFill>
                <a:latin typeface="Segoe UI" pitchFamily="34" charset="0"/>
                <a:ea typeface="Segoe UI" pitchFamily="34" charset="-122"/>
                <a:cs typeface="Segoe UI" pitchFamily="34" charset="-120"/>
              </a:rPr>
              <a:t>AKHIR</a:t>
            </a:r>
            <a:endParaRPr lang="en-US" sz="1725" dirty="0"/>
          </a:p>
        </p:txBody>
      </p:sp>
      <p:sp>
        <p:nvSpPr>
          <p:cNvPr id="35" name="Text 33"/>
          <p:cNvSpPr/>
          <p:nvPr/>
        </p:nvSpPr>
        <p:spPr>
          <a:xfrm>
            <a:off x="10744200" y="7101602"/>
            <a:ext cx="4171163" cy="373380"/>
          </a:xfrm>
          <a:prstGeom prst="rect">
            <a:avLst/>
          </a:prstGeom>
          <a:noFill/>
          <a:ln/>
        </p:spPr>
        <p:txBody>
          <a:bodyPr wrap="square" lIns="25400" tIns="25400" rIns="25400" bIns="25400" rtlCol="0" anchor="t">
            <a:normAutofit/>
          </a:bodyPr>
          <a:lstStyle/>
          <a:p>
            <a:pPr marL="0" indent="0" algn="l">
              <a:buNone/>
            </a:pPr>
            <a:r>
              <a:rPr lang="en-US" sz="2025" dirty="0">
                <a:solidFill>
                  <a:srgbClr val="23231F"/>
                </a:solidFill>
                <a:latin typeface="Segoe UI" pitchFamily="34" charset="0"/>
                <a:ea typeface="Segoe UI" pitchFamily="34" charset="-122"/>
                <a:cs typeface="Segoe UI" pitchFamily="34" charset="-120"/>
              </a:rPr>
              <a:t>Daftar referensi APA 7 dan lampiran</a:t>
            </a:r>
            <a:endParaRPr lang="en-US" sz="20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0201E"/>
        </a:solidFill>
        <a:effectLst/>
      </p:bgPr>
    </p:bg>
    <p:spTree>
      <p:nvGrpSpPr>
        <p:cNvPr id="1" name=""/>
        <p:cNvGrpSpPr/>
        <p:nvPr/>
      </p:nvGrpSpPr>
      <p:grpSpPr>
        <a:xfrm>
          <a:off x="0" y="0"/>
          <a:ext cx="0" cy="0"/>
          <a:chOff x="0" y="0"/>
          <a:chExt cx="0" cy="0"/>
        </a:xfrm>
      </p:grpSpPr>
      <p:sp>
        <p:nvSpPr>
          <p:cNvPr id="2" name="Text 0"/>
          <p:cNvSpPr/>
          <p:nvPr/>
        </p:nvSpPr>
        <p:spPr>
          <a:xfrm>
            <a:off x="1047750" y="2610326"/>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FB29E"/>
                </a:solidFill>
                <a:latin typeface="Segoe UI" pitchFamily="34" charset="0"/>
                <a:ea typeface="Segoe UI" pitchFamily="34" charset="-122"/>
                <a:cs typeface="Segoe UI" pitchFamily="34" charset="-120"/>
              </a:rPr>
              <a:t>12 / INTI PENILAIAN</a:t>
            </a:r>
            <a:endParaRPr lang="en-US" sz="1800" dirty="0"/>
          </a:p>
        </p:txBody>
      </p:sp>
      <p:sp>
        <p:nvSpPr>
          <p:cNvPr id="3" name="Text 1"/>
          <p:cNvSpPr/>
          <p:nvPr/>
        </p:nvSpPr>
        <p:spPr>
          <a:xfrm>
            <a:off x="1047750" y="3143726"/>
            <a:ext cx="14519910" cy="1488758"/>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5100" b="1" kern="0" spc="-60" dirty="0">
                <a:solidFill>
                  <a:srgbClr val="F2F1EC"/>
                </a:solidFill>
                <a:latin typeface="Segoe UI" pitchFamily="34" charset="0"/>
                <a:ea typeface="Segoe UI" pitchFamily="34" charset="-122"/>
                <a:cs typeface="Segoe UI" pitchFamily="34" charset="-120"/>
              </a:rPr>
              <a:t>Nilai terbesar bukan pada visualisasi yang indah, melainkan pada ketajaman rekomendasi.</a:t>
            </a:r>
            <a:endParaRPr lang="en-US" sz="5100" dirty="0"/>
          </a:p>
        </p:txBody>
      </p:sp>
      <p:sp>
        <p:nvSpPr>
          <p:cNvPr id="4" name="Text 2"/>
          <p:cNvSpPr/>
          <p:nvPr/>
        </p:nvSpPr>
        <p:spPr>
          <a:xfrm>
            <a:off x="1005797" y="5108734"/>
            <a:ext cx="2880804" cy="146685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11250" b="1" kern="0" spc="-225" dirty="0">
                <a:solidFill>
                  <a:srgbClr val="FFB29E"/>
                </a:solidFill>
                <a:latin typeface="Segoe UI" pitchFamily="34" charset="0"/>
                <a:ea typeface="Segoe UI" pitchFamily="34" charset="-122"/>
                <a:cs typeface="Segoe UI" pitchFamily="34" charset="-120"/>
              </a:rPr>
              <a:t>20%</a:t>
            </a:r>
            <a:endParaRPr lang="en-US" sz="11250" dirty="0"/>
          </a:p>
        </p:txBody>
      </p:sp>
      <p:sp>
        <p:nvSpPr>
          <p:cNvPr id="5" name="Text 3"/>
          <p:cNvSpPr/>
          <p:nvPr/>
        </p:nvSpPr>
        <p:spPr>
          <a:xfrm>
            <a:off x="1005797" y="6613684"/>
            <a:ext cx="2880804" cy="365760"/>
          </a:xfrm>
          <a:prstGeom prst="rect">
            <a:avLst/>
          </a:prstGeom>
          <a:noFill/>
          <a:ln/>
        </p:spPr>
        <p:txBody>
          <a:bodyPr wrap="square" lIns="25400" tIns="25400" rIns="25400" bIns="25400" rtlCol="0" anchor="t">
            <a:normAutofit/>
          </a:bodyPr>
          <a:lstStyle/>
          <a:p>
            <a:pPr marL="0" indent="0" algn="ctr">
              <a:buNone/>
            </a:pPr>
            <a:r>
              <a:rPr lang="en-US" sz="1950" dirty="0">
                <a:solidFill>
                  <a:srgbClr val="F2F1EC">
                    <a:alpha val="60000"/>
                  </a:srgbClr>
                </a:solidFill>
                <a:latin typeface="Segoe UI" pitchFamily="34" charset="0"/>
                <a:ea typeface="Segoe UI" pitchFamily="34" charset="-122"/>
                <a:cs typeface="Segoe UI" pitchFamily="34" charset="-120"/>
              </a:rPr>
              <a:t>bobot tertinggi</a:t>
            </a:r>
            <a:endParaRPr lang="en-US" sz="1950" dirty="0"/>
          </a:p>
        </p:txBody>
      </p:sp>
      <p:sp>
        <p:nvSpPr>
          <p:cNvPr id="6" name="Shape 4"/>
          <p:cNvSpPr/>
          <p:nvPr/>
        </p:nvSpPr>
        <p:spPr>
          <a:xfrm>
            <a:off x="4378047" y="5154454"/>
            <a:ext cx="4134922" cy="1741170"/>
          </a:xfrm>
          <a:prstGeom prst="roundRect">
            <a:avLst>
              <a:gd name="adj" fmla="val 7659"/>
            </a:avLst>
          </a:prstGeom>
          <a:solidFill>
            <a:srgbClr val="FFFFFF">
              <a:alpha val="5000"/>
            </a:srgbClr>
          </a:solidFill>
          <a:ln w="7620">
            <a:solidFill>
              <a:srgbClr val="FFFFFF">
                <a:alpha val="12000"/>
              </a:srgbClr>
            </a:solidFill>
            <a:prstDash val="solid"/>
          </a:ln>
        </p:spPr>
        <p:txBody>
          <a:bodyPr/>
          <a:lstStyle/>
          <a:p>
            <a:endParaRPr lang="en-ID"/>
          </a:p>
        </p:txBody>
      </p:sp>
      <p:sp>
        <p:nvSpPr>
          <p:cNvPr id="7" name="Text 5"/>
          <p:cNvSpPr/>
          <p:nvPr/>
        </p:nvSpPr>
        <p:spPr>
          <a:xfrm>
            <a:off x="4671417" y="5447824"/>
            <a:ext cx="3654627"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FB29E"/>
                </a:solidFill>
                <a:latin typeface="Segoe UI" pitchFamily="34" charset="0"/>
                <a:ea typeface="Segoe UI" pitchFamily="34" charset="-122"/>
                <a:cs typeface="Segoe UI" pitchFamily="34" charset="-120"/>
              </a:rPr>
              <a:t>Spesifik</a:t>
            </a:r>
            <a:endParaRPr lang="en-US" sz="2250" dirty="0"/>
          </a:p>
        </p:txBody>
      </p:sp>
      <p:sp>
        <p:nvSpPr>
          <p:cNvPr id="8" name="Text 6"/>
          <p:cNvSpPr/>
          <p:nvPr/>
        </p:nvSpPr>
        <p:spPr>
          <a:xfrm>
            <a:off x="4671417" y="5935504"/>
            <a:ext cx="3654627"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F2F1EC">
                    <a:alpha val="72000"/>
                  </a:srgbClr>
                </a:solidFill>
                <a:latin typeface="Segoe UI" pitchFamily="34" charset="0"/>
                <a:ea typeface="Segoe UI" pitchFamily="34" charset="-122"/>
                <a:cs typeface="Segoe UI" pitchFamily="34" charset="-120"/>
              </a:rPr>
              <a:t>Menunjuk masalah dan tindakan yang jelas.</a:t>
            </a:r>
            <a:endParaRPr lang="en-US" sz="1875" dirty="0"/>
          </a:p>
        </p:txBody>
      </p:sp>
      <p:sp>
        <p:nvSpPr>
          <p:cNvPr id="9" name="Shape 7"/>
          <p:cNvSpPr/>
          <p:nvPr/>
        </p:nvSpPr>
        <p:spPr>
          <a:xfrm>
            <a:off x="8741569" y="5154454"/>
            <a:ext cx="4135041" cy="1741170"/>
          </a:xfrm>
          <a:prstGeom prst="roundRect">
            <a:avLst>
              <a:gd name="adj" fmla="val 7659"/>
            </a:avLst>
          </a:prstGeom>
          <a:solidFill>
            <a:srgbClr val="FFFFFF">
              <a:alpha val="5000"/>
            </a:srgbClr>
          </a:solidFill>
          <a:ln w="7620">
            <a:solidFill>
              <a:srgbClr val="FFFFFF">
                <a:alpha val="12000"/>
              </a:srgbClr>
            </a:solidFill>
            <a:prstDash val="solid"/>
          </a:ln>
        </p:spPr>
        <p:txBody>
          <a:bodyPr/>
          <a:lstStyle/>
          <a:p>
            <a:endParaRPr lang="en-ID"/>
          </a:p>
        </p:txBody>
      </p:sp>
      <p:sp>
        <p:nvSpPr>
          <p:cNvPr id="10" name="Text 8"/>
          <p:cNvSpPr/>
          <p:nvPr/>
        </p:nvSpPr>
        <p:spPr>
          <a:xfrm>
            <a:off x="9034939" y="5447824"/>
            <a:ext cx="365475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FB29E"/>
                </a:solidFill>
                <a:latin typeface="Segoe UI" pitchFamily="34" charset="0"/>
                <a:ea typeface="Segoe UI" pitchFamily="34" charset="-122"/>
                <a:cs typeface="Segoe UI" pitchFamily="34" charset="-120"/>
              </a:rPr>
              <a:t>Terukur</a:t>
            </a:r>
            <a:endParaRPr lang="en-US" sz="2250" dirty="0"/>
          </a:p>
        </p:txBody>
      </p:sp>
      <p:sp>
        <p:nvSpPr>
          <p:cNvPr id="11" name="Text 9"/>
          <p:cNvSpPr/>
          <p:nvPr/>
        </p:nvSpPr>
        <p:spPr>
          <a:xfrm>
            <a:off x="9034939" y="5935504"/>
            <a:ext cx="3654750" cy="70485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75" dirty="0">
                <a:solidFill>
                  <a:srgbClr val="F2F1EC">
                    <a:alpha val="72000"/>
                  </a:srgbClr>
                </a:solidFill>
                <a:latin typeface="Segoe UI" pitchFamily="34" charset="0"/>
                <a:ea typeface="Segoe UI" pitchFamily="34" charset="-122"/>
                <a:cs typeface="Segoe UI" pitchFamily="34" charset="-120"/>
              </a:rPr>
              <a:t>Berbasis angka dan temuan dari data.</a:t>
            </a:r>
            <a:endParaRPr lang="en-US" sz="1875" dirty="0"/>
          </a:p>
        </p:txBody>
      </p:sp>
      <p:sp>
        <p:nvSpPr>
          <p:cNvPr id="12" name="Shape 10"/>
          <p:cNvSpPr/>
          <p:nvPr/>
        </p:nvSpPr>
        <p:spPr>
          <a:xfrm>
            <a:off x="13105209" y="5154454"/>
            <a:ext cx="4135041" cy="1741170"/>
          </a:xfrm>
          <a:prstGeom prst="roundRect">
            <a:avLst>
              <a:gd name="adj" fmla="val 7659"/>
            </a:avLst>
          </a:prstGeom>
          <a:solidFill>
            <a:srgbClr val="FFFFFF">
              <a:alpha val="5000"/>
            </a:srgbClr>
          </a:solidFill>
          <a:ln w="7620">
            <a:solidFill>
              <a:srgbClr val="FFFFFF">
                <a:alpha val="12000"/>
              </a:srgbClr>
            </a:solidFill>
            <a:prstDash val="solid"/>
          </a:ln>
        </p:spPr>
        <p:txBody>
          <a:bodyPr/>
          <a:lstStyle/>
          <a:p>
            <a:endParaRPr lang="en-ID"/>
          </a:p>
        </p:txBody>
      </p:sp>
      <p:sp>
        <p:nvSpPr>
          <p:cNvPr id="13" name="Text 11"/>
          <p:cNvSpPr/>
          <p:nvPr/>
        </p:nvSpPr>
        <p:spPr>
          <a:xfrm>
            <a:off x="13398580" y="5447824"/>
            <a:ext cx="3654750" cy="411480"/>
          </a:xfrm>
          <a:prstGeom prst="rect">
            <a:avLst/>
          </a:prstGeom>
          <a:noFill/>
          <a:ln/>
        </p:spPr>
        <p:txBody>
          <a:bodyPr wrap="square" lIns="25400" tIns="25400" rIns="25400" bIns="25400" rtlCol="0" anchor="t">
            <a:normAutofit/>
          </a:bodyPr>
          <a:lstStyle/>
          <a:p>
            <a:pPr marL="0" indent="0" algn="l">
              <a:buNone/>
            </a:pPr>
            <a:r>
              <a:rPr lang="en-US" sz="2250" b="1" dirty="0">
                <a:solidFill>
                  <a:srgbClr val="FFB29E"/>
                </a:solidFill>
                <a:latin typeface="Segoe UI" pitchFamily="34" charset="0"/>
                <a:ea typeface="Segoe UI" pitchFamily="34" charset="-122"/>
                <a:cs typeface="Segoe UI" pitchFamily="34" charset="-120"/>
              </a:rPr>
              <a:t>Actionable</a:t>
            </a:r>
            <a:endParaRPr lang="en-US" sz="2250" dirty="0"/>
          </a:p>
        </p:txBody>
      </p:sp>
      <p:sp>
        <p:nvSpPr>
          <p:cNvPr id="14" name="Text 12"/>
          <p:cNvSpPr/>
          <p:nvPr/>
        </p:nvSpPr>
        <p:spPr>
          <a:xfrm>
            <a:off x="13398580" y="5935504"/>
            <a:ext cx="3654750"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F2F1EC">
                    <a:alpha val="72000"/>
                  </a:srgbClr>
                </a:solidFill>
                <a:latin typeface="Segoe UI" pitchFamily="34" charset="0"/>
                <a:ea typeface="Segoe UI" pitchFamily="34" charset="-122"/>
                <a:cs typeface="Segoe UI" pitchFamily="34" charset="-120"/>
              </a:rPr>
              <a:t>Dapat ditindaklanjuti oleh audiens yang dituju.</a:t>
            </a:r>
            <a:endParaRPr lang="en-US" sz="1875" dirty="0"/>
          </a:p>
        </p:txBody>
      </p:sp>
      <p:sp>
        <p:nvSpPr>
          <p:cNvPr id="15" name="Text 13"/>
          <p:cNvSpPr/>
          <p:nvPr/>
        </p:nvSpPr>
        <p:spPr>
          <a:xfrm>
            <a:off x="1047750" y="7398544"/>
            <a:ext cx="16678275" cy="373380"/>
          </a:xfrm>
          <a:prstGeom prst="rect">
            <a:avLst/>
          </a:prstGeom>
          <a:noFill/>
          <a:ln/>
        </p:spPr>
        <p:txBody>
          <a:bodyPr wrap="square" lIns="25400" tIns="25400" rIns="25400" bIns="25400" rtlCol="0" anchor="t">
            <a:normAutofit/>
          </a:bodyPr>
          <a:lstStyle/>
          <a:p>
            <a:pPr marL="0" indent="0" algn="l">
              <a:buNone/>
            </a:pPr>
            <a:r>
              <a:rPr lang="en-US" sz="2025" dirty="0">
                <a:solidFill>
                  <a:srgbClr val="F2F1EC">
                    <a:alpha val="66000"/>
                  </a:srgbClr>
                </a:solidFill>
                <a:latin typeface="Segoe UI" pitchFamily="34" charset="0"/>
                <a:ea typeface="Segoe UI" pitchFamily="34" charset="-122"/>
                <a:cs typeface="Segoe UI" pitchFamily="34" charset="-120"/>
              </a:rPr>
              <a:t>Minimal </a:t>
            </a:r>
            <a:r>
              <a:rPr lang="en-US" sz="2025" b="1" dirty="0">
                <a:solidFill>
                  <a:srgbClr val="F2F1EC"/>
                </a:solidFill>
                <a:latin typeface="Segoe UI" pitchFamily="34" charset="0"/>
                <a:ea typeface="Segoe UI" pitchFamily="34" charset="-122"/>
                <a:cs typeface="Segoe UI" pitchFamily="34" charset="-120"/>
              </a:rPr>
              <a:t>3 rekomendasi strategis </a:t>
            </a:r>
            <a:r>
              <a:rPr lang="en-US" sz="2025" dirty="0">
                <a:solidFill>
                  <a:srgbClr val="F2F1EC">
                    <a:alpha val="66000"/>
                  </a:srgbClr>
                </a:solidFill>
                <a:latin typeface="Segoe UI" pitchFamily="34" charset="0"/>
                <a:ea typeface="Segoe UI" pitchFamily="34" charset="-122"/>
                <a:cs typeface="Segoe UI" pitchFamily="34" charset="-120"/>
              </a:rPr>
              <a:t>wajib hadir di Bab 7 laporan dan Story Point terakhir.</a:t>
            </a:r>
            <a:endParaRPr lang="en-US" sz="20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800100"/>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2654E"/>
                </a:solidFill>
                <a:latin typeface="Segoe UI" pitchFamily="34" charset="0"/>
                <a:ea typeface="Segoe UI" pitchFamily="34" charset="-122"/>
                <a:cs typeface="Segoe UI" pitchFamily="34" charset="-120"/>
              </a:rPr>
              <a:t>13 / STANDAR KUALITAS</a:t>
            </a:r>
            <a:endParaRPr lang="en-US" sz="1800" dirty="0"/>
          </a:p>
        </p:txBody>
      </p:sp>
      <p:sp>
        <p:nvSpPr>
          <p:cNvPr id="3" name="Text 1"/>
          <p:cNvSpPr/>
          <p:nvPr/>
        </p:nvSpPr>
        <p:spPr>
          <a:xfrm>
            <a:off x="1047750" y="1238250"/>
            <a:ext cx="16678275" cy="603409"/>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200" b="1" kern="0" spc="-37" dirty="0">
                <a:solidFill>
                  <a:srgbClr val="23231F"/>
                </a:solidFill>
                <a:latin typeface="Segoe UI" pitchFamily="34" charset="0"/>
                <a:ea typeface="Segoe UI" pitchFamily="34" charset="-122"/>
                <a:cs typeface="Segoe UI" pitchFamily="34" charset="-120"/>
              </a:rPr>
              <a:t>Kelompok biasa dan kelompok unggul</a:t>
            </a:r>
            <a:endParaRPr lang="en-US" sz="4200" dirty="0"/>
          </a:p>
        </p:txBody>
      </p:sp>
      <p:sp>
        <p:nvSpPr>
          <p:cNvPr id="4" name="Shape 2"/>
          <p:cNvSpPr/>
          <p:nvPr/>
        </p:nvSpPr>
        <p:spPr>
          <a:xfrm>
            <a:off x="1047750" y="2013109"/>
            <a:ext cx="685800" cy="47625"/>
          </a:xfrm>
          <a:prstGeom prst="roundRect">
            <a:avLst>
              <a:gd name="adj" fmla="val 50000"/>
            </a:avLst>
          </a:prstGeom>
          <a:solidFill>
            <a:srgbClr val="F2654E"/>
          </a:solidFill>
          <a:ln/>
        </p:spPr>
        <p:txBody>
          <a:bodyPr/>
          <a:lstStyle/>
          <a:p>
            <a:endParaRPr lang="en-ID"/>
          </a:p>
        </p:txBody>
      </p:sp>
      <p:sp>
        <p:nvSpPr>
          <p:cNvPr id="5" name="Shape 3"/>
          <p:cNvSpPr/>
          <p:nvPr/>
        </p:nvSpPr>
        <p:spPr>
          <a:xfrm>
            <a:off x="1047750" y="2403634"/>
            <a:ext cx="7924800" cy="7159466"/>
          </a:xfrm>
          <a:prstGeom prst="roundRect">
            <a:avLst>
              <a:gd name="adj" fmla="val 2129"/>
            </a:avLst>
          </a:prstGeom>
          <a:solidFill>
            <a:srgbClr val="F1F0EB"/>
          </a:solidFill>
          <a:ln w="7620">
            <a:solidFill>
              <a:srgbClr val="E6E4DD"/>
            </a:solidFill>
            <a:prstDash val="solid"/>
          </a:ln>
        </p:spPr>
        <p:txBody>
          <a:bodyPr/>
          <a:lstStyle/>
          <a:p>
            <a:endParaRPr lang="en-ID"/>
          </a:p>
        </p:txBody>
      </p:sp>
      <p:sp>
        <p:nvSpPr>
          <p:cNvPr id="6" name="Text 4"/>
          <p:cNvSpPr/>
          <p:nvPr/>
        </p:nvSpPr>
        <p:spPr>
          <a:xfrm>
            <a:off x="1436370" y="2773204"/>
            <a:ext cx="7361987" cy="365760"/>
          </a:xfrm>
          <a:prstGeom prst="rect">
            <a:avLst/>
          </a:prstGeom>
          <a:noFill/>
          <a:ln/>
        </p:spPr>
        <p:txBody>
          <a:bodyPr wrap="square" lIns="25400" tIns="25400" rIns="25400" bIns="25400" rtlCol="0" anchor="t">
            <a:normAutofit/>
          </a:bodyPr>
          <a:lstStyle/>
          <a:p>
            <a:pPr marL="0" indent="0" algn="l">
              <a:buNone/>
            </a:pPr>
            <a:r>
              <a:rPr lang="en-US" sz="1950" b="1" kern="0" spc="75" dirty="0">
                <a:solidFill>
                  <a:srgbClr val="8A8980"/>
                </a:solidFill>
                <a:latin typeface="Segoe UI" pitchFamily="34" charset="0"/>
                <a:ea typeface="Segoe UI" pitchFamily="34" charset="-122"/>
                <a:cs typeface="Segoe UI" pitchFamily="34" charset="-120"/>
              </a:rPr>
              <a:t>KELOMPOK BIASA</a:t>
            </a:r>
            <a:endParaRPr lang="en-US" sz="1950" dirty="0"/>
          </a:p>
        </p:txBody>
      </p:sp>
      <p:sp>
        <p:nvSpPr>
          <p:cNvPr id="7" name="Shape 5"/>
          <p:cNvSpPr/>
          <p:nvPr/>
        </p:nvSpPr>
        <p:spPr>
          <a:xfrm>
            <a:off x="1436370" y="3329464"/>
            <a:ext cx="7147560" cy="9525"/>
          </a:xfrm>
          <a:prstGeom prst="rect">
            <a:avLst/>
          </a:prstGeom>
          <a:solidFill>
            <a:srgbClr val="DDDBD3"/>
          </a:solidFill>
          <a:ln/>
        </p:spPr>
        <p:txBody>
          <a:bodyPr/>
          <a:lstStyle/>
          <a:p>
            <a:endParaRPr lang="en-ID"/>
          </a:p>
        </p:txBody>
      </p:sp>
      <p:sp>
        <p:nvSpPr>
          <p:cNvPr id="8" name="Text 6"/>
          <p:cNvSpPr/>
          <p:nvPr/>
        </p:nvSpPr>
        <p:spPr>
          <a:xfrm>
            <a:off x="1436370" y="3605689"/>
            <a:ext cx="7361987" cy="81153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2100" dirty="0">
                <a:solidFill>
                  <a:srgbClr val="52524C"/>
                </a:solidFill>
                <a:latin typeface="Segoe UI" pitchFamily="34" charset="0"/>
                <a:ea typeface="Segoe UI" pitchFamily="34" charset="-122"/>
                <a:cs typeface="Segoe UI" pitchFamily="34" charset="-120"/>
              </a:rPr>
              <a:t>Berhenti pada deskripsi: menjelaskan apa yang terlihat di grafik.</a:t>
            </a:r>
            <a:endParaRPr lang="en-US" sz="2100" dirty="0"/>
          </a:p>
        </p:txBody>
      </p:sp>
      <p:sp>
        <p:nvSpPr>
          <p:cNvPr id="9" name="Text 7"/>
          <p:cNvSpPr/>
          <p:nvPr/>
        </p:nvSpPr>
        <p:spPr>
          <a:xfrm>
            <a:off x="1436370" y="4588669"/>
            <a:ext cx="7361987" cy="42481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52524C"/>
                </a:solidFill>
                <a:latin typeface="Segoe UI" pitchFamily="34" charset="0"/>
                <a:ea typeface="Segoe UI" pitchFamily="34" charset="-122"/>
                <a:cs typeface="Segoe UI" pitchFamily="34" charset="-120"/>
              </a:rPr>
              <a:t>Rekomendasi bersifat umum dan normatif.</a:t>
            </a:r>
            <a:endParaRPr lang="en-US" sz="2100" dirty="0"/>
          </a:p>
        </p:txBody>
      </p:sp>
      <p:sp>
        <p:nvSpPr>
          <p:cNvPr id="10" name="Text 8"/>
          <p:cNvSpPr/>
          <p:nvPr/>
        </p:nvSpPr>
        <p:spPr>
          <a:xfrm>
            <a:off x="1436370" y="5184934"/>
            <a:ext cx="7361987" cy="81153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2100" dirty="0">
                <a:solidFill>
                  <a:srgbClr val="52524C"/>
                </a:solidFill>
                <a:latin typeface="Segoe UI" pitchFamily="34" charset="0"/>
                <a:ea typeface="Segoe UI" pitchFamily="34" charset="-122"/>
                <a:cs typeface="Segoe UI" pitchFamily="34" charset="-120"/>
              </a:rPr>
              <a:t>Visualisasi berdiri sendiri tanpa argumen yang menghubungkan.</a:t>
            </a:r>
            <a:endParaRPr lang="en-US" sz="2100" dirty="0"/>
          </a:p>
        </p:txBody>
      </p:sp>
      <p:sp>
        <p:nvSpPr>
          <p:cNvPr id="11" name="Shape 9"/>
          <p:cNvSpPr/>
          <p:nvPr/>
        </p:nvSpPr>
        <p:spPr>
          <a:xfrm>
            <a:off x="9315450" y="2403634"/>
            <a:ext cx="7924800" cy="7159466"/>
          </a:xfrm>
          <a:prstGeom prst="roundRect">
            <a:avLst>
              <a:gd name="adj" fmla="val 2129"/>
            </a:avLst>
          </a:prstGeom>
          <a:solidFill>
            <a:srgbClr val="FFEEE8"/>
          </a:solidFill>
          <a:ln w="15240">
            <a:solidFill>
              <a:srgbClr val="F2654E"/>
            </a:solidFill>
            <a:prstDash val="solid"/>
          </a:ln>
        </p:spPr>
        <p:txBody>
          <a:bodyPr/>
          <a:lstStyle/>
          <a:p>
            <a:endParaRPr lang="en-ID"/>
          </a:p>
        </p:txBody>
      </p:sp>
      <p:sp>
        <p:nvSpPr>
          <p:cNvPr id="12" name="Text 10"/>
          <p:cNvSpPr/>
          <p:nvPr/>
        </p:nvSpPr>
        <p:spPr>
          <a:xfrm>
            <a:off x="9711690" y="2780824"/>
            <a:ext cx="7346289" cy="365760"/>
          </a:xfrm>
          <a:prstGeom prst="rect">
            <a:avLst/>
          </a:prstGeom>
          <a:noFill/>
          <a:ln/>
        </p:spPr>
        <p:txBody>
          <a:bodyPr wrap="square" lIns="25400" tIns="25400" rIns="25400" bIns="25400" rtlCol="0" anchor="t">
            <a:normAutofit/>
          </a:bodyPr>
          <a:lstStyle/>
          <a:p>
            <a:pPr marL="0" indent="0" algn="l">
              <a:buNone/>
            </a:pPr>
            <a:r>
              <a:rPr lang="en-US" sz="1950" b="1" kern="0" spc="75" dirty="0">
                <a:solidFill>
                  <a:srgbClr val="F2654E"/>
                </a:solidFill>
                <a:latin typeface="Segoe UI" pitchFamily="34" charset="0"/>
                <a:ea typeface="Segoe UI" pitchFamily="34" charset="-122"/>
                <a:cs typeface="Segoe UI" pitchFamily="34" charset="-120"/>
              </a:rPr>
              <a:t>KELOMPOK UNGGUL</a:t>
            </a:r>
            <a:endParaRPr lang="en-US" sz="1950" dirty="0"/>
          </a:p>
        </p:txBody>
      </p:sp>
      <p:sp>
        <p:nvSpPr>
          <p:cNvPr id="13" name="Shape 11"/>
          <p:cNvSpPr/>
          <p:nvPr/>
        </p:nvSpPr>
        <p:spPr>
          <a:xfrm>
            <a:off x="9711690" y="3337084"/>
            <a:ext cx="7132320" cy="9525"/>
          </a:xfrm>
          <a:prstGeom prst="rect">
            <a:avLst/>
          </a:prstGeom>
          <a:solidFill>
            <a:srgbClr val="FFD4C8"/>
          </a:solidFill>
          <a:ln/>
        </p:spPr>
        <p:txBody>
          <a:bodyPr/>
          <a:lstStyle/>
          <a:p>
            <a:endParaRPr lang="en-ID"/>
          </a:p>
        </p:txBody>
      </p:sp>
      <p:sp>
        <p:nvSpPr>
          <p:cNvPr id="14" name="Text 12"/>
          <p:cNvSpPr/>
          <p:nvPr/>
        </p:nvSpPr>
        <p:spPr>
          <a:xfrm>
            <a:off x="9711690" y="3613309"/>
            <a:ext cx="7346289" cy="81153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2100" dirty="0">
                <a:solidFill>
                  <a:srgbClr val="7C3322"/>
                </a:solidFill>
                <a:latin typeface="Segoe UI" pitchFamily="34" charset="0"/>
                <a:ea typeface="Segoe UI" pitchFamily="34" charset="-122"/>
                <a:cs typeface="Segoe UI" pitchFamily="34" charset="-120"/>
              </a:rPr>
              <a:t>Mengubah visualisasi menjadi argumen bisnis yang meyakinkan.</a:t>
            </a:r>
            <a:endParaRPr lang="en-US" sz="2100" dirty="0"/>
          </a:p>
        </p:txBody>
      </p:sp>
      <p:sp>
        <p:nvSpPr>
          <p:cNvPr id="15" name="Text 13"/>
          <p:cNvSpPr/>
          <p:nvPr/>
        </p:nvSpPr>
        <p:spPr>
          <a:xfrm>
            <a:off x="9711690" y="4596289"/>
            <a:ext cx="7346289" cy="42481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7C3322"/>
                </a:solidFill>
                <a:latin typeface="Segoe UI" pitchFamily="34" charset="0"/>
                <a:ea typeface="Segoe UI" pitchFamily="34" charset="-122"/>
                <a:cs typeface="Segoe UI" pitchFamily="34" charset="-120"/>
              </a:rPr>
              <a:t>Rekomendasi spesifik, terukur, dan dapat ditindaklanjuti.</a:t>
            </a:r>
            <a:endParaRPr lang="en-US" sz="2100" dirty="0"/>
          </a:p>
        </p:txBody>
      </p:sp>
      <p:sp>
        <p:nvSpPr>
          <p:cNvPr id="16" name="Text 14"/>
          <p:cNvSpPr/>
          <p:nvPr/>
        </p:nvSpPr>
        <p:spPr>
          <a:xfrm>
            <a:off x="9711690" y="5192554"/>
            <a:ext cx="7346289" cy="81153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7C3322"/>
                </a:solidFill>
                <a:latin typeface="Segoe UI" pitchFamily="34" charset="0"/>
                <a:ea typeface="Segoe UI" pitchFamily="34" charset="-122"/>
                <a:cs typeface="Segoe UI" pitchFamily="34" charset="-120"/>
              </a:rPr>
              <a:t>Menjawab pertanyaan so what dan now what lewat sintesis lintas dashboard.</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762000"/>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2654E"/>
                </a:solidFill>
                <a:latin typeface="Segoe UI" pitchFamily="34" charset="0"/>
                <a:ea typeface="Segoe UI" pitchFamily="34" charset="-122"/>
                <a:cs typeface="Segoe UI" pitchFamily="34" charset="-120"/>
              </a:rPr>
              <a:t>14 / RUBRIK PENILAIAN</a:t>
            </a:r>
            <a:endParaRPr lang="en-US" sz="1800" dirty="0"/>
          </a:p>
        </p:txBody>
      </p:sp>
      <p:sp>
        <p:nvSpPr>
          <p:cNvPr id="3" name="Text 1"/>
          <p:cNvSpPr/>
          <p:nvPr/>
        </p:nvSpPr>
        <p:spPr>
          <a:xfrm>
            <a:off x="1047750" y="1181100"/>
            <a:ext cx="16678275" cy="563047"/>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3900" b="1" kern="0" spc="-37" dirty="0">
                <a:solidFill>
                  <a:srgbClr val="23231F"/>
                </a:solidFill>
                <a:latin typeface="Segoe UI" pitchFamily="34" charset="0"/>
                <a:ea typeface="Segoe UI" pitchFamily="34" charset="-122"/>
                <a:cs typeface="Segoe UI" pitchFamily="34" charset="-120"/>
              </a:rPr>
              <a:t>Bagaimana proyek dinilai</a:t>
            </a:r>
            <a:endParaRPr lang="en-US" sz="3900" dirty="0"/>
          </a:p>
        </p:txBody>
      </p:sp>
      <p:sp>
        <p:nvSpPr>
          <p:cNvPr id="4" name="Shape 2"/>
          <p:cNvSpPr/>
          <p:nvPr/>
        </p:nvSpPr>
        <p:spPr>
          <a:xfrm>
            <a:off x="1047750" y="1877497"/>
            <a:ext cx="685800" cy="47625"/>
          </a:xfrm>
          <a:prstGeom prst="roundRect">
            <a:avLst>
              <a:gd name="adj" fmla="val 50000"/>
            </a:avLst>
          </a:prstGeom>
          <a:solidFill>
            <a:srgbClr val="F2654E"/>
          </a:solidFill>
          <a:ln/>
        </p:spPr>
        <p:txBody>
          <a:bodyPr/>
          <a:lstStyle/>
          <a:p>
            <a:endParaRPr lang="en-ID"/>
          </a:p>
        </p:txBody>
      </p:sp>
      <p:sp>
        <p:nvSpPr>
          <p:cNvPr id="5" name="Text 3"/>
          <p:cNvSpPr/>
          <p:nvPr/>
        </p:nvSpPr>
        <p:spPr>
          <a:xfrm>
            <a:off x="1047750" y="3757136"/>
            <a:ext cx="5494020" cy="693420"/>
          </a:xfrm>
          <a:prstGeom prst="rect">
            <a:avLst/>
          </a:prstGeom>
          <a:noFill/>
          <a:ln/>
        </p:spPr>
        <p:txBody>
          <a:bodyPr wrap="square" lIns="25400" tIns="25400" rIns="25400" bIns="25400" rtlCol="0" anchor="t">
            <a:normAutofit/>
          </a:bodyPr>
          <a:lstStyle/>
          <a:p>
            <a:pPr marL="0" indent="0" algn="l">
              <a:buNone/>
            </a:pPr>
            <a:r>
              <a:rPr lang="en-US" sz="1950" dirty="0">
                <a:solidFill>
                  <a:srgbClr val="23231F"/>
                </a:solidFill>
                <a:latin typeface="Segoe UI" pitchFamily="34" charset="0"/>
                <a:ea typeface="Segoe UI" pitchFamily="34" charset="-122"/>
                <a:cs typeface="Segoe UI" pitchFamily="34" charset="-120"/>
              </a:rPr>
              <a:t>Pemahaman dataset dan framing business question</a:t>
            </a:r>
            <a:endParaRPr lang="en-US" sz="1950" dirty="0"/>
          </a:p>
        </p:txBody>
      </p:sp>
      <p:sp>
        <p:nvSpPr>
          <p:cNvPr id="6" name="Shape 4"/>
          <p:cNvSpPr/>
          <p:nvPr/>
        </p:nvSpPr>
        <p:spPr>
          <a:xfrm>
            <a:off x="6610350" y="3980021"/>
            <a:ext cx="9544050" cy="209550"/>
          </a:xfrm>
          <a:prstGeom prst="roundRect">
            <a:avLst>
              <a:gd name="adj" fmla="val 27273"/>
            </a:avLst>
          </a:prstGeom>
          <a:solidFill>
            <a:srgbClr val="E6E4DD"/>
          </a:solidFill>
          <a:ln/>
        </p:spPr>
        <p:txBody>
          <a:bodyPr/>
          <a:lstStyle/>
          <a:p>
            <a:endParaRPr lang="en-ID"/>
          </a:p>
        </p:txBody>
      </p:sp>
      <p:sp>
        <p:nvSpPr>
          <p:cNvPr id="7" name="Shape 5"/>
          <p:cNvSpPr/>
          <p:nvPr/>
        </p:nvSpPr>
        <p:spPr>
          <a:xfrm>
            <a:off x="6610350" y="3980021"/>
            <a:ext cx="4772025" cy="209550"/>
          </a:xfrm>
          <a:prstGeom prst="roundRect">
            <a:avLst>
              <a:gd name="adj" fmla="val 27273"/>
            </a:avLst>
          </a:prstGeom>
          <a:solidFill>
            <a:srgbClr val="FFCBBE"/>
          </a:solidFill>
          <a:ln/>
        </p:spPr>
        <p:txBody>
          <a:bodyPr/>
          <a:lstStyle/>
          <a:p>
            <a:endParaRPr lang="en-ID"/>
          </a:p>
        </p:txBody>
      </p:sp>
      <p:sp>
        <p:nvSpPr>
          <p:cNvPr id="8" name="Text 6"/>
          <p:cNvSpPr/>
          <p:nvPr/>
        </p:nvSpPr>
        <p:spPr>
          <a:xfrm>
            <a:off x="16306800" y="3920966"/>
            <a:ext cx="933450" cy="365760"/>
          </a:xfrm>
          <a:prstGeom prst="rect">
            <a:avLst/>
          </a:prstGeom>
          <a:noFill/>
          <a:ln/>
        </p:spPr>
        <p:txBody>
          <a:bodyPr wrap="square" lIns="25400" tIns="25400" rIns="25400" bIns="25400" rtlCol="0" anchor="t">
            <a:normAutofit/>
          </a:bodyPr>
          <a:lstStyle/>
          <a:p>
            <a:pPr marL="0" indent="0" algn="r">
              <a:buNone/>
            </a:pPr>
            <a:r>
              <a:rPr lang="en-US" sz="1950" b="1" dirty="0">
                <a:solidFill>
                  <a:srgbClr val="23231F"/>
                </a:solidFill>
                <a:latin typeface="Segoe UI" pitchFamily="34" charset="0"/>
                <a:ea typeface="Segoe UI" pitchFamily="34" charset="-122"/>
                <a:cs typeface="Segoe UI" pitchFamily="34" charset="-120"/>
              </a:rPr>
              <a:t>10%</a:t>
            </a:r>
            <a:endParaRPr lang="en-US" sz="1950" dirty="0"/>
          </a:p>
        </p:txBody>
      </p:sp>
      <p:sp>
        <p:nvSpPr>
          <p:cNvPr id="9" name="Text 7"/>
          <p:cNvSpPr/>
          <p:nvPr/>
        </p:nvSpPr>
        <p:spPr>
          <a:xfrm>
            <a:off x="1047750" y="4517231"/>
            <a:ext cx="5494020" cy="365760"/>
          </a:xfrm>
          <a:prstGeom prst="rect">
            <a:avLst/>
          </a:prstGeom>
          <a:noFill/>
          <a:ln/>
        </p:spPr>
        <p:txBody>
          <a:bodyPr wrap="square" lIns="25400" tIns="25400" rIns="25400" bIns="25400" rtlCol="0" anchor="t">
            <a:normAutofit/>
          </a:bodyPr>
          <a:lstStyle/>
          <a:p>
            <a:pPr marL="0" indent="0" algn="l">
              <a:buNone/>
            </a:pPr>
            <a:r>
              <a:rPr lang="en-US" sz="1950" dirty="0">
                <a:solidFill>
                  <a:srgbClr val="23231F"/>
                </a:solidFill>
                <a:latin typeface="Segoe UI" pitchFamily="34" charset="0"/>
                <a:ea typeface="Segoe UI" pitchFamily="34" charset="-122"/>
                <a:cs typeface="Segoe UI" pitchFamily="34" charset="-120"/>
              </a:rPr>
              <a:t>Dashboard 1: kualitas dan interaktivitas</a:t>
            </a:r>
            <a:endParaRPr lang="en-US" sz="1950" dirty="0"/>
          </a:p>
        </p:txBody>
      </p:sp>
      <p:sp>
        <p:nvSpPr>
          <p:cNvPr id="10" name="Shape 8"/>
          <p:cNvSpPr/>
          <p:nvPr/>
        </p:nvSpPr>
        <p:spPr>
          <a:xfrm>
            <a:off x="6610350" y="4576286"/>
            <a:ext cx="9544050" cy="209550"/>
          </a:xfrm>
          <a:prstGeom prst="roundRect">
            <a:avLst>
              <a:gd name="adj" fmla="val 27273"/>
            </a:avLst>
          </a:prstGeom>
          <a:solidFill>
            <a:srgbClr val="E6E4DD"/>
          </a:solidFill>
          <a:ln/>
        </p:spPr>
        <p:txBody>
          <a:bodyPr/>
          <a:lstStyle/>
          <a:p>
            <a:endParaRPr lang="en-ID"/>
          </a:p>
        </p:txBody>
      </p:sp>
      <p:sp>
        <p:nvSpPr>
          <p:cNvPr id="11" name="Shape 9"/>
          <p:cNvSpPr/>
          <p:nvPr/>
        </p:nvSpPr>
        <p:spPr>
          <a:xfrm>
            <a:off x="6610350" y="4576286"/>
            <a:ext cx="7158038" cy="209550"/>
          </a:xfrm>
          <a:prstGeom prst="roundRect">
            <a:avLst>
              <a:gd name="adj" fmla="val 27273"/>
            </a:avLst>
          </a:prstGeom>
          <a:solidFill>
            <a:srgbClr val="F58974"/>
          </a:solidFill>
          <a:ln/>
        </p:spPr>
        <p:txBody>
          <a:bodyPr/>
          <a:lstStyle/>
          <a:p>
            <a:endParaRPr lang="en-ID"/>
          </a:p>
        </p:txBody>
      </p:sp>
      <p:sp>
        <p:nvSpPr>
          <p:cNvPr id="12" name="Text 10"/>
          <p:cNvSpPr/>
          <p:nvPr/>
        </p:nvSpPr>
        <p:spPr>
          <a:xfrm>
            <a:off x="16306800" y="4517231"/>
            <a:ext cx="933450" cy="365760"/>
          </a:xfrm>
          <a:prstGeom prst="rect">
            <a:avLst/>
          </a:prstGeom>
          <a:noFill/>
          <a:ln/>
        </p:spPr>
        <p:txBody>
          <a:bodyPr wrap="square" lIns="25400" tIns="25400" rIns="25400" bIns="25400" rtlCol="0" anchor="t">
            <a:normAutofit/>
          </a:bodyPr>
          <a:lstStyle/>
          <a:p>
            <a:pPr marL="0" indent="0" algn="r">
              <a:buNone/>
            </a:pPr>
            <a:r>
              <a:rPr lang="en-US" sz="1950" b="1" dirty="0">
                <a:solidFill>
                  <a:srgbClr val="23231F"/>
                </a:solidFill>
                <a:latin typeface="Segoe UI" pitchFamily="34" charset="0"/>
                <a:ea typeface="Segoe UI" pitchFamily="34" charset="-122"/>
                <a:cs typeface="Segoe UI" pitchFamily="34" charset="-120"/>
              </a:rPr>
              <a:t>15%</a:t>
            </a:r>
            <a:endParaRPr lang="en-US" sz="1950" dirty="0"/>
          </a:p>
        </p:txBody>
      </p:sp>
      <p:sp>
        <p:nvSpPr>
          <p:cNvPr id="13" name="Text 11"/>
          <p:cNvSpPr/>
          <p:nvPr/>
        </p:nvSpPr>
        <p:spPr>
          <a:xfrm>
            <a:off x="1047750" y="4949666"/>
            <a:ext cx="5494020" cy="365760"/>
          </a:xfrm>
          <a:prstGeom prst="rect">
            <a:avLst/>
          </a:prstGeom>
          <a:noFill/>
          <a:ln/>
        </p:spPr>
        <p:txBody>
          <a:bodyPr wrap="square" lIns="25400" tIns="25400" rIns="25400" bIns="25400" rtlCol="0" anchor="t">
            <a:normAutofit/>
          </a:bodyPr>
          <a:lstStyle/>
          <a:p>
            <a:pPr marL="0" indent="0" algn="l">
              <a:buNone/>
            </a:pPr>
            <a:r>
              <a:rPr lang="en-US" sz="1950" dirty="0">
                <a:solidFill>
                  <a:srgbClr val="23231F"/>
                </a:solidFill>
                <a:latin typeface="Segoe UI" pitchFamily="34" charset="0"/>
                <a:ea typeface="Segoe UI" pitchFamily="34" charset="-122"/>
                <a:cs typeface="Segoe UI" pitchFamily="34" charset="-120"/>
              </a:rPr>
              <a:t>Dashboard 2: kualitas dan komplementaritas</a:t>
            </a:r>
            <a:endParaRPr lang="en-US" sz="1950" dirty="0"/>
          </a:p>
        </p:txBody>
      </p:sp>
      <p:sp>
        <p:nvSpPr>
          <p:cNvPr id="14" name="Shape 12"/>
          <p:cNvSpPr/>
          <p:nvPr/>
        </p:nvSpPr>
        <p:spPr>
          <a:xfrm>
            <a:off x="6610350" y="5008722"/>
            <a:ext cx="9544050" cy="209550"/>
          </a:xfrm>
          <a:prstGeom prst="roundRect">
            <a:avLst>
              <a:gd name="adj" fmla="val 27273"/>
            </a:avLst>
          </a:prstGeom>
          <a:solidFill>
            <a:srgbClr val="E6E4DD"/>
          </a:solidFill>
          <a:ln/>
        </p:spPr>
        <p:txBody>
          <a:bodyPr/>
          <a:lstStyle/>
          <a:p>
            <a:endParaRPr lang="en-ID"/>
          </a:p>
        </p:txBody>
      </p:sp>
      <p:sp>
        <p:nvSpPr>
          <p:cNvPr id="15" name="Shape 13"/>
          <p:cNvSpPr/>
          <p:nvPr/>
        </p:nvSpPr>
        <p:spPr>
          <a:xfrm>
            <a:off x="6610350" y="5008722"/>
            <a:ext cx="7158038" cy="209550"/>
          </a:xfrm>
          <a:prstGeom prst="roundRect">
            <a:avLst>
              <a:gd name="adj" fmla="val 27273"/>
            </a:avLst>
          </a:prstGeom>
          <a:solidFill>
            <a:srgbClr val="F58974"/>
          </a:solidFill>
          <a:ln/>
        </p:spPr>
        <p:txBody>
          <a:bodyPr/>
          <a:lstStyle/>
          <a:p>
            <a:endParaRPr lang="en-ID"/>
          </a:p>
        </p:txBody>
      </p:sp>
      <p:sp>
        <p:nvSpPr>
          <p:cNvPr id="16" name="Text 14"/>
          <p:cNvSpPr/>
          <p:nvPr/>
        </p:nvSpPr>
        <p:spPr>
          <a:xfrm>
            <a:off x="16306800" y="4949666"/>
            <a:ext cx="933450" cy="365760"/>
          </a:xfrm>
          <a:prstGeom prst="rect">
            <a:avLst/>
          </a:prstGeom>
          <a:noFill/>
          <a:ln/>
        </p:spPr>
        <p:txBody>
          <a:bodyPr wrap="square" lIns="25400" tIns="25400" rIns="25400" bIns="25400" rtlCol="0" anchor="t">
            <a:normAutofit/>
          </a:bodyPr>
          <a:lstStyle/>
          <a:p>
            <a:pPr marL="0" indent="0" algn="r">
              <a:buNone/>
            </a:pPr>
            <a:r>
              <a:rPr lang="en-US" sz="1950" b="1" dirty="0">
                <a:solidFill>
                  <a:srgbClr val="23231F"/>
                </a:solidFill>
                <a:latin typeface="Segoe UI" pitchFamily="34" charset="0"/>
                <a:ea typeface="Segoe UI" pitchFamily="34" charset="-122"/>
                <a:cs typeface="Segoe UI" pitchFamily="34" charset="-120"/>
              </a:rPr>
              <a:t>15%</a:t>
            </a:r>
            <a:endParaRPr lang="en-US" sz="1950" dirty="0"/>
          </a:p>
        </p:txBody>
      </p:sp>
      <p:sp>
        <p:nvSpPr>
          <p:cNvPr id="17" name="Text 15"/>
          <p:cNvSpPr/>
          <p:nvPr/>
        </p:nvSpPr>
        <p:spPr>
          <a:xfrm>
            <a:off x="1047750" y="5382101"/>
            <a:ext cx="5494020" cy="365760"/>
          </a:xfrm>
          <a:prstGeom prst="rect">
            <a:avLst/>
          </a:prstGeom>
          <a:noFill/>
          <a:ln/>
        </p:spPr>
        <p:txBody>
          <a:bodyPr wrap="square" lIns="25400" tIns="25400" rIns="25400" bIns="25400" rtlCol="0" anchor="t">
            <a:normAutofit/>
          </a:bodyPr>
          <a:lstStyle/>
          <a:p>
            <a:pPr marL="0" indent="0" algn="l">
              <a:buNone/>
            </a:pPr>
            <a:r>
              <a:rPr lang="en-US" sz="1950" dirty="0">
                <a:solidFill>
                  <a:srgbClr val="23231F"/>
                </a:solidFill>
                <a:latin typeface="Segoe UI" pitchFamily="34" charset="0"/>
                <a:ea typeface="Segoe UI" pitchFamily="34" charset="-122"/>
                <a:cs typeface="Segoe UI" pitchFamily="34" charset="-120"/>
              </a:rPr>
              <a:t>Tableau Story: alur naratif dan kohesivitas</a:t>
            </a:r>
            <a:endParaRPr lang="en-US" sz="1950" dirty="0"/>
          </a:p>
        </p:txBody>
      </p:sp>
      <p:sp>
        <p:nvSpPr>
          <p:cNvPr id="18" name="Shape 16"/>
          <p:cNvSpPr/>
          <p:nvPr/>
        </p:nvSpPr>
        <p:spPr>
          <a:xfrm>
            <a:off x="6610350" y="5441156"/>
            <a:ext cx="9544050" cy="209550"/>
          </a:xfrm>
          <a:prstGeom prst="roundRect">
            <a:avLst>
              <a:gd name="adj" fmla="val 27273"/>
            </a:avLst>
          </a:prstGeom>
          <a:solidFill>
            <a:srgbClr val="E6E4DD"/>
          </a:solidFill>
          <a:ln/>
        </p:spPr>
        <p:txBody>
          <a:bodyPr/>
          <a:lstStyle/>
          <a:p>
            <a:endParaRPr lang="en-ID"/>
          </a:p>
        </p:txBody>
      </p:sp>
      <p:sp>
        <p:nvSpPr>
          <p:cNvPr id="19" name="Shape 17"/>
          <p:cNvSpPr/>
          <p:nvPr/>
        </p:nvSpPr>
        <p:spPr>
          <a:xfrm>
            <a:off x="6610350" y="5441156"/>
            <a:ext cx="7158038" cy="209550"/>
          </a:xfrm>
          <a:prstGeom prst="roundRect">
            <a:avLst>
              <a:gd name="adj" fmla="val 27273"/>
            </a:avLst>
          </a:prstGeom>
          <a:solidFill>
            <a:srgbClr val="F58974"/>
          </a:solidFill>
          <a:ln/>
        </p:spPr>
        <p:txBody>
          <a:bodyPr/>
          <a:lstStyle/>
          <a:p>
            <a:endParaRPr lang="en-ID"/>
          </a:p>
        </p:txBody>
      </p:sp>
      <p:sp>
        <p:nvSpPr>
          <p:cNvPr id="20" name="Text 18"/>
          <p:cNvSpPr/>
          <p:nvPr/>
        </p:nvSpPr>
        <p:spPr>
          <a:xfrm>
            <a:off x="16306800" y="5382101"/>
            <a:ext cx="933450" cy="365760"/>
          </a:xfrm>
          <a:prstGeom prst="rect">
            <a:avLst/>
          </a:prstGeom>
          <a:noFill/>
          <a:ln/>
        </p:spPr>
        <p:txBody>
          <a:bodyPr wrap="square" lIns="25400" tIns="25400" rIns="25400" bIns="25400" rtlCol="0" anchor="t">
            <a:normAutofit/>
          </a:bodyPr>
          <a:lstStyle/>
          <a:p>
            <a:pPr marL="0" indent="0" algn="r">
              <a:buNone/>
            </a:pPr>
            <a:r>
              <a:rPr lang="en-US" sz="1950" b="1" dirty="0">
                <a:solidFill>
                  <a:srgbClr val="23231F"/>
                </a:solidFill>
                <a:latin typeface="Segoe UI" pitchFamily="34" charset="0"/>
                <a:ea typeface="Segoe UI" pitchFamily="34" charset="-122"/>
                <a:cs typeface="Segoe UI" pitchFamily="34" charset="-120"/>
              </a:rPr>
              <a:t>15%</a:t>
            </a:r>
            <a:endParaRPr lang="en-US" sz="1950" dirty="0"/>
          </a:p>
        </p:txBody>
      </p:sp>
      <p:sp>
        <p:nvSpPr>
          <p:cNvPr id="21" name="Text 19"/>
          <p:cNvSpPr/>
          <p:nvPr/>
        </p:nvSpPr>
        <p:spPr>
          <a:xfrm>
            <a:off x="1047750" y="5814536"/>
            <a:ext cx="5494020" cy="365760"/>
          </a:xfrm>
          <a:prstGeom prst="rect">
            <a:avLst/>
          </a:prstGeom>
          <a:noFill/>
          <a:ln/>
        </p:spPr>
        <p:txBody>
          <a:bodyPr wrap="square" lIns="25400" tIns="25400" rIns="25400" bIns="25400" rtlCol="0" anchor="t">
            <a:normAutofit/>
          </a:bodyPr>
          <a:lstStyle/>
          <a:p>
            <a:pPr marL="0" indent="0" algn="l">
              <a:buNone/>
            </a:pPr>
            <a:r>
              <a:rPr lang="en-US" sz="1950" dirty="0">
                <a:solidFill>
                  <a:srgbClr val="23231F"/>
                </a:solidFill>
                <a:latin typeface="Segoe UI" pitchFamily="34" charset="0"/>
                <a:ea typeface="Segoe UI" pitchFamily="34" charset="-122"/>
                <a:cs typeface="Segoe UI" pitchFamily="34" charset="-120"/>
              </a:rPr>
              <a:t>Interpretasi temuan visual (Bab 4 dan 5)</a:t>
            </a:r>
            <a:endParaRPr lang="en-US" sz="1950" dirty="0"/>
          </a:p>
        </p:txBody>
      </p:sp>
      <p:sp>
        <p:nvSpPr>
          <p:cNvPr id="22" name="Shape 20"/>
          <p:cNvSpPr/>
          <p:nvPr/>
        </p:nvSpPr>
        <p:spPr>
          <a:xfrm>
            <a:off x="6610350" y="5873591"/>
            <a:ext cx="9544050" cy="209550"/>
          </a:xfrm>
          <a:prstGeom prst="roundRect">
            <a:avLst>
              <a:gd name="adj" fmla="val 27273"/>
            </a:avLst>
          </a:prstGeom>
          <a:solidFill>
            <a:srgbClr val="E6E4DD"/>
          </a:solidFill>
          <a:ln/>
        </p:spPr>
        <p:txBody>
          <a:bodyPr/>
          <a:lstStyle/>
          <a:p>
            <a:endParaRPr lang="en-ID"/>
          </a:p>
        </p:txBody>
      </p:sp>
      <p:sp>
        <p:nvSpPr>
          <p:cNvPr id="23" name="Shape 21"/>
          <p:cNvSpPr/>
          <p:nvPr/>
        </p:nvSpPr>
        <p:spPr>
          <a:xfrm>
            <a:off x="6610350" y="5873591"/>
            <a:ext cx="4772025" cy="209550"/>
          </a:xfrm>
          <a:prstGeom prst="roundRect">
            <a:avLst>
              <a:gd name="adj" fmla="val 27273"/>
            </a:avLst>
          </a:prstGeom>
          <a:solidFill>
            <a:srgbClr val="FFCBBE"/>
          </a:solidFill>
          <a:ln/>
        </p:spPr>
        <p:txBody>
          <a:bodyPr/>
          <a:lstStyle/>
          <a:p>
            <a:endParaRPr lang="en-ID"/>
          </a:p>
        </p:txBody>
      </p:sp>
      <p:sp>
        <p:nvSpPr>
          <p:cNvPr id="24" name="Text 22"/>
          <p:cNvSpPr/>
          <p:nvPr/>
        </p:nvSpPr>
        <p:spPr>
          <a:xfrm>
            <a:off x="16306800" y="5814536"/>
            <a:ext cx="933450" cy="365760"/>
          </a:xfrm>
          <a:prstGeom prst="rect">
            <a:avLst/>
          </a:prstGeom>
          <a:noFill/>
          <a:ln/>
        </p:spPr>
        <p:txBody>
          <a:bodyPr wrap="square" lIns="25400" tIns="25400" rIns="25400" bIns="25400" rtlCol="0" anchor="t">
            <a:normAutofit/>
          </a:bodyPr>
          <a:lstStyle/>
          <a:p>
            <a:pPr marL="0" indent="0" algn="r">
              <a:buNone/>
            </a:pPr>
            <a:r>
              <a:rPr lang="en-US" sz="1950" b="1" dirty="0">
                <a:solidFill>
                  <a:srgbClr val="23231F"/>
                </a:solidFill>
                <a:latin typeface="Segoe UI" pitchFamily="34" charset="0"/>
                <a:ea typeface="Segoe UI" pitchFamily="34" charset="-122"/>
                <a:cs typeface="Segoe UI" pitchFamily="34" charset="-120"/>
              </a:rPr>
              <a:t>10%</a:t>
            </a:r>
            <a:endParaRPr lang="en-US" sz="1950" dirty="0"/>
          </a:p>
        </p:txBody>
      </p:sp>
      <p:sp>
        <p:nvSpPr>
          <p:cNvPr id="25" name="Shape 23"/>
          <p:cNvSpPr/>
          <p:nvPr/>
        </p:nvSpPr>
        <p:spPr>
          <a:xfrm>
            <a:off x="914400" y="6227922"/>
            <a:ext cx="16459200" cy="510540"/>
          </a:xfrm>
          <a:prstGeom prst="roundRect">
            <a:avLst>
              <a:gd name="adj" fmla="val 14925"/>
            </a:avLst>
          </a:prstGeom>
          <a:solidFill>
            <a:srgbClr val="FFEEE8"/>
          </a:solidFill>
          <a:ln/>
        </p:spPr>
        <p:txBody>
          <a:bodyPr/>
          <a:lstStyle/>
          <a:p>
            <a:endParaRPr lang="en-ID"/>
          </a:p>
        </p:txBody>
      </p:sp>
      <p:sp>
        <p:nvSpPr>
          <p:cNvPr id="26" name="Text 24"/>
          <p:cNvSpPr/>
          <p:nvPr/>
        </p:nvSpPr>
        <p:spPr>
          <a:xfrm>
            <a:off x="1047750" y="6315551"/>
            <a:ext cx="5494020"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B0402C"/>
                </a:solidFill>
                <a:latin typeface="Segoe UI" pitchFamily="34" charset="0"/>
                <a:ea typeface="Segoe UI" pitchFamily="34" charset="-122"/>
                <a:cs typeface="Segoe UI" pitchFamily="34" charset="-120"/>
              </a:rPr>
              <a:t>Rekomendasi Strategis (Bab 7)</a:t>
            </a:r>
            <a:endParaRPr lang="en-US" sz="2025" dirty="0"/>
          </a:p>
        </p:txBody>
      </p:sp>
      <p:sp>
        <p:nvSpPr>
          <p:cNvPr id="27" name="Shape 25"/>
          <p:cNvSpPr/>
          <p:nvPr/>
        </p:nvSpPr>
        <p:spPr>
          <a:xfrm>
            <a:off x="6610350" y="6368891"/>
            <a:ext cx="9544050" cy="228600"/>
          </a:xfrm>
          <a:prstGeom prst="roundRect">
            <a:avLst>
              <a:gd name="adj" fmla="val 25000"/>
            </a:avLst>
          </a:prstGeom>
          <a:solidFill>
            <a:srgbClr val="FFD4C8"/>
          </a:solidFill>
          <a:ln/>
        </p:spPr>
        <p:txBody>
          <a:bodyPr/>
          <a:lstStyle/>
          <a:p>
            <a:endParaRPr lang="en-ID"/>
          </a:p>
        </p:txBody>
      </p:sp>
      <p:sp>
        <p:nvSpPr>
          <p:cNvPr id="28" name="Shape 26"/>
          <p:cNvSpPr/>
          <p:nvPr/>
        </p:nvSpPr>
        <p:spPr>
          <a:xfrm>
            <a:off x="6610350" y="6368891"/>
            <a:ext cx="9544050" cy="228600"/>
          </a:xfrm>
          <a:prstGeom prst="roundRect">
            <a:avLst>
              <a:gd name="adj" fmla="val 25000"/>
            </a:avLst>
          </a:prstGeom>
          <a:solidFill>
            <a:srgbClr val="F2654E"/>
          </a:solidFill>
          <a:ln/>
        </p:spPr>
        <p:txBody>
          <a:bodyPr/>
          <a:lstStyle/>
          <a:p>
            <a:endParaRPr lang="en-ID"/>
          </a:p>
        </p:txBody>
      </p:sp>
      <p:sp>
        <p:nvSpPr>
          <p:cNvPr id="29" name="Text 27"/>
          <p:cNvSpPr/>
          <p:nvPr/>
        </p:nvSpPr>
        <p:spPr>
          <a:xfrm>
            <a:off x="16306800" y="6304122"/>
            <a:ext cx="933450" cy="396240"/>
          </a:xfrm>
          <a:prstGeom prst="rect">
            <a:avLst/>
          </a:prstGeom>
          <a:noFill/>
          <a:ln/>
        </p:spPr>
        <p:txBody>
          <a:bodyPr wrap="square" lIns="25400" tIns="25400" rIns="25400" bIns="25400" rtlCol="0" anchor="t">
            <a:normAutofit/>
          </a:bodyPr>
          <a:lstStyle/>
          <a:p>
            <a:pPr marL="0" indent="0" algn="r">
              <a:buNone/>
            </a:pPr>
            <a:r>
              <a:rPr lang="en-US" sz="2100" b="1" dirty="0">
                <a:solidFill>
                  <a:srgbClr val="B0402C"/>
                </a:solidFill>
                <a:latin typeface="Segoe UI" pitchFamily="34" charset="0"/>
                <a:ea typeface="Segoe UI" pitchFamily="34" charset="-122"/>
                <a:cs typeface="Segoe UI" pitchFamily="34" charset="-120"/>
              </a:rPr>
              <a:t>20%</a:t>
            </a:r>
            <a:endParaRPr lang="en-US" sz="2100" dirty="0"/>
          </a:p>
        </p:txBody>
      </p:sp>
      <p:sp>
        <p:nvSpPr>
          <p:cNvPr id="30" name="Text 28"/>
          <p:cNvSpPr/>
          <p:nvPr/>
        </p:nvSpPr>
        <p:spPr>
          <a:xfrm>
            <a:off x="1047750" y="6824186"/>
            <a:ext cx="5494020" cy="365760"/>
          </a:xfrm>
          <a:prstGeom prst="rect">
            <a:avLst/>
          </a:prstGeom>
          <a:noFill/>
          <a:ln/>
        </p:spPr>
        <p:txBody>
          <a:bodyPr wrap="square" lIns="25400" tIns="25400" rIns="25400" bIns="25400" rtlCol="0" anchor="t">
            <a:normAutofit/>
          </a:bodyPr>
          <a:lstStyle/>
          <a:p>
            <a:pPr marL="0" indent="0" algn="l">
              <a:buNone/>
            </a:pPr>
            <a:r>
              <a:rPr lang="en-US" sz="1950" dirty="0">
                <a:solidFill>
                  <a:srgbClr val="23231F"/>
                </a:solidFill>
                <a:latin typeface="Segoe UI" pitchFamily="34" charset="0"/>
                <a:ea typeface="Segoe UI" pitchFamily="34" charset="-122"/>
                <a:cs typeface="Segoe UI" pitchFamily="34" charset="-120"/>
              </a:rPr>
              <a:t>Originalitas analisis dan kedalaman insight</a:t>
            </a:r>
            <a:endParaRPr lang="en-US" sz="1950" dirty="0"/>
          </a:p>
        </p:txBody>
      </p:sp>
      <p:sp>
        <p:nvSpPr>
          <p:cNvPr id="31" name="Shape 29"/>
          <p:cNvSpPr/>
          <p:nvPr/>
        </p:nvSpPr>
        <p:spPr>
          <a:xfrm>
            <a:off x="6610350" y="6883241"/>
            <a:ext cx="9544050" cy="209550"/>
          </a:xfrm>
          <a:prstGeom prst="roundRect">
            <a:avLst>
              <a:gd name="adj" fmla="val 27273"/>
            </a:avLst>
          </a:prstGeom>
          <a:solidFill>
            <a:srgbClr val="E6E4DD"/>
          </a:solidFill>
          <a:ln/>
        </p:spPr>
        <p:txBody>
          <a:bodyPr/>
          <a:lstStyle/>
          <a:p>
            <a:endParaRPr lang="en-ID"/>
          </a:p>
        </p:txBody>
      </p:sp>
      <p:sp>
        <p:nvSpPr>
          <p:cNvPr id="32" name="Shape 30"/>
          <p:cNvSpPr/>
          <p:nvPr/>
        </p:nvSpPr>
        <p:spPr>
          <a:xfrm>
            <a:off x="6610350" y="6883241"/>
            <a:ext cx="2386013" cy="209550"/>
          </a:xfrm>
          <a:prstGeom prst="roundRect">
            <a:avLst>
              <a:gd name="adj" fmla="val 27273"/>
            </a:avLst>
          </a:prstGeom>
          <a:solidFill>
            <a:srgbClr val="FFDDD4"/>
          </a:solidFill>
          <a:ln/>
        </p:spPr>
        <p:txBody>
          <a:bodyPr/>
          <a:lstStyle/>
          <a:p>
            <a:endParaRPr lang="en-ID"/>
          </a:p>
        </p:txBody>
      </p:sp>
      <p:sp>
        <p:nvSpPr>
          <p:cNvPr id="33" name="Text 31"/>
          <p:cNvSpPr/>
          <p:nvPr/>
        </p:nvSpPr>
        <p:spPr>
          <a:xfrm>
            <a:off x="16306800" y="6824186"/>
            <a:ext cx="933450" cy="365760"/>
          </a:xfrm>
          <a:prstGeom prst="rect">
            <a:avLst/>
          </a:prstGeom>
          <a:noFill/>
          <a:ln/>
        </p:spPr>
        <p:txBody>
          <a:bodyPr wrap="square" lIns="25400" tIns="25400" rIns="25400" bIns="25400" rtlCol="0" anchor="t">
            <a:normAutofit/>
          </a:bodyPr>
          <a:lstStyle/>
          <a:p>
            <a:pPr marL="0" indent="0" algn="r">
              <a:buNone/>
            </a:pPr>
            <a:r>
              <a:rPr lang="en-US" sz="1950" b="1" dirty="0">
                <a:solidFill>
                  <a:srgbClr val="23231F"/>
                </a:solidFill>
                <a:latin typeface="Segoe UI" pitchFamily="34" charset="0"/>
                <a:ea typeface="Segoe UI" pitchFamily="34" charset="-122"/>
                <a:cs typeface="Segoe UI" pitchFamily="34" charset="-120"/>
              </a:rPr>
              <a:t>5%</a:t>
            </a:r>
            <a:endParaRPr lang="en-US" sz="1950" dirty="0"/>
          </a:p>
        </p:txBody>
      </p:sp>
      <p:sp>
        <p:nvSpPr>
          <p:cNvPr id="34" name="Text 32"/>
          <p:cNvSpPr/>
          <p:nvPr/>
        </p:nvSpPr>
        <p:spPr>
          <a:xfrm>
            <a:off x="1047750" y="7256622"/>
            <a:ext cx="5494020" cy="365760"/>
          </a:xfrm>
          <a:prstGeom prst="rect">
            <a:avLst/>
          </a:prstGeom>
          <a:noFill/>
          <a:ln/>
        </p:spPr>
        <p:txBody>
          <a:bodyPr wrap="square" lIns="25400" tIns="25400" rIns="25400" bIns="25400" rtlCol="0" anchor="t">
            <a:normAutofit/>
          </a:bodyPr>
          <a:lstStyle/>
          <a:p>
            <a:pPr marL="0" indent="0" algn="l">
              <a:buNone/>
            </a:pPr>
            <a:r>
              <a:rPr lang="en-US" sz="1950" dirty="0">
                <a:solidFill>
                  <a:srgbClr val="23231F"/>
                </a:solidFill>
                <a:latin typeface="Segoe UI" pitchFamily="34" charset="0"/>
                <a:ea typeface="Segoe UI" pitchFamily="34" charset="-122"/>
                <a:cs typeface="Segoe UI" pitchFamily="34" charset="-120"/>
              </a:rPr>
              <a:t>Kualitas laporan: struktur, APA 7, penulisan</a:t>
            </a:r>
            <a:endParaRPr lang="en-US" sz="1950" dirty="0"/>
          </a:p>
        </p:txBody>
      </p:sp>
      <p:sp>
        <p:nvSpPr>
          <p:cNvPr id="35" name="Shape 33"/>
          <p:cNvSpPr/>
          <p:nvPr/>
        </p:nvSpPr>
        <p:spPr>
          <a:xfrm>
            <a:off x="6610350" y="7315676"/>
            <a:ext cx="9544050" cy="209550"/>
          </a:xfrm>
          <a:prstGeom prst="roundRect">
            <a:avLst>
              <a:gd name="adj" fmla="val 27273"/>
            </a:avLst>
          </a:prstGeom>
          <a:solidFill>
            <a:srgbClr val="E6E4DD"/>
          </a:solidFill>
          <a:ln/>
        </p:spPr>
        <p:txBody>
          <a:bodyPr/>
          <a:lstStyle/>
          <a:p>
            <a:endParaRPr lang="en-ID"/>
          </a:p>
        </p:txBody>
      </p:sp>
      <p:sp>
        <p:nvSpPr>
          <p:cNvPr id="36" name="Shape 34"/>
          <p:cNvSpPr/>
          <p:nvPr/>
        </p:nvSpPr>
        <p:spPr>
          <a:xfrm>
            <a:off x="6610350" y="7315676"/>
            <a:ext cx="2386013" cy="209550"/>
          </a:xfrm>
          <a:prstGeom prst="roundRect">
            <a:avLst>
              <a:gd name="adj" fmla="val 27273"/>
            </a:avLst>
          </a:prstGeom>
          <a:solidFill>
            <a:srgbClr val="FFDDD4"/>
          </a:solidFill>
          <a:ln/>
        </p:spPr>
        <p:txBody>
          <a:bodyPr/>
          <a:lstStyle/>
          <a:p>
            <a:endParaRPr lang="en-ID"/>
          </a:p>
        </p:txBody>
      </p:sp>
      <p:sp>
        <p:nvSpPr>
          <p:cNvPr id="37" name="Text 35"/>
          <p:cNvSpPr/>
          <p:nvPr/>
        </p:nvSpPr>
        <p:spPr>
          <a:xfrm>
            <a:off x="16306800" y="7256622"/>
            <a:ext cx="933450" cy="365760"/>
          </a:xfrm>
          <a:prstGeom prst="rect">
            <a:avLst/>
          </a:prstGeom>
          <a:noFill/>
          <a:ln/>
        </p:spPr>
        <p:txBody>
          <a:bodyPr wrap="square" lIns="25400" tIns="25400" rIns="25400" bIns="25400" rtlCol="0" anchor="t">
            <a:normAutofit/>
          </a:bodyPr>
          <a:lstStyle/>
          <a:p>
            <a:pPr marL="0" indent="0" algn="r">
              <a:buNone/>
            </a:pPr>
            <a:r>
              <a:rPr lang="en-US" sz="1950" b="1" dirty="0">
                <a:solidFill>
                  <a:srgbClr val="23231F"/>
                </a:solidFill>
                <a:latin typeface="Segoe UI" pitchFamily="34" charset="0"/>
                <a:ea typeface="Segoe UI" pitchFamily="34" charset="-122"/>
                <a:cs typeface="Segoe UI" pitchFamily="34" charset="-120"/>
              </a:rPr>
              <a:t>5%</a:t>
            </a:r>
            <a:endParaRPr lang="en-US" sz="1950" dirty="0"/>
          </a:p>
        </p:txBody>
      </p:sp>
      <p:sp>
        <p:nvSpPr>
          <p:cNvPr id="38" name="Text 36"/>
          <p:cNvSpPr/>
          <p:nvPr/>
        </p:nvSpPr>
        <p:spPr>
          <a:xfrm>
            <a:off x="1047750" y="7689056"/>
            <a:ext cx="5494020" cy="365760"/>
          </a:xfrm>
          <a:prstGeom prst="rect">
            <a:avLst/>
          </a:prstGeom>
          <a:noFill/>
          <a:ln/>
        </p:spPr>
        <p:txBody>
          <a:bodyPr wrap="square" lIns="25400" tIns="25400" rIns="25400" bIns="25400" rtlCol="0" anchor="t">
            <a:normAutofit/>
          </a:bodyPr>
          <a:lstStyle/>
          <a:p>
            <a:pPr marL="0" indent="0" algn="l">
              <a:buNone/>
            </a:pPr>
            <a:r>
              <a:rPr lang="en-US" sz="1950" dirty="0">
                <a:solidFill>
                  <a:srgbClr val="23231F"/>
                </a:solidFill>
                <a:latin typeface="Segoe UI" pitchFamily="34" charset="0"/>
                <a:ea typeface="Segoe UI" pitchFamily="34" charset="-122"/>
                <a:cs typeface="Segoe UI" pitchFamily="34" charset="-120"/>
              </a:rPr>
              <a:t>Kualitas PPT: desain, narasi, link berfungsi</a:t>
            </a:r>
            <a:endParaRPr lang="en-US" sz="1950" dirty="0"/>
          </a:p>
        </p:txBody>
      </p:sp>
      <p:sp>
        <p:nvSpPr>
          <p:cNvPr id="39" name="Shape 37"/>
          <p:cNvSpPr/>
          <p:nvPr/>
        </p:nvSpPr>
        <p:spPr>
          <a:xfrm>
            <a:off x="6610350" y="7748111"/>
            <a:ext cx="9544050" cy="209550"/>
          </a:xfrm>
          <a:prstGeom prst="roundRect">
            <a:avLst>
              <a:gd name="adj" fmla="val 27273"/>
            </a:avLst>
          </a:prstGeom>
          <a:solidFill>
            <a:srgbClr val="E6E4DD"/>
          </a:solidFill>
          <a:ln/>
        </p:spPr>
        <p:txBody>
          <a:bodyPr/>
          <a:lstStyle/>
          <a:p>
            <a:endParaRPr lang="en-ID"/>
          </a:p>
        </p:txBody>
      </p:sp>
      <p:sp>
        <p:nvSpPr>
          <p:cNvPr id="40" name="Shape 38"/>
          <p:cNvSpPr/>
          <p:nvPr/>
        </p:nvSpPr>
        <p:spPr>
          <a:xfrm>
            <a:off x="6610350" y="7748111"/>
            <a:ext cx="2386013" cy="209550"/>
          </a:xfrm>
          <a:prstGeom prst="roundRect">
            <a:avLst>
              <a:gd name="adj" fmla="val 27273"/>
            </a:avLst>
          </a:prstGeom>
          <a:solidFill>
            <a:srgbClr val="FFDDD4"/>
          </a:solidFill>
          <a:ln/>
        </p:spPr>
        <p:txBody>
          <a:bodyPr/>
          <a:lstStyle/>
          <a:p>
            <a:endParaRPr lang="en-ID"/>
          </a:p>
        </p:txBody>
      </p:sp>
      <p:sp>
        <p:nvSpPr>
          <p:cNvPr id="41" name="Text 39"/>
          <p:cNvSpPr/>
          <p:nvPr/>
        </p:nvSpPr>
        <p:spPr>
          <a:xfrm>
            <a:off x="16306800" y="7689056"/>
            <a:ext cx="933450" cy="365760"/>
          </a:xfrm>
          <a:prstGeom prst="rect">
            <a:avLst/>
          </a:prstGeom>
          <a:noFill/>
          <a:ln/>
        </p:spPr>
        <p:txBody>
          <a:bodyPr wrap="square" lIns="25400" tIns="25400" rIns="25400" bIns="25400" rtlCol="0" anchor="t">
            <a:normAutofit/>
          </a:bodyPr>
          <a:lstStyle/>
          <a:p>
            <a:pPr marL="0" indent="0" algn="r">
              <a:buNone/>
            </a:pPr>
            <a:r>
              <a:rPr lang="en-US" sz="1950" b="1" dirty="0">
                <a:solidFill>
                  <a:srgbClr val="23231F"/>
                </a:solidFill>
                <a:latin typeface="Segoe UI" pitchFamily="34" charset="0"/>
                <a:ea typeface="Segoe UI" pitchFamily="34" charset="-122"/>
                <a:cs typeface="Segoe UI" pitchFamily="34" charset="-120"/>
              </a:rPr>
              <a:t>5%</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762000"/>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B24A3C"/>
                </a:solidFill>
                <a:latin typeface="Segoe UI" pitchFamily="34" charset="0"/>
                <a:ea typeface="Segoe UI" pitchFamily="34" charset="-122"/>
                <a:cs typeface="Segoe UI" pitchFamily="34" charset="-120"/>
              </a:rPr>
              <a:t>15 / INTEGRITAS AKADEMIK</a:t>
            </a:r>
            <a:endParaRPr lang="en-US" sz="1800" dirty="0"/>
          </a:p>
        </p:txBody>
      </p:sp>
      <p:sp>
        <p:nvSpPr>
          <p:cNvPr id="3" name="Text 1"/>
          <p:cNvSpPr/>
          <p:nvPr/>
        </p:nvSpPr>
        <p:spPr>
          <a:xfrm>
            <a:off x="1047750" y="1181100"/>
            <a:ext cx="16678275" cy="563047"/>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3900" b="1" kern="0" spc="-37" dirty="0">
                <a:solidFill>
                  <a:srgbClr val="23231F"/>
                </a:solidFill>
                <a:latin typeface="Segoe UI" pitchFamily="34" charset="0"/>
                <a:ea typeface="Segoe UI" pitchFamily="34" charset="-122"/>
                <a:cs typeface="Segoe UI" pitchFamily="34" charset="-120"/>
              </a:rPr>
              <a:t>Larangan penggunaan AI generatif</a:t>
            </a:r>
            <a:endParaRPr lang="en-US" sz="3900" dirty="0"/>
          </a:p>
        </p:txBody>
      </p:sp>
      <p:sp>
        <p:nvSpPr>
          <p:cNvPr id="4" name="Shape 2"/>
          <p:cNvSpPr/>
          <p:nvPr/>
        </p:nvSpPr>
        <p:spPr>
          <a:xfrm>
            <a:off x="1047750" y="1877497"/>
            <a:ext cx="685800" cy="47625"/>
          </a:xfrm>
          <a:prstGeom prst="roundRect">
            <a:avLst>
              <a:gd name="adj" fmla="val 50000"/>
            </a:avLst>
          </a:prstGeom>
          <a:solidFill>
            <a:srgbClr val="B24A3C"/>
          </a:solidFill>
          <a:ln/>
        </p:spPr>
        <p:txBody>
          <a:bodyPr/>
          <a:lstStyle/>
          <a:p>
            <a:endParaRPr lang="en-ID"/>
          </a:p>
        </p:txBody>
      </p:sp>
      <p:sp>
        <p:nvSpPr>
          <p:cNvPr id="5" name="Shape 3"/>
          <p:cNvSpPr/>
          <p:nvPr/>
        </p:nvSpPr>
        <p:spPr>
          <a:xfrm>
            <a:off x="1047750" y="2191822"/>
            <a:ext cx="7943850" cy="6081117"/>
          </a:xfrm>
          <a:prstGeom prst="roundRect">
            <a:avLst>
              <a:gd name="adj" fmla="val 2193"/>
            </a:avLst>
          </a:prstGeom>
          <a:solidFill>
            <a:srgbClr val="FFFFFF"/>
          </a:solidFill>
          <a:ln w="7620">
            <a:solidFill>
              <a:srgbClr val="E8E6E0"/>
            </a:solidFill>
            <a:prstDash val="solid"/>
          </a:ln>
        </p:spPr>
        <p:txBody>
          <a:bodyPr/>
          <a:lstStyle/>
          <a:p>
            <a:endParaRPr lang="en-ID"/>
          </a:p>
        </p:txBody>
      </p:sp>
      <p:sp>
        <p:nvSpPr>
          <p:cNvPr id="6" name="Text 4"/>
          <p:cNvSpPr/>
          <p:nvPr/>
        </p:nvSpPr>
        <p:spPr>
          <a:xfrm>
            <a:off x="1398270" y="2485192"/>
            <a:ext cx="7460095" cy="358140"/>
          </a:xfrm>
          <a:prstGeom prst="rect">
            <a:avLst/>
          </a:prstGeom>
          <a:noFill/>
          <a:ln/>
        </p:spPr>
        <p:txBody>
          <a:bodyPr wrap="square" lIns="25400" tIns="25400" rIns="25400" bIns="25400" rtlCol="0" anchor="t">
            <a:normAutofit/>
          </a:bodyPr>
          <a:lstStyle/>
          <a:p>
            <a:pPr marL="0" indent="0" algn="l">
              <a:buNone/>
            </a:pPr>
            <a:r>
              <a:rPr lang="en-US" sz="1875" b="1" kern="0" spc="75" dirty="0">
                <a:solidFill>
                  <a:srgbClr val="F2654E"/>
                </a:solidFill>
                <a:latin typeface="Segoe UI" pitchFamily="34" charset="0"/>
                <a:ea typeface="Segoe UI" pitchFamily="34" charset="-122"/>
                <a:cs typeface="Segoe UI" pitchFamily="34" charset="-120"/>
              </a:rPr>
              <a:t>DIPERBOLEHKAN</a:t>
            </a:r>
            <a:endParaRPr lang="en-US" sz="1875" dirty="0"/>
          </a:p>
        </p:txBody>
      </p:sp>
      <p:sp>
        <p:nvSpPr>
          <p:cNvPr id="7" name="Text 5"/>
          <p:cNvSpPr/>
          <p:nvPr/>
        </p:nvSpPr>
        <p:spPr>
          <a:xfrm>
            <a:off x="1398270" y="2995732"/>
            <a:ext cx="261699" cy="371475"/>
          </a:xfrm>
          <a:prstGeom prst="rect">
            <a:avLst/>
          </a:prstGeom>
          <a:noFill/>
          <a:ln/>
        </p:spPr>
        <p:txBody>
          <a:bodyPr wrap="square" lIns="25400" tIns="25400" rIns="25400" bIns="25400" rtlCol="0" anchor="t">
            <a:normAutofit/>
          </a:bodyPr>
          <a:lstStyle/>
          <a:p>
            <a:pPr marL="0" indent="0" algn="l">
              <a:buNone/>
            </a:pPr>
            <a:r>
              <a:rPr lang="en-US" sz="1950" b="1" dirty="0">
                <a:solidFill>
                  <a:srgbClr val="F2654E"/>
                </a:solidFill>
                <a:latin typeface="Segoe UI" pitchFamily="34" charset="0"/>
                <a:ea typeface="Segoe UI" pitchFamily="34" charset="-122"/>
                <a:cs typeface="Segoe UI" pitchFamily="34" charset="-120"/>
              </a:rPr>
              <a:t>✓</a:t>
            </a:r>
            <a:endParaRPr lang="en-US" sz="1950" dirty="0"/>
          </a:p>
        </p:txBody>
      </p:sp>
      <p:sp>
        <p:nvSpPr>
          <p:cNvPr id="8" name="Text 6"/>
          <p:cNvSpPr/>
          <p:nvPr/>
        </p:nvSpPr>
        <p:spPr>
          <a:xfrm>
            <a:off x="1736169" y="2995732"/>
            <a:ext cx="5576431"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23231F"/>
                </a:solidFill>
                <a:latin typeface="Segoe UI" pitchFamily="34" charset="0"/>
                <a:ea typeface="Segoe UI" pitchFamily="34" charset="-122"/>
                <a:cs typeface="Segoe UI" pitchFamily="34" charset="-120"/>
              </a:rPr>
              <a:t>Tableau Desktop atau Public sebagai alat visualisasi.</a:t>
            </a:r>
            <a:endParaRPr lang="en-US" sz="1875" dirty="0"/>
          </a:p>
        </p:txBody>
      </p:sp>
      <p:sp>
        <p:nvSpPr>
          <p:cNvPr id="9" name="Text 7"/>
          <p:cNvSpPr/>
          <p:nvPr/>
        </p:nvSpPr>
        <p:spPr>
          <a:xfrm>
            <a:off x="1398270" y="3481507"/>
            <a:ext cx="261699" cy="371475"/>
          </a:xfrm>
          <a:prstGeom prst="rect">
            <a:avLst/>
          </a:prstGeom>
          <a:noFill/>
          <a:ln/>
        </p:spPr>
        <p:txBody>
          <a:bodyPr wrap="square" lIns="25400" tIns="25400" rIns="25400" bIns="25400" rtlCol="0" anchor="t">
            <a:normAutofit/>
          </a:bodyPr>
          <a:lstStyle/>
          <a:p>
            <a:pPr marL="0" indent="0" algn="l">
              <a:buNone/>
            </a:pPr>
            <a:r>
              <a:rPr lang="en-US" sz="1950" b="1" dirty="0">
                <a:solidFill>
                  <a:srgbClr val="F2654E"/>
                </a:solidFill>
                <a:latin typeface="Segoe UI" pitchFamily="34" charset="0"/>
                <a:ea typeface="Segoe UI" pitchFamily="34" charset="-122"/>
                <a:cs typeface="Segoe UI" pitchFamily="34" charset="-120"/>
              </a:rPr>
              <a:t>✓</a:t>
            </a:r>
            <a:endParaRPr lang="en-US" sz="1950" dirty="0"/>
          </a:p>
        </p:txBody>
      </p:sp>
      <p:sp>
        <p:nvSpPr>
          <p:cNvPr id="10" name="Text 8"/>
          <p:cNvSpPr/>
          <p:nvPr/>
        </p:nvSpPr>
        <p:spPr>
          <a:xfrm>
            <a:off x="1736169" y="3481507"/>
            <a:ext cx="6971397"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23231F"/>
                </a:solidFill>
                <a:latin typeface="Segoe UI" pitchFamily="34" charset="0"/>
                <a:ea typeface="Segoe UI" pitchFamily="34" charset="-122"/>
                <a:cs typeface="Segoe UI" pitchFamily="34" charset="-120"/>
              </a:rPr>
              <a:t>Search engine (Google, Google Scholar) untuk mencari referensi.</a:t>
            </a:r>
            <a:endParaRPr lang="en-US" sz="1875" dirty="0"/>
          </a:p>
        </p:txBody>
      </p:sp>
      <p:sp>
        <p:nvSpPr>
          <p:cNvPr id="11" name="Text 9"/>
          <p:cNvSpPr/>
          <p:nvPr/>
        </p:nvSpPr>
        <p:spPr>
          <a:xfrm>
            <a:off x="1398270" y="3967282"/>
            <a:ext cx="261699" cy="371475"/>
          </a:xfrm>
          <a:prstGeom prst="rect">
            <a:avLst/>
          </a:prstGeom>
          <a:noFill/>
          <a:ln/>
        </p:spPr>
        <p:txBody>
          <a:bodyPr wrap="square" lIns="25400" tIns="25400" rIns="25400" bIns="25400" rtlCol="0" anchor="t">
            <a:normAutofit/>
          </a:bodyPr>
          <a:lstStyle/>
          <a:p>
            <a:pPr marL="0" indent="0" algn="l">
              <a:buNone/>
            </a:pPr>
            <a:r>
              <a:rPr lang="en-US" sz="1950" b="1" dirty="0">
                <a:solidFill>
                  <a:srgbClr val="F2654E"/>
                </a:solidFill>
                <a:latin typeface="Segoe UI" pitchFamily="34" charset="0"/>
                <a:ea typeface="Segoe UI" pitchFamily="34" charset="-122"/>
                <a:cs typeface="Segoe UI" pitchFamily="34" charset="-120"/>
              </a:rPr>
              <a:t>✓</a:t>
            </a:r>
            <a:endParaRPr lang="en-US" sz="1950" dirty="0"/>
          </a:p>
        </p:txBody>
      </p:sp>
      <p:sp>
        <p:nvSpPr>
          <p:cNvPr id="12" name="Text 10"/>
          <p:cNvSpPr/>
          <p:nvPr/>
        </p:nvSpPr>
        <p:spPr>
          <a:xfrm>
            <a:off x="1736169" y="3967282"/>
            <a:ext cx="6113324"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23231F"/>
                </a:solidFill>
                <a:latin typeface="Segoe UI" pitchFamily="34" charset="0"/>
                <a:ea typeface="Segoe UI" pitchFamily="34" charset="-122"/>
                <a:cs typeface="Segoe UI" pitchFamily="34" charset="-120"/>
              </a:rPr>
              <a:t>Grammar atau spell checker untuk koreksi teknis bahasa.</a:t>
            </a:r>
            <a:endParaRPr lang="en-US" sz="1875" dirty="0"/>
          </a:p>
        </p:txBody>
      </p:sp>
      <p:sp>
        <p:nvSpPr>
          <p:cNvPr id="13" name="Shape 11"/>
          <p:cNvSpPr/>
          <p:nvPr/>
        </p:nvSpPr>
        <p:spPr>
          <a:xfrm>
            <a:off x="9296400" y="2191822"/>
            <a:ext cx="7943850" cy="6081117"/>
          </a:xfrm>
          <a:prstGeom prst="roundRect">
            <a:avLst>
              <a:gd name="adj" fmla="val 2193"/>
            </a:avLst>
          </a:prstGeom>
          <a:solidFill>
            <a:srgbClr val="FBF1EF"/>
          </a:solidFill>
          <a:ln w="7620">
            <a:solidFill>
              <a:srgbClr val="ECCFC9"/>
            </a:solidFill>
            <a:prstDash val="solid"/>
          </a:ln>
        </p:spPr>
        <p:txBody>
          <a:bodyPr/>
          <a:lstStyle/>
          <a:p>
            <a:endParaRPr lang="en-ID"/>
          </a:p>
        </p:txBody>
      </p:sp>
      <p:sp>
        <p:nvSpPr>
          <p:cNvPr id="14" name="Text 12"/>
          <p:cNvSpPr/>
          <p:nvPr/>
        </p:nvSpPr>
        <p:spPr>
          <a:xfrm>
            <a:off x="9646920" y="2485192"/>
            <a:ext cx="7460095" cy="358140"/>
          </a:xfrm>
          <a:prstGeom prst="rect">
            <a:avLst/>
          </a:prstGeom>
          <a:noFill/>
          <a:ln/>
        </p:spPr>
        <p:txBody>
          <a:bodyPr wrap="square" lIns="25400" tIns="25400" rIns="25400" bIns="25400" rtlCol="0" anchor="t">
            <a:normAutofit/>
          </a:bodyPr>
          <a:lstStyle/>
          <a:p>
            <a:pPr marL="0" indent="0" algn="l">
              <a:buNone/>
            </a:pPr>
            <a:r>
              <a:rPr lang="en-US" sz="1875" b="1" kern="0" spc="75" dirty="0">
                <a:solidFill>
                  <a:srgbClr val="B24A3C"/>
                </a:solidFill>
                <a:latin typeface="Segoe UI" pitchFamily="34" charset="0"/>
                <a:ea typeface="Segoe UI" pitchFamily="34" charset="-122"/>
                <a:cs typeface="Segoe UI" pitchFamily="34" charset="-120"/>
              </a:rPr>
              <a:t>DILARANG KERAS</a:t>
            </a:r>
            <a:endParaRPr lang="en-US" sz="1875" dirty="0"/>
          </a:p>
        </p:txBody>
      </p:sp>
      <p:sp>
        <p:nvSpPr>
          <p:cNvPr id="15" name="Text 13"/>
          <p:cNvSpPr/>
          <p:nvPr/>
        </p:nvSpPr>
        <p:spPr>
          <a:xfrm>
            <a:off x="9646920" y="2995732"/>
            <a:ext cx="278606" cy="704850"/>
          </a:xfrm>
          <a:prstGeom prst="rect">
            <a:avLst/>
          </a:prstGeom>
          <a:noFill/>
          <a:ln/>
        </p:spPr>
        <p:txBody>
          <a:bodyPr wrap="square" lIns="25400" tIns="25400" rIns="25400" bIns="25400" rtlCol="0" anchor="t">
            <a:normAutofit/>
          </a:bodyPr>
          <a:lstStyle/>
          <a:p>
            <a:pPr marL="0" indent="0" algn="l">
              <a:buNone/>
            </a:pPr>
            <a:r>
              <a:rPr lang="en-US" sz="1950" b="1" dirty="0">
                <a:solidFill>
                  <a:srgbClr val="B24A3C"/>
                </a:solidFill>
                <a:latin typeface="Segoe UI" pitchFamily="34" charset="0"/>
                <a:ea typeface="Segoe UI" pitchFamily="34" charset="-122"/>
                <a:cs typeface="Segoe UI" pitchFamily="34" charset="-120"/>
              </a:rPr>
              <a:t>✗</a:t>
            </a:r>
            <a:endParaRPr lang="en-US" sz="1950" dirty="0"/>
          </a:p>
        </p:txBody>
      </p:sp>
      <p:sp>
        <p:nvSpPr>
          <p:cNvPr id="16" name="Text 14"/>
          <p:cNvSpPr/>
          <p:nvPr/>
        </p:nvSpPr>
        <p:spPr>
          <a:xfrm>
            <a:off x="10001727" y="2995732"/>
            <a:ext cx="7094644" cy="704850"/>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23231F"/>
                </a:solidFill>
                <a:latin typeface="Segoe UI" pitchFamily="34" charset="0"/>
                <a:ea typeface="Segoe UI" pitchFamily="34" charset="-122"/>
                <a:cs typeface="Segoe UI" pitchFamily="34" charset="-120"/>
              </a:rPr>
              <a:t>Generate narasi, bab, interpretasi, atau rekomendasi via chatbot AI.</a:t>
            </a:r>
            <a:endParaRPr lang="en-US" sz="1875" dirty="0"/>
          </a:p>
        </p:txBody>
      </p:sp>
      <p:sp>
        <p:nvSpPr>
          <p:cNvPr id="17" name="Text 15"/>
          <p:cNvSpPr/>
          <p:nvPr/>
        </p:nvSpPr>
        <p:spPr>
          <a:xfrm>
            <a:off x="9646920" y="3814882"/>
            <a:ext cx="278606" cy="371475"/>
          </a:xfrm>
          <a:prstGeom prst="rect">
            <a:avLst/>
          </a:prstGeom>
          <a:noFill/>
          <a:ln/>
        </p:spPr>
        <p:txBody>
          <a:bodyPr wrap="square" lIns="25400" tIns="25400" rIns="25400" bIns="25400" rtlCol="0" anchor="t">
            <a:normAutofit/>
          </a:bodyPr>
          <a:lstStyle/>
          <a:p>
            <a:pPr marL="0" indent="0" algn="l">
              <a:buNone/>
            </a:pPr>
            <a:r>
              <a:rPr lang="en-US" sz="1950" b="1" dirty="0">
                <a:solidFill>
                  <a:srgbClr val="B24A3C"/>
                </a:solidFill>
                <a:latin typeface="Segoe UI" pitchFamily="34" charset="0"/>
                <a:ea typeface="Segoe UI" pitchFamily="34" charset="-122"/>
                <a:cs typeface="Segoe UI" pitchFamily="34" charset="-120"/>
              </a:rPr>
              <a:t>✗</a:t>
            </a:r>
            <a:endParaRPr lang="en-US" sz="1950" dirty="0"/>
          </a:p>
        </p:txBody>
      </p:sp>
      <p:sp>
        <p:nvSpPr>
          <p:cNvPr id="18" name="Text 16"/>
          <p:cNvSpPr/>
          <p:nvPr/>
        </p:nvSpPr>
        <p:spPr>
          <a:xfrm>
            <a:off x="10001727" y="3814882"/>
            <a:ext cx="4428818"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23231F"/>
                </a:solidFill>
                <a:latin typeface="Segoe UI" pitchFamily="34" charset="0"/>
                <a:ea typeface="Segoe UI" pitchFamily="34" charset="-122"/>
                <a:cs typeface="Segoe UI" pitchFamily="34" charset="-120"/>
              </a:rPr>
              <a:t>Parafrase otomatis menggunakan alat AI.</a:t>
            </a:r>
            <a:endParaRPr lang="en-US" sz="1875" dirty="0"/>
          </a:p>
        </p:txBody>
      </p:sp>
      <p:sp>
        <p:nvSpPr>
          <p:cNvPr id="19" name="Text 17"/>
          <p:cNvSpPr/>
          <p:nvPr/>
        </p:nvSpPr>
        <p:spPr>
          <a:xfrm>
            <a:off x="9646920" y="4300657"/>
            <a:ext cx="278606" cy="704850"/>
          </a:xfrm>
          <a:prstGeom prst="rect">
            <a:avLst/>
          </a:prstGeom>
          <a:noFill/>
          <a:ln/>
        </p:spPr>
        <p:txBody>
          <a:bodyPr wrap="square" lIns="25400" tIns="25400" rIns="25400" bIns="25400" rtlCol="0" anchor="t">
            <a:normAutofit/>
          </a:bodyPr>
          <a:lstStyle/>
          <a:p>
            <a:pPr marL="0" indent="0" algn="l">
              <a:buNone/>
            </a:pPr>
            <a:r>
              <a:rPr lang="en-US" sz="1950" b="1" dirty="0">
                <a:solidFill>
                  <a:srgbClr val="B24A3C"/>
                </a:solidFill>
                <a:latin typeface="Segoe UI" pitchFamily="34" charset="0"/>
                <a:ea typeface="Segoe UI" pitchFamily="34" charset="-122"/>
                <a:cs typeface="Segoe UI" pitchFamily="34" charset="-120"/>
              </a:rPr>
              <a:t>✗</a:t>
            </a:r>
            <a:endParaRPr lang="en-US" sz="1950" dirty="0"/>
          </a:p>
        </p:txBody>
      </p:sp>
      <p:sp>
        <p:nvSpPr>
          <p:cNvPr id="20" name="Text 18"/>
          <p:cNvSpPr/>
          <p:nvPr/>
        </p:nvSpPr>
        <p:spPr>
          <a:xfrm>
            <a:off x="10001727" y="4300657"/>
            <a:ext cx="7094644" cy="704850"/>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23231F"/>
                </a:solidFill>
                <a:latin typeface="Segoe UI" pitchFamily="34" charset="0"/>
                <a:ea typeface="Segoe UI" pitchFamily="34" charset="-122"/>
                <a:cs typeface="Segoe UI" pitchFamily="34" charset="-120"/>
              </a:rPr>
              <a:t>Generate slide presentasi otomatis (Gamma, Tome, dan sejenisnya).</a:t>
            </a:r>
            <a:endParaRPr lang="en-US" sz="1875" dirty="0"/>
          </a:p>
        </p:txBody>
      </p:sp>
      <p:sp>
        <p:nvSpPr>
          <p:cNvPr id="21" name="Text 19"/>
          <p:cNvSpPr/>
          <p:nvPr/>
        </p:nvSpPr>
        <p:spPr>
          <a:xfrm>
            <a:off x="9646920" y="5119807"/>
            <a:ext cx="278606" cy="371475"/>
          </a:xfrm>
          <a:prstGeom prst="rect">
            <a:avLst/>
          </a:prstGeom>
          <a:noFill/>
          <a:ln/>
        </p:spPr>
        <p:txBody>
          <a:bodyPr wrap="square" lIns="25400" tIns="25400" rIns="25400" bIns="25400" rtlCol="0" anchor="t">
            <a:normAutofit/>
          </a:bodyPr>
          <a:lstStyle/>
          <a:p>
            <a:pPr marL="0" indent="0" algn="l">
              <a:buNone/>
            </a:pPr>
            <a:r>
              <a:rPr lang="en-US" sz="1950" b="1" dirty="0">
                <a:solidFill>
                  <a:srgbClr val="B24A3C"/>
                </a:solidFill>
                <a:latin typeface="Segoe UI" pitchFamily="34" charset="0"/>
                <a:ea typeface="Segoe UI" pitchFamily="34" charset="-122"/>
                <a:cs typeface="Segoe UI" pitchFamily="34" charset="-120"/>
              </a:rPr>
              <a:t>✗</a:t>
            </a:r>
            <a:endParaRPr lang="en-US" sz="1950" dirty="0"/>
          </a:p>
        </p:txBody>
      </p:sp>
      <p:sp>
        <p:nvSpPr>
          <p:cNvPr id="22" name="Text 20"/>
          <p:cNvSpPr/>
          <p:nvPr/>
        </p:nvSpPr>
        <p:spPr>
          <a:xfrm>
            <a:off x="10001727" y="5119807"/>
            <a:ext cx="4595355"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23231F"/>
                </a:solidFill>
                <a:latin typeface="Segoe UI" pitchFamily="34" charset="0"/>
                <a:ea typeface="Segoe UI" pitchFamily="34" charset="-122"/>
                <a:cs typeface="Segoe UI" pitchFamily="34" charset="-120"/>
              </a:rPr>
              <a:t>Copy-paste output AI lalu diedit seadanya.</a:t>
            </a:r>
            <a:endParaRPr lang="en-US" sz="1875" dirty="0"/>
          </a:p>
        </p:txBody>
      </p:sp>
      <p:sp>
        <p:nvSpPr>
          <p:cNvPr id="23" name="Shape 21"/>
          <p:cNvSpPr/>
          <p:nvPr/>
        </p:nvSpPr>
        <p:spPr>
          <a:xfrm>
            <a:off x="1047750" y="8501539"/>
            <a:ext cx="16192500" cy="1099661"/>
          </a:xfrm>
          <a:prstGeom prst="roundRect">
            <a:avLst>
              <a:gd name="adj" fmla="val 10394"/>
            </a:avLst>
          </a:prstGeom>
          <a:solidFill>
            <a:srgbClr val="20201E"/>
          </a:solidFill>
          <a:ln/>
        </p:spPr>
        <p:txBody>
          <a:bodyPr/>
          <a:lstStyle/>
          <a:p>
            <a:endParaRPr lang="en-ID"/>
          </a:p>
        </p:txBody>
      </p:sp>
      <p:sp>
        <p:nvSpPr>
          <p:cNvPr id="24" name="Text 22"/>
          <p:cNvSpPr/>
          <p:nvPr/>
        </p:nvSpPr>
        <p:spPr>
          <a:xfrm>
            <a:off x="1371600" y="8731329"/>
            <a:ext cx="5444599"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F2F1EC">
                    <a:alpha val="82000"/>
                  </a:srgbClr>
                </a:solidFill>
                <a:latin typeface="Segoe UI" pitchFamily="34" charset="0"/>
                <a:ea typeface="Segoe UI" pitchFamily="34" charset="-122"/>
                <a:cs typeface="Segoe UI" pitchFamily="34" charset="-120"/>
              </a:rPr>
              <a:t>Laporan dipindai </a:t>
            </a:r>
            <a:r>
              <a:rPr lang="en-US" sz="1800" b="1" dirty="0">
                <a:solidFill>
                  <a:srgbClr val="F2F1EC"/>
                </a:solidFill>
                <a:latin typeface="Segoe UI" pitchFamily="34" charset="0"/>
                <a:ea typeface="Segoe UI" pitchFamily="34" charset="-122"/>
                <a:cs typeface="Segoe UI" pitchFamily="34" charset="-120"/>
              </a:rPr>
              <a:t>AI Detection </a:t>
            </a:r>
            <a:r>
              <a:rPr lang="en-US" sz="1800" dirty="0">
                <a:solidFill>
                  <a:srgbClr val="F2F1EC">
                    <a:alpha val="82000"/>
                  </a:srgbClr>
                </a:solidFill>
                <a:latin typeface="Segoe UI" pitchFamily="34" charset="0"/>
                <a:ea typeface="Segoe UI" pitchFamily="34" charset="-122"/>
                <a:cs typeface="Segoe UI" pitchFamily="34" charset="-120"/>
              </a:rPr>
              <a:t>(GPTZero, Turnitin, ZeroGPT). Ambang sanksi di atas 30 persen.</a:t>
            </a:r>
            <a:endParaRPr lang="en-US" sz="1800" dirty="0"/>
          </a:p>
        </p:txBody>
      </p:sp>
      <p:sp>
        <p:nvSpPr>
          <p:cNvPr id="25" name="Shape 23"/>
          <p:cNvSpPr/>
          <p:nvPr/>
        </p:nvSpPr>
        <p:spPr>
          <a:xfrm>
            <a:off x="6981468" y="8730139"/>
            <a:ext cx="9525" cy="642461"/>
          </a:xfrm>
          <a:prstGeom prst="rect">
            <a:avLst/>
          </a:prstGeom>
          <a:solidFill>
            <a:srgbClr val="FFFFFF">
              <a:alpha val="18000"/>
            </a:srgbClr>
          </a:solidFill>
          <a:ln/>
        </p:spPr>
        <p:txBody>
          <a:bodyPr/>
          <a:lstStyle/>
          <a:p>
            <a:endParaRPr lang="en-ID"/>
          </a:p>
        </p:txBody>
      </p:sp>
      <p:sp>
        <p:nvSpPr>
          <p:cNvPr id="26" name="Text 24"/>
          <p:cNvSpPr/>
          <p:nvPr/>
        </p:nvSpPr>
        <p:spPr>
          <a:xfrm>
            <a:off x="7274838" y="8730139"/>
            <a:ext cx="4647475" cy="327660"/>
          </a:xfrm>
          <a:prstGeom prst="rect">
            <a:avLst/>
          </a:prstGeom>
          <a:noFill/>
          <a:ln/>
        </p:spPr>
        <p:txBody>
          <a:bodyPr wrap="square" lIns="25400" tIns="25400" rIns="25400" bIns="25400" rtlCol="0" anchor="t">
            <a:normAutofit/>
          </a:bodyPr>
          <a:lstStyle/>
          <a:p>
            <a:pPr marL="0" indent="0" algn="l">
              <a:buNone/>
            </a:pPr>
            <a:r>
              <a:rPr lang="en-US" sz="1725" b="1" dirty="0">
                <a:solidFill>
                  <a:srgbClr val="E5A89F"/>
                </a:solidFill>
                <a:latin typeface="Segoe UI" pitchFamily="34" charset="0"/>
                <a:ea typeface="Segoe UI" pitchFamily="34" charset="-122"/>
                <a:cs typeface="Segoe UI" pitchFamily="34" charset="-120"/>
              </a:rPr>
              <a:t>Ringan (30 sampai 50%)</a:t>
            </a:r>
            <a:endParaRPr lang="en-US" sz="1725" dirty="0"/>
          </a:p>
        </p:txBody>
      </p:sp>
      <p:sp>
        <p:nvSpPr>
          <p:cNvPr id="27" name="Text 25"/>
          <p:cNvSpPr/>
          <p:nvPr/>
        </p:nvSpPr>
        <p:spPr>
          <a:xfrm>
            <a:off x="7274838" y="9076849"/>
            <a:ext cx="4647475" cy="33385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dirty="0">
                <a:solidFill>
                  <a:srgbClr val="F2F1EC">
                    <a:alpha val="70000"/>
                  </a:srgbClr>
                </a:solidFill>
                <a:latin typeface="Segoe UI" pitchFamily="34" charset="0"/>
                <a:ea typeface="Segoe UI" pitchFamily="34" charset="-122"/>
                <a:cs typeface="Segoe UI" pitchFamily="34" charset="-120"/>
              </a:rPr>
              <a:t>Nilai laporan 0, remedial maksimum 70.</a:t>
            </a:r>
            <a:endParaRPr lang="en-US" sz="1725" dirty="0"/>
          </a:p>
        </p:txBody>
      </p:sp>
      <p:sp>
        <p:nvSpPr>
          <p:cNvPr id="28" name="Shape 26"/>
          <p:cNvSpPr/>
          <p:nvPr/>
        </p:nvSpPr>
        <p:spPr>
          <a:xfrm>
            <a:off x="12110799" y="8730139"/>
            <a:ext cx="9525" cy="642461"/>
          </a:xfrm>
          <a:prstGeom prst="rect">
            <a:avLst/>
          </a:prstGeom>
          <a:solidFill>
            <a:srgbClr val="FFFFFF">
              <a:alpha val="18000"/>
            </a:srgbClr>
          </a:solidFill>
          <a:ln/>
        </p:spPr>
        <p:txBody>
          <a:bodyPr/>
          <a:lstStyle/>
          <a:p>
            <a:endParaRPr lang="en-ID"/>
          </a:p>
        </p:txBody>
      </p:sp>
      <p:sp>
        <p:nvSpPr>
          <p:cNvPr id="29" name="Text 27"/>
          <p:cNvSpPr/>
          <p:nvPr/>
        </p:nvSpPr>
        <p:spPr>
          <a:xfrm>
            <a:off x="12404170" y="8730139"/>
            <a:ext cx="4647598" cy="327660"/>
          </a:xfrm>
          <a:prstGeom prst="rect">
            <a:avLst/>
          </a:prstGeom>
          <a:noFill/>
          <a:ln/>
        </p:spPr>
        <p:txBody>
          <a:bodyPr wrap="square" lIns="25400" tIns="25400" rIns="25400" bIns="25400" rtlCol="0" anchor="t">
            <a:normAutofit/>
          </a:bodyPr>
          <a:lstStyle/>
          <a:p>
            <a:pPr marL="0" indent="0" algn="l">
              <a:buNone/>
            </a:pPr>
            <a:r>
              <a:rPr lang="en-US" sz="1725" b="1" dirty="0">
                <a:solidFill>
                  <a:srgbClr val="E5A89F"/>
                </a:solidFill>
                <a:latin typeface="Segoe UI" pitchFamily="34" charset="0"/>
                <a:ea typeface="Segoe UI" pitchFamily="34" charset="-122"/>
                <a:cs typeface="Segoe UI" pitchFamily="34" charset="-120"/>
              </a:rPr>
              <a:t>Berat (lebih dari 50%)</a:t>
            </a:r>
            <a:endParaRPr lang="en-US" sz="1725" dirty="0"/>
          </a:p>
        </p:txBody>
      </p:sp>
      <p:sp>
        <p:nvSpPr>
          <p:cNvPr id="30" name="Text 28"/>
          <p:cNvSpPr/>
          <p:nvPr/>
        </p:nvSpPr>
        <p:spPr>
          <a:xfrm>
            <a:off x="12404170" y="9076849"/>
            <a:ext cx="4647598" cy="33385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dirty="0">
                <a:solidFill>
                  <a:srgbClr val="F2F1EC">
                    <a:alpha val="70000"/>
                  </a:srgbClr>
                </a:solidFill>
                <a:latin typeface="Segoe UI" pitchFamily="34" charset="0"/>
                <a:ea typeface="Segoe UI" pitchFamily="34" charset="-122"/>
                <a:cs typeface="Segoe UI" pitchFamily="34" charset="-120"/>
              </a:rPr>
              <a:t>Nilai UAS 0 dan surat peringatan akademik.</a:t>
            </a:r>
            <a:endParaRPr lang="en-US" sz="17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800100"/>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2654E"/>
                </a:solidFill>
                <a:latin typeface="Segoe UI" pitchFamily="34" charset="0"/>
                <a:ea typeface="Segoe UI" pitchFamily="34" charset="-122"/>
                <a:cs typeface="Segoe UI" pitchFamily="34" charset="-120"/>
              </a:rPr>
              <a:t>16 / FORMAT DAN PENGUMPULAN</a:t>
            </a:r>
            <a:endParaRPr lang="en-US" sz="1800" dirty="0"/>
          </a:p>
        </p:txBody>
      </p:sp>
      <p:sp>
        <p:nvSpPr>
          <p:cNvPr id="3" name="Text 1"/>
          <p:cNvSpPr/>
          <p:nvPr/>
        </p:nvSpPr>
        <p:spPr>
          <a:xfrm>
            <a:off x="1047750" y="1238250"/>
            <a:ext cx="16678275" cy="603409"/>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200" b="1" kern="0" spc="-37" dirty="0">
                <a:solidFill>
                  <a:srgbClr val="23231F"/>
                </a:solidFill>
                <a:latin typeface="Segoe UI" pitchFamily="34" charset="0"/>
                <a:ea typeface="Segoe UI" pitchFamily="34" charset="-122"/>
                <a:cs typeface="Segoe UI" pitchFamily="34" charset="-120"/>
              </a:rPr>
              <a:t>Format file dan tenggat pengumpulan</a:t>
            </a:r>
            <a:endParaRPr lang="en-US" sz="4200" dirty="0"/>
          </a:p>
        </p:txBody>
      </p:sp>
      <p:sp>
        <p:nvSpPr>
          <p:cNvPr id="4" name="Shape 2"/>
          <p:cNvSpPr/>
          <p:nvPr/>
        </p:nvSpPr>
        <p:spPr>
          <a:xfrm>
            <a:off x="1047750" y="2013109"/>
            <a:ext cx="685800" cy="47625"/>
          </a:xfrm>
          <a:prstGeom prst="roundRect">
            <a:avLst>
              <a:gd name="adj" fmla="val 50000"/>
            </a:avLst>
          </a:prstGeom>
          <a:solidFill>
            <a:srgbClr val="F2654E"/>
          </a:solidFill>
          <a:ln/>
        </p:spPr>
        <p:txBody>
          <a:bodyPr/>
          <a:lstStyle/>
          <a:p>
            <a:endParaRPr lang="en-ID"/>
          </a:p>
        </p:txBody>
      </p:sp>
      <p:sp>
        <p:nvSpPr>
          <p:cNvPr id="5" name="Shape 3"/>
          <p:cNvSpPr/>
          <p:nvPr/>
        </p:nvSpPr>
        <p:spPr>
          <a:xfrm>
            <a:off x="1047750" y="2403634"/>
            <a:ext cx="8546664" cy="1358265"/>
          </a:xfrm>
          <a:prstGeom prst="roundRect">
            <a:avLst>
              <a:gd name="adj" fmla="val 9818"/>
            </a:avLst>
          </a:prstGeom>
          <a:solidFill>
            <a:srgbClr val="FFFFFF"/>
          </a:solidFill>
          <a:ln w="7620">
            <a:solidFill>
              <a:srgbClr val="E8E6E0"/>
            </a:solidFill>
            <a:prstDash val="solid"/>
          </a:ln>
        </p:spPr>
        <p:txBody>
          <a:bodyPr/>
          <a:lstStyle/>
          <a:p>
            <a:endParaRPr lang="en-ID"/>
          </a:p>
        </p:txBody>
      </p:sp>
      <p:sp>
        <p:nvSpPr>
          <p:cNvPr id="6" name="Text 4"/>
          <p:cNvSpPr/>
          <p:nvPr/>
        </p:nvSpPr>
        <p:spPr>
          <a:xfrm>
            <a:off x="1360170" y="2677954"/>
            <a:ext cx="8159478"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2654E"/>
                </a:solidFill>
                <a:latin typeface="Segoe UI" pitchFamily="34" charset="0"/>
                <a:ea typeface="Segoe UI" pitchFamily="34" charset="-122"/>
                <a:cs typeface="Segoe UI" pitchFamily="34" charset="-120"/>
              </a:rPr>
              <a:t>LAPORAN</a:t>
            </a:r>
            <a:endParaRPr lang="en-US" sz="1800" dirty="0"/>
          </a:p>
        </p:txBody>
      </p:sp>
      <p:sp>
        <p:nvSpPr>
          <p:cNvPr id="7" name="Text 5"/>
          <p:cNvSpPr/>
          <p:nvPr/>
        </p:nvSpPr>
        <p:spPr>
          <a:xfrm>
            <a:off x="1360170" y="3116104"/>
            <a:ext cx="8159478" cy="4095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950" dirty="0">
                <a:solidFill>
                  <a:srgbClr val="46463F"/>
                </a:solidFill>
                <a:latin typeface="Segoe UI" pitchFamily="34" charset="0"/>
                <a:ea typeface="Segoe UI" pitchFamily="34" charset="-122"/>
                <a:cs typeface="Segoe UI" pitchFamily="34" charset="-120"/>
              </a:rPr>
              <a:t>Font Cambria 11 pt, spasi 1,5, margin 1 inci. Ekspor akhir PDF.</a:t>
            </a:r>
            <a:endParaRPr lang="en-US" sz="1950" dirty="0"/>
          </a:p>
        </p:txBody>
      </p:sp>
      <p:sp>
        <p:nvSpPr>
          <p:cNvPr id="8" name="Shape 6"/>
          <p:cNvSpPr/>
          <p:nvPr/>
        </p:nvSpPr>
        <p:spPr>
          <a:xfrm>
            <a:off x="1047750" y="3933349"/>
            <a:ext cx="8546664" cy="1729740"/>
          </a:xfrm>
          <a:prstGeom prst="roundRect">
            <a:avLst>
              <a:gd name="adj" fmla="val 7709"/>
            </a:avLst>
          </a:prstGeom>
          <a:solidFill>
            <a:srgbClr val="FFFFFF"/>
          </a:solidFill>
          <a:ln w="7620">
            <a:solidFill>
              <a:srgbClr val="E8E6E0"/>
            </a:solidFill>
            <a:prstDash val="solid"/>
          </a:ln>
        </p:spPr>
        <p:txBody>
          <a:bodyPr/>
          <a:lstStyle/>
          <a:p>
            <a:endParaRPr lang="en-ID"/>
          </a:p>
        </p:txBody>
      </p:sp>
      <p:sp>
        <p:nvSpPr>
          <p:cNvPr id="9" name="Text 7"/>
          <p:cNvSpPr/>
          <p:nvPr/>
        </p:nvSpPr>
        <p:spPr>
          <a:xfrm>
            <a:off x="1360170" y="4207669"/>
            <a:ext cx="8159478"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2654E"/>
                </a:solidFill>
                <a:latin typeface="Segoe UI" pitchFamily="34" charset="0"/>
                <a:ea typeface="Segoe UI" pitchFamily="34" charset="-122"/>
                <a:cs typeface="Segoe UI" pitchFamily="34" charset="-120"/>
              </a:rPr>
              <a:t>PRESENTASI</a:t>
            </a:r>
            <a:endParaRPr lang="en-US" sz="1800" dirty="0"/>
          </a:p>
        </p:txBody>
      </p:sp>
      <p:sp>
        <p:nvSpPr>
          <p:cNvPr id="10" name="Text 8"/>
          <p:cNvSpPr/>
          <p:nvPr/>
        </p:nvSpPr>
        <p:spPr>
          <a:xfrm>
            <a:off x="1360170" y="4645819"/>
            <a:ext cx="8159478" cy="7810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46463F"/>
                </a:solidFill>
                <a:latin typeface="Segoe UI" pitchFamily="34" charset="0"/>
                <a:ea typeface="Segoe UI" pitchFamily="34" charset="-122"/>
                <a:cs typeface="Segoe UI" pitchFamily="34" charset="-120"/>
              </a:rPr>
              <a:t>Font Aptos, latar putih dengan aksen navy dan teal, 16:9, 10 sampai 15 slide. Ekspor PDF.</a:t>
            </a:r>
            <a:endParaRPr lang="en-US" sz="1950" dirty="0"/>
          </a:p>
        </p:txBody>
      </p:sp>
      <p:sp>
        <p:nvSpPr>
          <p:cNvPr id="11" name="Shape 9"/>
          <p:cNvSpPr/>
          <p:nvPr/>
        </p:nvSpPr>
        <p:spPr>
          <a:xfrm>
            <a:off x="1047750" y="5834539"/>
            <a:ext cx="8546664" cy="1637348"/>
          </a:xfrm>
          <a:prstGeom prst="roundRect">
            <a:avLst>
              <a:gd name="adj" fmla="val 8144"/>
            </a:avLst>
          </a:prstGeom>
          <a:solidFill>
            <a:srgbClr val="23231F"/>
          </a:solidFill>
          <a:ln/>
        </p:spPr>
        <p:txBody>
          <a:bodyPr/>
          <a:lstStyle/>
          <a:p>
            <a:endParaRPr lang="en-ID"/>
          </a:p>
        </p:txBody>
      </p:sp>
      <p:sp>
        <p:nvSpPr>
          <p:cNvPr id="12" name="Text 10"/>
          <p:cNvSpPr/>
          <p:nvPr/>
        </p:nvSpPr>
        <p:spPr>
          <a:xfrm>
            <a:off x="1352550" y="6082189"/>
            <a:ext cx="8175176" cy="327660"/>
          </a:xfrm>
          <a:prstGeom prst="rect">
            <a:avLst/>
          </a:prstGeom>
          <a:noFill/>
          <a:ln/>
        </p:spPr>
        <p:txBody>
          <a:bodyPr wrap="square" lIns="25400" tIns="25400" rIns="25400" bIns="25400" rtlCol="0" anchor="t">
            <a:normAutofit/>
          </a:bodyPr>
          <a:lstStyle/>
          <a:p>
            <a:pPr marL="0" indent="0" algn="l">
              <a:buNone/>
            </a:pPr>
            <a:r>
              <a:rPr lang="en-US" sz="1725" kern="0" spc="75" dirty="0">
                <a:solidFill>
                  <a:srgbClr val="F2F1EC">
                    <a:alpha val="55000"/>
                  </a:srgbClr>
                </a:solidFill>
                <a:latin typeface="Segoe UI" pitchFamily="34" charset="0"/>
                <a:ea typeface="Segoe UI" pitchFamily="34" charset="-122"/>
                <a:cs typeface="Segoe UI" pitchFamily="34" charset="-120"/>
              </a:rPr>
              <a:t>PENAMAAN FILE WAJIB</a:t>
            </a:r>
            <a:endParaRPr lang="en-US" sz="1725" dirty="0"/>
          </a:p>
        </p:txBody>
      </p:sp>
      <p:sp>
        <p:nvSpPr>
          <p:cNvPr id="13" name="Text 11"/>
          <p:cNvSpPr/>
          <p:nvPr/>
        </p:nvSpPr>
        <p:spPr>
          <a:xfrm>
            <a:off x="1352550" y="6486049"/>
            <a:ext cx="8175176" cy="776287"/>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75" dirty="0">
                <a:solidFill>
                  <a:srgbClr val="F2F1EC"/>
                </a:solidFill>
                <a:latin typeface="Consolas" pitchFamily="34" charset="0"/>
                <a:ea typeface="Consolas" pitchFamily="34" charset="-122"/>
                <a:cs typeface="Consolas" pitchFamily="34" charset="-120"/>
              </a:rPr>
              <a:t>KLP[NN]_[NamaMahasiswa]_Laporan.pdf KLP[NN]_[NamaMahasiswa]_Presentasi.pdf</a:t>
            </a:r>
            <a:endParaRPr lang="en-US" sz="1875" dirty="0"/>
          </a:p>
        </p:txBody>
      </p:sp>
      <p:sp>
        <p:nvSpPr>
          <p:cNvPr id="14" name="Shape 12"/>
          <p:cNvSpPr/>
          <p:nvPr/>
        </p:nvSpPr>
        <p:spPr>
          <a:xfrm>
            <a:off x="9975413" y="2403634"/>
            <a:ext cx="7264718" cy="7159466"/>
          </a:xfrm>
          <a:prstGeom prst="roundRect">
            <a:avLst>
              <a:gd name="adj" fmla="val 2129"/>
            </a:avLst>
          </a:prstGeom>
          <a:solidFill>
            <a:srgbClr val="FFEEE8"/>
          </a:solidFill>
          <a:ln w="15240">
            <a:solidFill>
              <a:srgbClr val="F2654E"/>
            </a:solidFill>
            <a:prstDash val="solid"/>
          </a:ln>
        </p:spPr>
        <p:txBody>
          <a:bodyPr/>
          <a:lstStyle/>
          <a:p>
            <a:endParaRPr lang="en-ID"/>
          </a:p>
        </p:txBody>
      </p:sp>
      <p:sp>
        <p:nvSpPr>
          <p:cNvPr id="15" name="Text 13"/>
          <p:cNvSpPr/>
          <p:nvPr/>
        </p:nvSpPr>
        <p:spPr>
          <a:xfrm>
            <a:off x="10371654" y="3900249"/>
            <a:ext cx="6666405" cy="342900"/>
          </a:xfrm>
          <a:prstGeom prst="rect">
            <a:avLst/>
          </a:prstGeom>
          <a:noFill/>
          <a:ln/>
        </p:spPr>
        <p:txBody>
          <a:bodyPr wrap="square" lIns="25400" tIns="25400" rIns="25400" bIns="25400" rtlCol="0" anchor="t">
            <a:normAutofit/>
          </a:bodyPr>
          <a:lstStyle/>
          <a:p>
            <a:pPr marL="0" indent="0" algn="l">
              <a:buNone/>
            </a:pPr>
            <a:r>
              <a:rPr lang="en-US" sz="1800" b="1" kern="0" spc="150" dirty="0">
                <a:solidFill>
                  <a:srgbClr val="F2654E"/>
                </a:solidFill>
                <a:latin typeface="Segoe UI" pitchFamily="34" charset="0"/>
                <a:ea typeface="Segoe UI" pitchFamily="34" charset="-122"/>
                <a:cs typeface="Segoe UI" pitchFamily="34" charset="-120"/>
              </a:rPr>
              <a:t>TENGGAT PENGUMPULAN</a:t>
            </a:r>
            <a:endParaRPr lang="en-US" sz="1800" dirty="0"/>
          </a:p>
        </p:txBody>
      </p:sp>
      <p:sp>
        <p:nvSpPr>
          <p:cNvPr id="16" name="Text 14"/>
          <p:cNvSpPr/>
          <p:nvPr/>
        </p:nvSpPr>
        <p:spPr>
          <a:xfrm>
            <a:off x="10371654" y="4376499"/>
            <a:ext cx="6666405" cy="64579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4350" b="1" kern="0" spc="-75" dirty="0">
                <a:solidFill>
                  <a:srgbClr val="B0402C"/>
                </a:solidFill>
                <a:latin typeface="Segoe UI" pitchFamily="34" charset="0"/>
                <a:ea typeface="Segoe UI" pitchFamily="34" charset="-122"/>
                <a:cs typeface="Segoe UI" pitchFamily="34" charset="-120"/>
              </a:rPr>
              <a:t>Sabtu, 27 Juni 2026</a:t>
            </a:r>
            <a:endParaRPr lang="en-US" sz="4350" dirty="0"/>
          </a:p>
        </p:txBody>
      </p:sp>
      <p:sp>
        <p:nvSpPr>
          <p:cNvPr id="17" name="Text 15"/>
          <p:cNvSpPr/>
          <p:nvPr/>
        </p:nvSpPr>
        <p:spPr>
          <a:xfrm>
            <a:off x="10371654" y="5041345"/>
            <a:ext cx="666640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7C3322"/>
                </a:solidFill>
                <a:latin typeface="Segoe UI" pitchFamily="34" charset="0"/>
                <a:ea typeface="Segoe UI" pitchFamily="34" charset="-122"/>
                <a:cs typeface="Segoe UI" pitchFamily="34" charset="-120"/>
              </a:rPr>
              <a:t>Pukul 23.59 WIB</a:t>
            </a:r>
            <a:endParaRPr lang="en-US" sz="3000" dirty="0"/>
          </a:p>
        </p:txBody>
      </p:sp>
      <p:sp>
        <p:nvSpPr>
          <p:cNvPr id="18" name="Shape 16"/>
          <p:cNvSpPr/>
          <p:nvPr/>
        </p:nvSpPr>
        <p:spPr>
          <a:xfrm>
            <a:off x="10371654" y="5818584"/>
            <a:ext cx="6472238" cy="9525"/>
          </a:xfrm>
          <a:prstGeom prst="rect">
            <a:avLst/>
          </a:prstGeom>
          <a:solidFill>
            <a:srgbClr val="FFD4C8"/>
          </a:solidFill>
          <a:ln/>
        </p:spPr>
        <p:txBody>
          <a:bodyPr/>
          <a:lstStyle/>
          <a:p>
            <a:endParaRPr lang="en-ID"/>
          </a:p>
        </p:txBody>
      </p:sp>
      <p:sp>
        <p:nvSpPr>
          <p:cNvPr id="19" name="Text 17"/>
          <p:cNvSpPr/>
          <p:nvPr/>
        </p:nvSpPr>
        <p:spPr>
          <a:xfrm>
            <a:off x="10371654" y="6094809"/>
            <a:ext cx="6666405" cy="70485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75" dirty="0">
                <a:solidFill>
                  <a:srgbClr val="7C3322"/>
                </a:solidFill>
                <a:latin typeface="Segoe UI" pitchFamily="34" charset="0"/>
                <a:ea typeface="Segoe UI" pitchFamily="34" charset="-122"/>
                <a:cs typeface="Segoe UI" pitchFamily="34" charset="-120"/>
              </a:rPr>
              <a:t>Platform </a:t>
            </a:r>
            <a:r>
              <a:rPr lang="en-US" sz="1875" b="1" dirty="0">
                <a:solidFill>
                  <a:srgbClr val="7C3322"/>
                </a:solidFill>
                <a:latin typeface="Segoe UI" pitchFamily="34" charset="0"/>
                <a:ea typeface="Segoe UI" pitchFamily="34" charset="-122"/>
                <a:cs typeface="Segoe UI" pitchFamily="34" charset="-120"/>
              </a:rPr>
              <a:t>LEADS </a:t>
            </a:r>
            <a:r>
              <a:rPr lang="en-US" sz="1875" dirty="0">
                <a:solidFill>
                  <a:srgbClr val="7C3322"/>
                </a:solidFill>
                <a:latin typeface="Segoe UI" pitchFamily="34" charset="0"/>
                <a:ea typeface="Segoe UI" pitchFamily="34" charset="-122"/>
                <a:cs typeface="Segoe UI" pitchFamily="34" charset="-120"/>
              </a:rPr>
              <a:t>, setiap mahasiswa mengunggah secara individual.</a:t>
            </a:r>
            <a:endParaRPr lang="en-US" sz="1875" dirty="0"/>
          </a:p>
        </p:txBody>
      </p:sp>
      <p:sp>
        <p:nvSpPr>
          <p:cNvPr id="20" name="Text 18"/>
          <p:cNvSpPr/>
          <p:nvPr/>
        </p:nvSpPr>
        <p:spPr>
          <a:xfrm>
            <a:off x="10371654" y="6913959"/>
            <a:ext cx="6666405" cy="70485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75" dirty="0">
                <a:solidFill>
                  <a:srgbClr val="7C3322"/>
                </a:solidFill>
                <a:latin typeface="Segoe UI" pitchFamily="34" charset="0"/>
                <a:ea typeface="Segoe UI" pitchFamily="34" charset="-122"/>
                <a:cs typeface="Segoe UI" pitchFamily="34" charset="-120"/>
              </a:rPr>
              <a:t>Link Tableau Public dicantumkan di halaman dan slide pertama.</a:t>
            </a:r>
            <a:endParaRPr lang="en-US" sz="1875" dirty="0"/>
          </a:p>
        </p:txBody>
      </p:sp>
      <p:sp>
        <p:nvSpPr>
          <p:cNvPr id="21" name="Text 19"/>
          <p:cNvSpPr/>
          <p:nvPr/>
        </p:nvSpPr>
        <p:spPr>
          <a:xfrm>
            <a:off x="10371654" y="7733109"/>
            <a:ext cx="6666405"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b="1" dirty="0">
                <a:solidFill>
                  <a:srgbClr val="B24A3C"/>
                </a:solidFill>
                <a:latin typeface="Segoe UI" pitchFamily="34" charset="0"/>
                <a:ea typeface="Segoe UI" pitchFamily="34" charset="-122"/>
                <a:cs typeface="Segoe UI" pitchFamily="34" charset="-120"/>
              </a:rPr>
              <a:t>Keterlambatan mengurangi nilai 5 poin per jam.</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0201E"/>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429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FB29E"/>
                </a:solidFill>
                <a:latin typeface="Segoe UI" pitchFamily="34" charset="0"/>
                <a:ea typeface="Segoe UI" pitchFamily="34" charset="-122"/>
                <a:cs typeface="Segoe UI" pitchFamily="34" charset="-120"/>
              </a:rPr>
              <a:t>PENUTUP</a:t>
            </a:r>
            <a:endParaRPr lang="en-US" sz="1800" dirty="0"/>
          </a:p>
        </p:txBody>
      </p:sp>
      <p:sp>
        <p:nvSpPr>
          <p:cNvPr id="3" name="Text 1"/>
          <p:cNvSpPr/>
          <p:nvPr/>
        </p:nvSpPr>
        <p:spPr>
          <a:xfrm>
            <a:off x="1047750" y="2503408"/>
            <a:ext cx="15304770" cy="2159437"/>
          </a:xfrm>
          <a:prstGeom prst="rect">
            <a:avLst/>
          </a:prstGeom>
          <a:noFill/>
          <a:ln/>
        </p:spPr>
        <p:txBody>
          <a:bodyPr wrap="square" lIns="25400" tIns="25400" rIns="25400" bIns="25400" rtlCol="0" anchor="t">
            <a:normAutofit fontScale="92500" lnSpcReduction="10000"/>
          </a:bodyPr>
          <a:lstStyle/>
          <a:p>
            <a:pPr marL="0" indent="0" algn="l">
              <a:lnSpc>
                <a:spcPct val="116000"/>
              </a:lnSpc>
              <a:buNone/>
            </a:pPr>
            <a:r>
              <a:rPr lang="en-US" sz="4800" b="1" kern="0" spc="-60" dirty="0">
                <a:solidFill>
                  <a:srgbClr val="F2F1EC"/>
                </a:solidFill>
                <a:latin typeface="Segoe UI" pitchFamily="34" charset="0"/>
                <a:ea typeface="Segoe UI" pitchFamily="34" charset="-122"/>
                <a:cs typeface="Segoe UI" pitchFamily="34" charset="-120"/>
              </a:rPr>
              <a:t>Tunjukkan bahwa kalian mampu bukan hanya membuat visualisasi yang indah, tetapi juga berpikir tajam dan memberikan rekomendasi yang bermakna.</a:t>
            </a:r>
            <a:endParaRPr lang="en-US" sz="4800" dirty="0"/>
          </a:p>
        </p:txBody>
      </p:sp>
      <p:sp>
        <p:nvSpPr>
          <p:cNvPr id="4" name="Shape 2"/>
          <p:cNvSpPr/>
          <p:nvPr/>
        </p:nvSpPr>
        <p:spPr>
          <a:xfrm>
            <a:off x="1047750" y="4967645"/>
            <a:ext cx="914400" cy="57150"/>
          </a:xfrm>
          <a:prstGeom prst="roundRect">
            <a:avLst>
              <a:gd name="adj" fmla="val 50000"/>
            </a:avLst>
          </a:prstGeom>
          <a:solidFill>
            <a:srgbClr val="F2654E"/>
          </a:solidFill>
          <a:ln/>
        </p:spPr>
        <p:txBody>
          <a:bodyPr/>
          <a:lstStyle/>
          <a:p>
            <a:endParaRPr lang="en-ID"/>
          </a:p>
        </p:txBody>
      </p:sp>
      <p:sp>
        <p:nvSpPr>
          <p:cNvPr id="5" name="Shape 3"/>
          <p:cNvSpPr/>
          <p:nvPr/>
        </p:nvSpPr>
        <p:spPr>
          <a:xfrm>
            <a:off x="1047750" y="6309122"/>
            <a:ext cx="5219700" cy="1299210"/>
          </a:xfrm>
          <a:prstGeom prst="roundRect">
            <a:avLst>
              <a:gd name="adj" fmla="val 10264"/>
            </a:avLst>
          </a:prstGeom>
          <a:solidFill>
            <a:srgbClr val="FFFFFF">
              <a:alpha val="5000"/>
            </a:srgbClr>
          </a:solidFill>
          <a:ln w="7620">
            <a:solidFill>
              <a:srgbClr val="FFFFFF">
                <a:alpha val="12000"/>
              </a:srgbClr>
            </a:solidFill>
            <a:prstDash val="solid"/>
          </a:ln>
        </p:spPr>
        <p:txBody>
          <a:bodyPr/>
          <a:lstStyle/>
          <a:p>
            <a:endParaRPr lang="en-ID"/>
          </a:p>
        </p:txBody>
      </p:sp>
      <p:sp>
        <p:nvSpPr>
          <p:cNvPr id="6" name="Text 4"/>
          <p:cNvSpPr/>
          <p:nvPr/>
        </p:nvSpPr>
        <p:spPr>
          <a:xfrm>
            <a:off x="1341120" y="6583442"/>
            <a:ext cx="4771949"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FFB29E"/>
                </a:solidFill>
                <a:latin typeface="Segoe UI" pitchFamily="34" charset="0"/>
                <a:ea typeface="Segoe UI" pitchFamily="34" charset="-122"/>
                <a:cs typeface="Segoe UI" pitchFamily="34" charset="-120"/>
              </a:rPr>
              <a:t>Rekomendasi adalah kunci</a:t>
            </a:r>
            <a:endParaRPr lang="en-US" sz="2025" dirty="0"/>
          </a:p>
        </p:txBody>
      </p:sp>
      <p:sp>
        <p:nvSpPr>
          <p:cNvPr id="7" name="Text 5"/>
          <p:cNvSpPr/>
          <p:nvPr/>
        </p:nvSpPr>
        <p:spPr>
          <a:xfrm>
            <a:off x="1341120" y="7013972"/>
            <a:ext cx="4771949"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F2F1EC">
                    <a:alpha val="70000"/>
                  </a:srgbClr>
                </a:solidFill>
                <a:latin typeface="Segoe UI" pitchFamily="34" charset="0"/>
                <a:ea typeface="Segoe UI" pitchFamily="34" charset="-122"/>
                <a:cs typeface="Segoe UI" pitchFamily="34" charset="-120"/>
              </a:rPr>
              <a:t>Ubah temuan visual menjadi argumen bisnis.</a:t>
            </a:r>
            <a:endParaRPr lang="en-US" sz="1800" dirty="0"/>
          </a:p>
        </p:txBody>
      </p:sp>
      <p:sp>
        <p:nvSpPr>
          <p:cNvPr id="8" name="Shape 6"/>
          <p:cNvSpPr/>
          <p:nvPr/>
        </p:nvSpPr>
        <p:spPr>
          <a:xfrm>
            <a:off x="6534150" y="6309122"/>
            <a:ext cx="5219700" cy="1299210"/>
          </a:xfrm>
          <a:prstGeom prst="roundRect">
            <a:avLst>
              <a:gd name="adj" fmla="val 10264"/>
            </a:avLst>
          </a:prstGeom>
          <a:solidFill>
            <a:srgbClr val="FFFFFF">
              <a:alpha val="5000"/>
            </a:srgbClr>
          </a:solidFill>
          <a:ln w="7620">
            <a:solidFill>
              <a:srgbClr val="FFFFFF">
                <a:alpha val="12000"/>
              </a:srgbClr>
            </a:solidFill>
            <a:prstDash val="solid"/>
          </a:ln>
        </p:spPr>
        <p:txBody>
          <a:bodyPr/>
          <a:lstStyle/>
          <a:p>
            <a:endParaRPr lang="en-ID"/>
          </a:p>
        </p:txBody>
      </p:sp>
      <p:sp>
        <p:nvSpPr>
          <p:cNvPr id="9" name="Text 7"/>
          <p:cNvSpPr/>
          <p:nvPr/>
        </p:nvSpPr>
        <p:spPr>
          <a:xfrm>
            <a:off x="6827520" y="6583442"/>
            <a:ext cx="4771949"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FFB29E"/>
                </a:solidFill>
                <a:latin typeface="Segoe UI" pitchFamily="34" charset="0"/>
                <a:ea typeface="Segoe UI" pitchFamily="34" charset="-122"/>
                <a:cs typeface="Segoe UI" pitchFamily="34" charset="-120"/>
              </a:rPr>
              <a:t>Kerjakan dengan jujur</a:t>
            </a:r>
            <a:endParaRPr lang="en-US" sz="2025" dirty="0"/>
          </a:p>
        </p:txBody>
      </p:sp>
      <p:sp>
        <p:nvSpPr>
          <p:cNvPr id="10" name="Text 8"/>
          <p:cNvSpPr/>
          <p:nvPr/>
        </p:nvSpPr>
        <p:spPr>
          <a:xfrm>
            <a:off x="6827520" y="7013972"/>
            <a:ext cx="4771949"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F2F1EC">
                    <a:alpha val="70000"/>
                  </a:srgbClr>
                </a:solidFill>
                <a:latin typeface="Segoe UI" pitchFamily="34" charset="0"/>
                <a:ea typeface="Segoe UI" pitchFamily="34" charset="-122"/>
                <a:cs typeface="Segoe UI" pitchFamily="34" charset="-120"/>
              </a:rPr>
              <a:t>Hasil pemikiran sendiri, tanpa AI generatif.</a:t>
            </a:r>
            <a:endParaRPr lang="en-US" sz="1800" dirty="0"/>
          </a:p>
        </p:txBody>
      </p:sp>
      <p:sp>
        <p:nvSpPr>
          <p:cNvPr id="11" name="Shape 9"/>
          <p:cNvSpPr/>
          <p:nvPr/>
        </p:nvSpPr>
        <p:spPr>
          <a:xfrm>
            <a:off x="12020550" y="6309122"/>
            <a:ext cx="5219700" cy="1299210"/>
          </a:xfrm>
          <a:prstGeom prst="roundRect">
            <a:avLst>
              <a:gd name="adj" fmla="val 10264"/>
            </a:avLst>
          </a:prstGeom>
          <a:solidFill>
            <a:srgbClr val="FFFFFF">
              <a:alpha val="5000"/>
            </a:srgbClr>
          </a:solidFill>
          <a:ln w="7620">
            <a:solidFill>
              <a:srgbClr val="FFFFFF">
                <a:alpha val="12000"/>
              </a:srgbClr>
            </a:solidFill>
            <a:prstDash val="solid"/>
          </a:ln>
        </p:spPr>
        <p:txBody>
          <a:bodyPr/>
          <a:lstStyle/>
          <a:p>
            <a:endParaRPr lang="en-ID"/>
          </a:p>
        </p:txBody>
      </p:sp>
      <p:sp>
        <p:nvSpPr>
          <p:cNvPr id="12" name="Text 10"/>
          <p:cNvSpPr/>
          <p:nvPr/>
        </p:nvSpPr>
        <p:spPr>
          <a:xfrm>
            <a:off x="12313920" y="6583442"/>
            <a:ext cx="4771949" cy="373380"/>
          </a:xfrm>
          <a:prstGeom prst="rect">
            <a:avLst/>
          </a:prstGeom>
          <a:noFill/>
          <a:ln/>
        </p:spPr>
        <p:txBody>
          <a:bodyPr wrap="square" lIns="25400" tIns="25400" rIns="25400" bIns="25400" rtlCol="0" anchor="t">
            <a:normAutofit/>
          </a:bodyPr>
          <a:lstStyle/>
          <a:p>
            <a:pPr marL="0" indent="0" algn="l">
              <a:buNone/>
            </a:pPr>
            <a:r>
              <a:rPr lang="en-US" sz="2025" b="1" dirty="0">
                <a:solidFill>
                  <a:srgbClr val="FFB29E"/>
                </a:solidFill>
                <a:latin typeface="Segoe UI" pitchFamily="34" charset="0"/>
                <a:ea typeface="Segoe UI" pitchFamily="34" charset="-122"/>
                <a:cs typeface="Segoe UI" pitchFamily="34" charset="-120"/>
              </a:rPr>
              <a:t>Patuhi tenggat</a:t>
            </a:r>
            <a:endParaRPr lang="en-US" sz="2025" dirty="0"/>
          </a:p>
        </p:txBody>
      </p:sp>
      <p:sp>
        <p:nvSpPr>
          <p:cNvPr id="13" name="Text 11"/>
          <p:cNvSpPr/>
          <p:nvPr/>
        </p:nvSpPr>
        <p:spPr>
          <a:xfrm>
            <a:off x="12313920" y="7013972"/>
            <a:ext cx="4771949"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F2F1EC">
                    <a:alpha val="70000"/>
                  </a:srgbClr>
                </a:solidFill>
                <a:latin typeface="Segoe UI" pitchFamily="34" charset="0"/>
                <a:ea typeface="Segoe UI" pitchFamily="34" charset="-122"/>
                <a:cs typeface="Segoe UI" pitchFamily="34" charset="-120"/>
              </a:rPr>
              <a:t>27 Juni 2026, pukul 23.59 WIB.</a:t>
            </a:r>
            <a:endParaRPr lang="en-US" sz="1800" dirty="0"/>
          </a:p>
        </p:txBody>
      </p:sp>
      <p:sp>
        <p:nvSpPr>
          <p:cNvPr id="14" name="Shape 12"/>
          <p:cNvSpPr/>
          <p:nvPr/>
        </p:nvSpPr>
        <p:spPr>
          <a:xfrm>
            <a:off x="1047750" y="8892540"/>
            <a:ext cx="16192500" cy="9525"/>
          </a:xfrm>
          <a:prstGeom prst="rect">
            <a:avLst/>
          </a:prstGeom>
          <a:solidFill>
            <a:srgbClr val="F2F1EC">
              <a:alpha val="16000"/>
            </a:srgbClr>
          </a:solidFill>
          <a:ln/>
        </p:spPr>
        <p:txBody>
          <a:bodyPr/>
          <a:lstStyle/>
          <a:p>
            <a:endParaRPr lang="en-ID"/>
          </a:p>
        </p:txBody>
      </p:sp>
      <p:sp>
        <p:nvSpPr>
          <p:cNvPr id="15" name="Text 13"/>
          <p:cNvSpPr/>
          <p:nvPr/>
        </p:nvSpPr>
        <p:spPr>
          <a:xfrm>
            <a:off x="1047750" y="9166860"/>
            <a:ext cx="5300503" cy="358140"/>
          </a:xfrm>
          <a:prstGeom prst="rect">
            <a:avLst/>
          </a:prstGeom>
          <a:noFill/>
          <a:ln/>
        </p:spPr>
        <p:txBody>
          <a:bodyPr wrap="square" lIns="25400" tIns="25400" rIns="25400" bIns="25400" rtlCol="0" anchor="t">
            <a:normAutofit/>
          </a:bodyPr>
          <a:lstStyle/>
          <a:p>
            <a:pPr marL="0" indent="0" algn="l">
              <a:buNone/>
            </a:pPr>
            <a:r>
              <a:rPr lang="en-US" sz="1875" dirty="0">
                <a:solidFill>
                  <a:srgbClr val="F2F1EC">
                    <a:alpha val="60000"/>
                  </a:srgbClr>
                </a:solidFill>
                <a:latin typeface="Segoe UI" pitchFamily="34" charset="0"/>
                <a:ea typeface="Segoe UI" pitchFamily="34" charset="-122"/>
                <a:cs typeface="Segoe UI" pitchFamily="34" charset="-120"/>
              </a:rPr>
              <a:t>Big Data Analytics · Kelas A · UPN Veteran Jakarta</a:t>
            </a:r>
            <a:endParaRPr lang="en-US" sz="1875" dirty="0"/>
          </a:p>
        </p:txBody>
      </p:sp>
      <p:sp>
        <p:nvSpPr>
          <p:cNvPr id="16" name="Text 14"/>
          <p:cNvSpPr/>
          <p:nvPr/>
        </p:nvSpPr>
        <p:spPr>
          <a:xfrm>
            <a:off x="14901624" y="9166860"/>
            <a:ext cx="2414826" cy="358140"/>
          </a:xfrm>
          <a:prstGeom prst="rect">
            <a:avLst/>
          </a:prstGeom>
          <a:noFill/>
          <a:ln/>
        </p:spPr>
        <p:txBody>
          <a:bodyPr wrap="square" lIns="25400" tIns="25400" rIns="25400" bIns="25400" rtlCol="0" anchor="t">
            <a:normAutofit fontScale="92500"/>
          </a:bodyPr>
          <a:lstStyle/>
          <a:p>
            <a:pPr marL="0" indent="0" algn="l">
              <a:buNone/>
            </a:pPr>
            <a:r>
              <a:rPr lang="en-US" sz="1875" b="1" dirty="0">
                <a:solidFill>
                  <a:srgbClr val="FFB29E"/>
                </a:solidFill>
                <a:latin typeface="Segoe UI" pitchFamily="34" charset="0"/>
                <a:ea typeface="Segoe UI" pitchFamily="34" charset="-122"/>
                <a:cs typeface="Segoe UI" pitchFamily="34" charset="-120"/>
              </a:rPr>
              <a:t>Selamat mengerjakan</a:t>
            </a:r>
            <a:endParaRPr lang="en-US" sz="18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2183</Words>
  <Application>Microsoft Office PowerPoint</Application>
  <PresentationFormat>Custom</PresentationFormat>
  <Paragraphs>332</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Donny M Putra</dc:creator>
  <cp:lastModifiedBy>Jafinbelva</cp:lastModifiedBy>
  <cp:revision>2</cp:revision>
  <dcterms:created xsi:type="dcterms:W3CDTF">2026-06-12T01:56:55Z</dcterms:created>
  <dcterms:modified xsi:type="dcterms:W3CDTF">2026-06-13T01:04:45Z</dcterms:modified>
</cp:coreProperties>
</file>