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6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912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6B7D-5C5B-4A80-023E-DE7D2BEA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314D5-FBB0-69FC-DB4C-92ACAAB4C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0C63C-3EB0-5A69-0D4E-A5503AB03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CDF1C-BAA4-8116-60E7-24043E71BC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04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0A7B-1936-D22B-9D73-89E5CB07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F9343F-44A3-1C5A-4045-7A54453DAA68}"/>
              </a:ext>
            </a:extLst>
          </p:cNvPr>
          <p:cNvSpPr/>
          <p:nvPr/>
        </p:nvSpPr>
        <p:spPr>
          <a:xfrm rot="900000">
            <a:off x="6583680" y="731520"/>
            <a:ext cx="1097280" cy="10972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891EF1-706F-3D45-B489-C6ADF6E7B1BA}"/>
              </a:ext>
            </a:extLst>
          </p:cNvPr>
          <p:cNvSpPr/>
          <p:nvPr/>
        </p:nvSpPr>
        <p:spPr>
          <a:xfrm rot="1500000">
            <a:off x="7132320" y="457200"/>
            <a:ext cx="822960" cy="822960"/>
          </a:xfrm>
          <a:prstGeom prst="rect">
            <a:avLst/>
          </a:prstGeom>
          <a:solidFill>
            <a:srgbClr val="E8533F">
              <a:alpha val="8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6C0D47-5DAB-7772-2A76-614BC84C6F6D}"/>
              </a:ext>
            </a:extLst>
          </p:cNvPr>
          <p:cNvSpPr/>
          <p:nvPr/>
        </p:nvSpPr>
        <p:spPr>
          <a:xfrm rot="-600000">
            <a:off x="7772400" y="914400"/>
            <a:ext cx="914400" cy="914400"/>
          </a:xfrm>
          <a:prstGeom prst="rect">
            <a:avLst/>
          </a:prstGeom>
          <a:solidFill>
            <a:srgbClr val="1B2A4A">
              <a:alpha val="7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1EA95B-A49C-10A8-389D-B521228E29DE}"/>
              </a:ext>
            </a:extLst>
          </p:cNvPr>
          <p:cNvSpPr/>
          <p:nvPr/>
        </p:nvSpPr>
        <p:spPr>
          <a:xfrm rot="1200000">
            <a:off x="7315200" y="1371600"/>
            <a:ext cx="548640" cy="548640"/>
          </a:xfrm>
          <a:prstGeom prst="rect">
            <a:avLst/>
          </a:prstGeom>
          <a:solidFill>
            <a:srgbClr val="E8533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C9CAA47-E188-5FE3-E8DE-2538422F839F}"/>
              </a:ext>
            </a:extLst>
          </p:cNvPr>
          <p:cNvSpPr/>
          <p:nvPr/>
        </p:nvSpPr>
        <p:spPr>
          <a:xfrm rot="2100000">
            <a:off x="8229600" y="640080"/>
            <a:ext cx="457200" cy="457200"/>
          </a:xfrm>
          <a:prstGeom prst="rect">
            <a:avLst/>
          </a:prstGeom>
          <a:solidFill>
            <a:srgbClr val="E8533F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80CEF0E-DDC1-2652-0FE0-7CB0879219D2}"/>
              </a:ext>
            </a:extLst>
          </p:cNvPr>
          <p:cNvSpPr/>
          <p:nvPr/>
        </p:nvSpPr>
        <p:spPr>
          <a:xfrm rot="2700000">
            <a:off x="5943600" y="2011680"/>
            <a:ext cx="228600" cy="228600"/>
          </a:xfrm>
          <a:prstGeom prst="rect">
            <a:avLst/>
          </a:prstGeom>
          <a:solidFill>
            <a:srgbClr val="E8533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46BDDEE-A224-DA27-E2D7-F2EC58F45939}"/>
              </a:ext>
            </a:extLst>
          </p:cNvPr>
          <p:cNvSpPr/>
          <p:nvPr/>
        </p:nvSpPr>
        <p:spPr>
          <a:xfrm rot="1800000">
            <a:off x="6400800" y="2560320"/>
            <a:ext cx="137160" cy="1371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518D99-725E-39CD-18DA-ED53B7A48E35}"/>
              </a:ext>
            </a:extLst>
          </p:cNvPr>
          <p:cNvSpPr/>
          <p:nvPr/>
        </p:nvSpPr>
        <p:spPr>
          <a:xfrm>
            <a:off x="6217920" y="1828800"/>
            <a:ext cx="109728" cy="109728"/>
          </a:xfrm>
          <a:prstGeom prst="ellipse">
            <a:avLst/>
          </a:prstGeom>
          <a:solidFill>
            <a:srgbClr val="E8533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1574DDC-C5D3-DC5F-A97C-A4433A8E4688}"/>
              </a:ext>
            </a:extLst>
          </p:cNvPr>
          <p:cNvSpPr/>
          <p:nvPr/>
        </p:nvSpPr>
        <p:spPr>
          <a:xfrm>
            <a:off x="6858000" y="2286000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F70B404-DFA0-89EA-C3E7-0274269A293A}"/>
              </a:ext>
            </a:extLst>
          </p:cNvPr>
          <p:cNvSpPr/>
          <p:nvPr/>
        </p:nvSpPr>
        <p:spPr>
          <a:xfrm rot="-900000">
            <a:off x="5303520" y="1828800"/>
            <a:ext cx="2286000" cy="0"/>
          </a:xfrm>
          <a:prstGeom prst="line">
            <a:avLst/>
          </a:prstGeom>
          <a:noFill/>
          <a:ln w="1524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B9BF2E4-2F80-327D-6490-674DC8154F32}"/>
              </a:ext>
            </a:extLst>
          </p:cNvPr>
          <p:cNvSpPr/>
          <p:nvPr/>
        </p:nvSpPr>
        <p:spPr>
          <a:xfrm rot="600000">
            <a:off x="5486400" y="2103120"/>
            <a:ext cx="1828800" cy="0"/>
          </a:xfrm>
          <a:prstGeom prst="line">
            <a:avLst/>
          </a:prstGeom>
          <a:noFill/>
          <a:ln w="1016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E1A29B9-9139-DCE5-3F26-8523C91D86D2}"/>
              </a:ext>
            </a:extLst>
          </p:cNvPr>
          <p:cNvSpPr/>
          <p:nvPr/>
        </p:nvSpPr>
        <p:spPr>
          <a:xfrm rot="-1500000">
            <a:off x="5669280" y="1645920"/>
            <a:ext cx="1645920" cy="0"/>
          </a:xfrm>
          <a:prstGeom prst="line">
            <a:avLst/>
          </a:prstGeom>
          <a:noFill/>
          <a:ln w="762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DDD5A31A-E614-A90F-F3BC-C3C8C2B0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560320"/>
            <a:ext cx="1097280" cy="1097280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01E9EF3E-42EE-8CAC-72E7-19782A4AF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00400"/>
            <a:ext cx="640080" cy="640080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CAF49C87-6CE7-93CF-EE67-79A1FD2B8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517153"/>
            <a:ext cx="548640" cy="548640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11E6976B-02E5-E2D5-6DA7-6ADEAB7FC64D}"/>
              </a:ext>
            </a:extLst>
          </p:cNvPr>
          <p:cNvSpPr/>
          <p:nvPr/>
        </p:nvSpPr>
        <p:spPr>
          <a:xfrm>
            <a:off x="8412480" y="2103120"/>
            <a:ext cx="73152" cy="73152"/>
          </a:xfrm>
          <a:prstGeom prst="ellipse">
            <a:avLst/>
          </a:prstGeom>
          <a:solidFill>
            <a:srgbClr val="E8533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701896A6-ED23-849E-B156-B911B120D7A9}"/>
              </a:ext>
            </a:extLst>
          </p:cNvPr>
          <p:cNvSpPr/>
          <p:nvPr/>
        </p:nvSpPr>
        <p:spPr>
          <a:xfrm>
            <a:off x="5029200" y="2743200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C302B381-8DA4-8571-9D34-85B452FE1D3A}"/>
              </a:ext>
            </a:extLst>
          </p:cNvPr>
          <p:cNvSpPr/>
          <p:nvPr/>
        </p:nvSpPr>
        <p:spPr>
          <a:xfrm>
            <a:off x="5760720" y="3200400"/>
            <a:ext cx="54864" cy="54864"/>
          </a:xfrm>
          <a:prstGeom prst="ellipse">
            <a:avLst/>
          </a:prstGeom>
          <a:solidFill>
            <a:srgbClr val="E8533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061F13E-BD10-F640-B14D-A9020BCDAA87}"/>
              </a:ext>
            </a:extLst>
          </p:cNvPr>
          <p:cNvSpPr/>
          <p:nvPr/>
        </p:nvSpPr>
        <p:spPr>
          <a:xfrm>
            <a:off x="749808" y="777291"/>
            <a:ext cx="633860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B2A4A"/>
                </a:solidFill>
                <a:latin typeface="Poppins" panose="00000500000000000000" pitchFamily="2" charset="0"/>
                <a:ea typeface="Arial Black" pitchFamily="34" charset="-122"/>
                <a:cs typeface="Poppins" panose="00000500000000000000" pitchFamily="2" charset="0"/>
              </a:rPr>
              <a:t>Overview: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B2A4A"/>
                </a:solidFill>
                <a:latin typeface="Poppins" panose="00000500000000000000" pitchFamily="2" charset="0"/>
                <a:ea typeface="Arial Black" pitchFamily="34" charset="-122"/>
                <a:cs typeface="Poppins" panose="00000500000000000000" pitchFamily="2" charset="0"/>
              </a:rPr>
              <a:t>Big Data</a:t>
            </a:r>
            <a:r>
              <a:rPr lang="en-US" sz="4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4200" b="1" dirty="0">
                <a:solidFill>
                  <a:srgbClr val="1B2A4A"/>
                </a:solidFill>
                <a:latin typeface="Poppins" panose="00000500000000000000" pitchFamily="2" charset="0"/>
                <a:ea typeface="Arial Black" pitchFamily="34" charset="-122"/>
                <a:cs typeface="Poppins" panose="00000500000000000000" pitchFamily="2" charset="0"/>
              </a:rPr>
              <a:t>Analytics</a:t>
            </a:r>
            <a:endParaRPr lang="en-US" sz="4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8D5B3A6-838D-0C84-B5C6-8F782CDD3C8F}"/>
              </a:ext>
            </a:extLst>
          </p:cNvPr>
          <p:cNvSpPr/>
          <p:nvPr/>
        </p:nvSpPr>
        <p:spPr>
          <a:xfrm>
            <a:off x="749808" y="2186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E85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 Data Menjadi Nilai</a:t>
            </a:r>
            <a:endParaRPr lang="en-US" sz="2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4DAD4BD-9A88-BE8F-8F39-4C454BDDDF00}"/>
              </a:ext>
            </a:extLst>
          </p:cNvPr>
          <p:cNvSpPr/>
          <p:nvPr/>
        </p:nvSpPr>
        <p:spPr>
          <a:xfrm>
            <a:off x="82296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Dr. Donny Maha Putra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47DFF9B6-3679-3BF0-9DDC-5945199B002D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B1CD933-18CA-8FD8-383A-0D7CAA19C231}"/>
              </a:ext>
            </a:extLst>
          </p:cNvPr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792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300" dirty="0">
                <a:solidFill>
                  <a:srgbClr val="1B2A4A"/>
                </a:solidFill>
                <a:latin typeface="Poppins" panose="00000500000000000000" pitchFamily="2" charset="0"/>
                <a:ea typeface="Arial Black" pitchFamily="34" charset="-122"/>
                <a:cs typeface="Poppins" panose="00000500000000000000" pitchFamily="2" charset="0"/>
              </a:rPr>
              <a:t>THE INFOGINEERING MODEL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164592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Poppins" panose="00000500000000000000" pitchFamily="2" charset="0"/>
                <a:ea typeface="Arial Black" pitchFamily="34" charset="-122"/>
                <a:cs typeface="Poppins" panose="00000500000000000000" pitchFamily="2" charset="0"/>
              </a:rPr>
              <a:t>Data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7432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Fakta / Deskripsi Dunia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965960"/>
            <a:ext cx="822960" cy="4114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188720"/>
            <a:ext cx="1737360" cy="1737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0040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Poppins" panose="00000500000000000000" pitchFamily="2" charset="0"/>
                <a:ea typeface="Arial Black" pitchFamily="34" charset="-122"/>
                <a:cs typeface="Poppins" panose="00000500000000000000" pitchFamily="2" charset="0"/>
              </a:rPr>
              <a:t>Information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20040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Data + Knowledge (Captured)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965960"/>
            <a:ext cx="822960" cy="41148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143000"/>
            <a:ext cx="1828800" cy="16916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1792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Poppins" panose="00000500000000000000" pitchFamily="2" charset="0"/>
                <a:ea typeface="Arial Black" pitchFamily="34" charset="-122"/>
                <a:cs typeface="Poppins" panose="00000500000000000000" pitchFamily="2" charset="0"/>
              </a:rPr>
              <a:t>Knowledge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621792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Peta Internal Dunia Kita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914400" y="4160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"Anda tidak dapat menyimpan pengetahuan di luar otak anda;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yang tersimpan di komputer hanyalah informasi."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D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  <a:ln/>
        </p:spPr>
        <p:txBody>
          <a:bodyPr/>
          <a:lstStyle/>
          <a:p>
            <a:endParaRPr lang="en-ID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228600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PERBANDINGAN: KONVENSIONAL </a:t>
            </a:r>
            <a:r>
              <a:rPr lang="en-US" sz="2400" b="1" dirty="0">
                <a:solidFill>
                  <a:srgbClr val="8888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vs. </a:t>
            </a:r>
            <a:r>
              <a:rPr lang="en-US" sz="24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BIG DATA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749040" cy="3383280"/>
          </a:xfrm>
          <a:prstGeom prst="rect">
            <a:avLst/>
          </a:prstGeom>
          <a:solidFill>
            <a:srgbClr val="E8E5E1"/>
          </a:solidFill>
          <a:ln w="19050">
            <a:solidFill>
              <a:srgbClr val="BFBBB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8872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971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Konvensional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Terbatas oleh sistem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teknologi komputer tradisional.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0" y="1188720"/>
            <a:ext cx="0" cy="3017520"/>
          </a:xfrm>
          <a:prstGeom prst="line">
            <a:avLst/>
          </a:prstGeom>
          <a:noFill/>
          <a:ln w="12700">
            <a:solidFill>
              <a:srgbClr val="C0BCBA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6675120" y="2103120"/>
            <a:ext cx="1371600" cy="0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6675120" y="2103120"/>
            <a:ext cx="950272" cy="548640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629374" cy="898839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8"/>
          <p:cNvSpPr/>
          <p:nvPr/>
        </p:nvSpPr>
        <p:spPr>
          <a:xfrm>
            <a:off x="6675120" y="2103120"/>
            <a:ext cx="190541" cy="1080610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6299828" y="2103120"/>
            <a:ext cx="375292" cy="1031106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5834555" y="2103120"/>
            <a:ext cx="840565" cy="705318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5594510" y="2103120"/>
            <a:ext cx="1080610" cy="190541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5644014" y="1727828"/>
            <a:ext cx="1031106" cy="375292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3"/>
          <p:cNvSpPr/>
          <p:nvPr/>
        </p:nvSpPr>
        <p:spPr>
          <a:xfrm>
            <a:off x="5969802" y="1262555"/>
            <a:ext cx="705318" cy="840565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4"/>
          <p:cNvSpPr/>
          <p:nvPr/>
        </p:nvSpPr>
        <p:spPr>
          <a:xfrm>
            <a:off x="6484579" y="1022510"/>
            <a:ext cx="190541" cy="1080610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5"/>
          <p:cNvSpPr/>
          <p:nvPr/>
        </p:nvSpPr>
        <p:spPr>
          <a:xfrm>
            <a:off x="6675120" y="1072014"/>
            <a:ext cx="375292" cy="1031106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6675120" y="1397802"/>
            <a:ext cx="840565" cy="705318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7"/>
          <p:cNvSpPr/>
          <p:nvPr/>
        </p:nvSpPr>
        <p:spPr>
          <a:xfrm>
            <a:off x="6675120" y="1912579"/>
            <a:ext cx="1080610" cy="190541"/>
          </a:xfrm>
          <a:prstGeom prst="line">
            <a:avLst/>
          </a:prstGeom>
          <a:noFill/>
          <a:ln w="889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8"/>
          <p:cNvSpPr/>
          <p:nvPr/>
        </p:nvSpPr>
        <p:spPr>
          <a:xfrm rot="1200000">
            <a:off x="6701539" y="2166860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2" name="Shape 19"/>
          <p:cNvSpPr/>
          <p:nvPr/>
        </p:nvSpPr>
        <p:spPr>
          <a:xfrm rot="4200000">
            <a:off x="6510260" y="2358139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3" name="Shape 20"/>
          <p:cNvSpPr/>
          <p:nvPr/>
        </p:nvSpPr>
        <p:spPr>
          <a:xfrm rot="7200000">
            <a:off x="6240780" y="2334563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4" name="Shape 21"/>
          <p:cNvSpPr/>
          <p:nvPr/>
        </p:nvSpPr>
        <p:spPr>
          <a:xfrm rot="9900000">
            <a:off x="6091665" y="2140232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5" name="Shape 22"/>
          <p:cNvSpPr/>
          <p:nvPr/>
        </p:nvSpPr>
        <p:spPr>
          <a:xfrm rot="12900000">
            <a:off x="6138639" y="1873833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6" name="Shape 23"/>
          <p:cNvSpPr/>
          <p:nvPr/>
        </p:nvSpPr>
        <p:spPr>
          <a:xfrm rot="15600000">
            <a:off x="6345226" y="1742222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7" name="Shape 24"/>
          <p:cNvSpPr/>
          <p:nvPr/>
        </p:nvSpPr>
        <p:spPr>
          <a:xfrm rot="18300000">
            <a:off x="6584367" y="1795239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8" name="Shape 25"/>
          <p:cNvSpPr/>
          <p:nvPr/>
        </p:nvSpPr>
        <p:spPr>
          <a:xfrm rot="20700000">
            <a:off x="6709935" y="1974568"/>
            <a:ext cx="594360" cy="91440"/>
          </a:xfrm>
          <a:prstGeom prst="rect">
            <a:avLst/>
          </a:prstGeom>
          <a:solidFill>
            <a:srgbClr val="E8533F">
              <a:alpha val="7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9" name="Shape 26"/>
          <p:cNvSpPr/>
          <p:nvPr/>
        </p:nvSpPr>
        <p:spPr>
          <a:xfrm rot="900000">
            <a:off x="5486400" y="1097280"/>
            <a:ext cx="274320" cy="27432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30" name="Shape 27"/>
          <p:cNvSpPr/>
          <p:nvPr/>
        </p:nvSpPr>
        <p:spPr>
          <a:xfrm rot="-1200000">
            <a:off x="7498080" y="1005840"/>
            <a:ext cx="320040" cy="32004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31" name="Shape 28"/>
          <p:cNvSpPr/>
          <p:nvPr/>
        </p:nvSpPr>
        <p:spPr>
          <a:xfrm rot="1800000">
            <a:off x="7955280" y="1554480"/>
            <a:ext cx="228600" cy="22860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32" name="Shape 29"/>
          <p:cNvSpPr/>
          <p:nvPr/>
        </p:nvSpPr>
        <p:spPr>
          <a:xfrm rot="2700000">
            <a:off x="5212080" y="1737360"/>
            <a:ext cx="182880" cy="18288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33" name="Shape 30"/>
          <p:cNvSpPr/>
          <p:nvPr/>
        </p:nvSpPr>
        <p:spPr>
          <a:xfrm rot="-600000">
            <a:off x="7772400" y="2468880"/>
            <a:ext cx="256032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34" name="Shape 31"/>
          <p:cNvSpPr/>
          <p:nvPr/>
        </p:nvSpPr>
        <p:spPr>
          <a:xfrm rot="1500000">
            <a:off x="5577840" y="2651760"/>
            <a:ext cx="201168" cy="201168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35" name="Shape 32"/>
          <p:cNvSpPr/>
          <p:nvPr/>
        </p:nvSpPr>
        <p:spPr>
          <a:xfrm rot="3000000">
            <a:off x="7223760" y="1280160"/>
            <a:ext cx="164592" cy="16459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36" name="Shape 33"/>
          <p:cNvSpPr/>
          <p:nvPr/>
        </p:nvSpPr>
        <p:spPr>
          <a:xfrm rot="-2100000">
            <a:off x="5852160" y="1371600"/>
            <a:ext cx="237744" cy="237744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37" name="Shape 34"/>
          <p:cNvSpPr/>
          <p:nvPr/>
        </p:nvSpPr>
        <p:spPr>
          <a:xfrm rot="900000">
            <a:off x="7040880" y="2743200"/>
            <a:ext cx="182880" cy="18288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38" name="Shape 35"/>
          <p:cNvSpPr/>
          <p:nvPr/>
        </p:nvSpPr>
        <p:spPr>
          <a:xfrm rot="-1500000">
            <a:off x="8229600" y="1920240"/>
            <a:ext cx="201168" cy="201168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39" name="Shape 36"/>
          <p:cNvSpPr/>
          <p:nvPr/>
        </p:nvSpPr>
        <p:spPr>
          <a:xfrm rot="2400000">
            <a:off x="5029200" y="2377440"/>
            <a:ext cx="137160" cy="13716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40" name="Shape 37"/>
          <p:cNvSpPr/>
          <p:nvPr/>
        </p:nvSpPr>
        <p:spPr>
          <a:xfrm rot="600000">
            <a:off x="6492240" y="1005840"/>
            <a:ext cx="182880" cy="18288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41" name="Shape 38"/>
          <p:cNvSpPr/>
          <p:nvPr/>
        </p:nvSpPr>
        <p:spPr>
          <a:xfrm rot="3300000">
            <a:off x="8138160" y="2651760"/>
            <a:ext cx="164592" cy="16459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42" name="Shape 39"/>
          <p:cNvSpPr/>
          <p:nvPr/>
        </p:nvSpPr>
        <p:spPr>
          <a:xfrm rot="-900000">
            <a:off x="5303520" y="2926080"/>
            <a:ext cx="146304" cy="146304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43" name="Shape 40"/>
          <p:cNvSpPr/>
          <p:nvPr/>
        </p:nvSpPr>
        <p:spPr>
          <a:xfrm>
            <a:off x="4937760" y="1280160"/>
            <a:ext cx="73152" cy="73152"/>
          </a:xfrm>
          <a:prstGeom prst="ellipse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44" name="Shape 41"/>
          <p:cNvSpPr/>
          <p:nvPr/>
        </p:nvSpPr>
        <p:spPr>
          <a:xfrm>
            <a:off x="8412480" y="1371600"/>
            <a:ext cx="91440" cy="91440"/>
          </a:xfrm>
          <a:prstGeom prst="ellipse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45" name="Shape 42"/>
          <p:cNvSpPr/>
          <p:nvPr/>
        </p:nvSpPr>
        <p:spPr>
          <a:xfrm>
            <a:off x="6126480" y="3017520"/>
            <a:ext cx="64008" cy="64008"/>
          </a:xfrm>
          <a:prstGeom prst="ellipse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46" name="Shape 43"/>
          <p:cNvSpPr/>
          <p:nvPr/>
        </p:nvSpPr>
        <p:spPr>
          <a:xfrm>
            <a:off x="8046720" y="2834640"/>
            <a:ext cx="54864" cy="54864"/>
          </a:xfrm>
          <a:prstGeom prst="ellipse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47" name="Shape 44"/>
          <p:cNvSpPr/>
          <p:nvPr/>
        </p:nvSpPr>
        <p:spPr>
          <a:xfrm>
            <a:off x="5303520" y="3200400"/>
            <a:ext cx="73152" cy="73152"/>
          </a:xfrm>
          <a:prstGeom prst="ellipse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48" name="Shape 45"/>
          <p:cNvSpPr/>
          <p:nvPr/>
        </p:nvSpPr>
        <p:spPr>
          <a:xfrm>
            <a:off x="8503920" y="2377440"/>
            <a:ext cx="45720" cy="45720"/>
          </a:xfrm>
          <a:prstGeom prst="ellipse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731520" cy="73152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4846320" y="320040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Big Data</a:t>
            </a:r>
            <a:endParaRPr lang="en-US" sz="2200" dirty="0"/>
          </a:p>
        </p:txBody>
      </p:sp>
      <p:sp>
        <p:nvSpPr>
          <p:cNvPr id="51" name="Text 47"/>
          <p:cNvSpPr/>
          <p:nvPr/>
        </p:nvSpPr>
        <p:spPr>
          <a:xfrm>
            <a:off x="4846320" y="361188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Aset informasi dengan volume, kecepatan,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 keragaman tinggi yang menuntut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metode analisis inovatif.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Definisi berdasarkan McKinsey Global (2011) &amp; Hurwitz (2013).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54" name="Shape 50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Karakteristik Utama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2918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210312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5 V's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of Big Data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97680" y="822960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4297680" y="822960"/>
            <a:ext cx="73152" cy="6858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950976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83480" y="841248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Volume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83480" y="1124712"/>
            <a:ext cx="37033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Jumlah data yang sangat </a:t>
            </a:r>
            <a:r>
              <a:rPr lang="en-US" sz="950" dirty="0" err="1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besar</a:t>
            </a: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dari terabyte </a:t>
            </a:r>
            <a:r>
              <a:rPr lang="en-US" sz="950" dirty="0" err="1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hingga</a:t>
            </a: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zettabyte, dihasilkan setiap detik dari berbagai sumber.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297680" y="1618488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4297680" y="1618488"/>
            <a:ext cx="73152" cy="685800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1746504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1636776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8E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</a:t>
            </a:r>
            <a:r>
              <a:rPr lang="en-US" sz="16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elocity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920240"/>
            <a:ext cx="37033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Kecepatan data dihasilkan, diproses, dan dianalisis secara real-time atau near real-time.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297680" y="2414016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1"/>
          <p:cNvSpPr/>
          <p:nvPr/>
        </p:nvSpPr>
        <p:spPr>
          <a:xfrm>
            <a:off x="4297680" y="2414016"/>
            <a:ext cx="73152" cy="685800"/>
          </a:xfrm>
          <a:prstGeom prst="rect">
            <a:avLst/>
          </a:prstGeom>
          <a:solidFill>
            <a:srgbClr val="7D3C98"/>
          </a:solidFill>
        </p:spPr>
        <p:txBody>
          <a:bodyPr/>
          <a:lstStyle/>
          <a:p>
            <a:endParaRPr lang="en-ID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254203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2432304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3C9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</a:t>
            </a:r>
            <a:r>
              <a:rPr lang="en-US" sz="16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ariety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2715768"/>
            <a:ext cx="37033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Keragaman format data: terstruktur (tabel), semi-terstruktur (JSON), dan tidak terstruktur (teks, gambar, video).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297680" y="3209544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5"/>
          <p:cNvSpPr/>
          <p:nvPr/>
        </p:nvSpPr>
        <p:spPr>
          <a:xfrm>
            <a:off x="4297680" y="3209544"/>
            <a:ext cx="73152" cy="6858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ID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33375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83480" y="3227832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0392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</a:t>
            </a:r>
            <a:r>
              <a:rPr lang="en-US" sz="16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eracity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983480" y="3511296"/>
            <a:ext cx="37033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Tingkat keandalan dan akurasi data  </a:t>
            </a:r>
            <a:r>
              <a:rPr lang="en-US" sz="950" dirty="0" err="1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tantangan</a:t>
            </a: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utama dalam menjamin kualitas keputusan berbasis data.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297680" y="4005072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19"/>
          <p:cNvSpPr/>
          <p:nvPr/>
        </p:nvSpPr>
        <p:spPr>
          <a:xfrm>
            <a:off x="4297680" y="4005072"/>
            <a:ext cx="73152" cy="685800"/>
          </a:xfrm>
          <a:prstGeom prst="rect">
            <a:avLst/>
          </a:prstGeom>
          <a:solidFill>
            <a:srgbClr val="D4A843"/>
          </a:solidFill>
        </p:spPr>
        <p:txBody>
          <a:bodyPr/>
          <a:lstStyle/>
          <a:p>
            <a:endParaRPr lang="en-ID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4133088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83480" y="40233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A84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</a:t>
            </a:r>
            <a:r>
              <a:rPr lang="en-US" sz="16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alue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983480" y="4306824"/>
            <a:ext cx="37033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Nilai strategis yang dapat diekstrak dari data untuk mendukung pengambilan keputusan dan inovasi.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200400" y="1463040"/>
            <a:ext cx="1097280" cy="0"/>
          </a:xfrm>
          <a:prstGeom prst="line">
            <a:avLst/>
          </a:prstGeom>
          <a:noFill/>
          <a:ln w="10160">
            <a:solidFill>
              <a:srgbClr val="1B2A4A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3"/>
          <p:cNvSpPr/>
          <p:nvPr/>
        </p:nvSpPr>
        <p:spPr>
          <a:xfrm>
            <a:off x="3566160" y="2103120"/>
            <a:ext cx="731520" cy="0"/>
          </a:xfrm>
          <a:prstGeom prst="line">
            <a:avLst/>
          </a:prstGeom>
          <a:noFill/>
          <a:ln w="10160">
            <a:solidFill>
              <a:srgbClr val="2D8E5F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24"/>
          <p:cNvSpPr/>
          <p:nvPr/>
        </p:nvSpPr>
        <p:spPr>
          <a:xfrm>
            <a:off x="3566160" y="2926080"/>
            <a:ext cx="731520" cy="0"/>
          </a:xfrm>
          <a:prstGeom prst="line">
            <a:avLst/>
          </a:prstGeom>
          <a:noFill/>
          <a:ln w="10160">
            <a:solidFill>
              <a:srgbClr val="7D3C98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25"/>
          <p:cNvSpPr/>
          <p:nvPr/>
        </p:nvSpPr>
        <p:spPr>
          <a:xfrm>
            <a:off x="3200400" y="3566160"/>
            <a:ext cx="1097280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26"/>
          <p:cNvSpPr/>
          <p:nvPr/>
        </p:nvSpPr>
        <p:spPr>
          <a:xfrm>
            <a:off x="2560320" y="3931920"/>
            <a:ext cx="1737360" cy="0"/>
          </a:xfrm>
          <a:prstGeom prst="line">
            <a:avLst/>
          </a:prstGeom>
          <a:noFill/>
          <a:ln w="10160">
            <a:solidFill>
              <a:srgbClr val="D4A843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27"/>
          <p:cNvSpPr/>
          <p:nvPr/>
        </p:nvSpPr>
        <p:spPr>
          <a:xfrm>
            <a:off x="274320" y="46177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Definisi berdasarkan McKinsey Global (2011) &amp; Hurwitz (2013).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37" name="Shape 29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V1: Volume </a:t>
            </a:r>
            <a:r>
              <a:rPr lang="en-US" sz="2200" b="1" dirty="0">
                <a:solidFill>
                  <a:srgbClr val="66666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(Data at Rest)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Pertumbuhan volume data global dari era terabyte menuju zettabyte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822960" cy="822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606040"/>
            <a:ext cx="1005840" cy="3200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1097280"/>
            <a:ext cx="1645920" cy="32918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320" y="33375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Terabytes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(2005)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4206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Zettabytes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(2025: 181 ZB)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754880" y="1051560"/>
            <a:ext cx="4114800" cy="132588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10" name="Text 5"/>
          <p:cNvSpPr/>
          <p:nvPr/>
        </p:nvSpPr>
        <p:spPr>
          <a:xfrm>
            <a:off x="5029200" y="1051560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181</a:t>
            </a: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ZB</a:t>
            </a:r>
            <a:endParaRPr lang="en-US" sz="5200" dirty="0"/>
          </a:p>
        </p:txBody>
      </p:sp>
      <p:sp>
        <p:nvSpPr>
          <p:cNvPr id="11" name="Text 6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 data global proyeksi 2025 —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naik dari 2 ZB di tahun 2010.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754880" y="2560320"/>
            <a:ext cx="4114800" cy="7772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8"/>
          <p:cNvSpPr/>
          <p:nvPr/>
        </p:nvSpPr>
        <p:spPr>
          <a:xfrm>
            <a:off x="4754880" y="2560320"/>
            <a:ext cx="64008" cy="77724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14" name="Text 9"/>
          <p:cNvSpPr/>
          <p:nvPr/>
        </p:nvSpPr>
        <p:spPr>
          <a:xfrm>
            <a:off x="4983480" y="2560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90x </a:t>
            </a: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pertumbuhan sejak 2010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4983480" y="2971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Dari 2 ZB (2010) menjadi 181 ZB (2025) — rata-rata CAGR &gt;20%.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520440"/>
            <a:ext cx="4114800" cy="7772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2"/>
          <p:cNvSpPr/>
          <p:nvPr/>
        </p:nvSpPr>
        <p:spPr>
          <a:xfrm>
            <a:off x="4754880" y="3520440"/>
            <a:ext cx="64008" cy="777240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sp>
        <p:nvSpPr>
          <p:cNvPr id="18" name="Text 13"/>
          <p:cNvSpPr/>
          <p:nvPr/>
        </p:nvSpPr>
        <p:spPr>
          <a:xfrm>
            <a:off x="4983480" y="35204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8E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60% </a:t>
            </a: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korporasi tersimpan di cloud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983480" y="39319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Hanya 2–3% dari total data global yang benar-benar dianalisis.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74320" y="46177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Sumber: Statista &amp; IDC (2024); Filmon Analytics (2025); Cybersecurity Ventures (2024).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2" name="Shape 17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V2: Velocity </a:t>
            </a:r>
            <a:r>
              <a:rPr lang="en-US" sz="2200" b="1" dirty="0">
                <a:solidFill>
                  <a:srgbClr val="66666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(Data in Motion)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Kecepatan data dihasilkan, mengalir, dan harus diproses dalam hitungan milidetik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292608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91840" y="1051560"/>
            <a:ext cx="5577840" cy="96012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1887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77640" y="11155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Kecepatan Aliran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977640" y="1435608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dihasilkan dan berubah dalam hitungan milidetik. Setiap detik, dunia menghasilkan 3,8 petabyte data </a:t>
            </a:r>
            <a:r>
              <a:rPr lang="en-US" sz="1050" dirty="0" err="1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baru</a:t>
            </a: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setara 3,8 juta gigabyte.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91840" y="2194560"/>
            <a:ext cx="5577840" cy="9601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6"/>
          <p:cNvSpPr/>
          <p:nvPr/>
        </p:nvSpPr>
        <p:spPr>
          <a:xfrm>
            <a:off x="3291840" y="2194560"/>
            <a:ext cx="64008" cy="96012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3474720" y="2240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Tantangan: Real-Time, Bukan Batch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256032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 harus instan. Sistem fraud detection perbankan memproses transaksi dalam &lt;100ms. Autonomous vehicle membutuhkan latensi &lt;10ms untuk pengambilan keputusan pengereman.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91840" y="3337560"/>
            <a:ext cx="5577840" cy="9601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0"/>
          <p:cNvSpPr/>
          <p:nvPr/>
        </p:nvSpPr>
        <p:spPr>
          <a:xfrm>
            <a:off x="3291840" y="3337560"/>
            <a:ext cx="64008" cy="960120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sp>
        <p:nvSpPr>
          <p:cNvPr id="15" name="Text 11"/>
          <p:cNvSpPr/>
          <p:nvPr/>
        </p:nvSpPr>
        <p:spPr>
          <a:xfrm>
            <a:off x="3474720" y="33832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Sumber: Clickstreams, Sensor IoT, Streaming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370332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19+ miliar perangkat IoT aktif menghasilkan data kontinu. Pada 2025, rata-rata setiap orang melakukan 4.900 interaksi digital per </a:t>
            </a:r>
            <a:r>
              <a:rPr lang="en-US" sz="1050" dirty="0" err="1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hari</a:t>
            </a: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satu setiap 18 detik.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4370832"/>
            <a:ext cx="8595360" cy="73152"/>
          </a:xfrm>
          <a:prstGeom prst="rect">
            <a:avLst/>
          </a:prstGeom>
          <a:solidFill>
            <a:srgbClr val="D0CCC8"/>
          </a:solidFill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320040" y="449884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5,9 juta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0040" y="468172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searches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2423160" y="449884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4,1 juta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423160" y="468172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YouTube ditonton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526280" y="449884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8E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251 juta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26280" y="468172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terkirim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629400" y="449884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3C9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 ribu+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629400" y="468172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tweet diposting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20040" y="417880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SETIAP MENIT DI INTERNET (2024):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2605413" y="15244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Sumber: Domo Data Never Sleeps (2024); IDC (2025); Statista; DemandSage (2025).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9" name="Shape 25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V3: Variety </a:t>
            </a:r>
            <a:r>
              <a:rPr lang="en-US" sz="2200" b="1" dirty="0">
                <a:solidFill>
                  <a:srgbClr val="66666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(Data in Many Forms)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Keragaman format dan sumber data: dari tabel terstruktur hingga video, teks, dan sensor IoT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05840"/>
            <a:ext cx="27432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08960" y="1005840"/>
            <a:ext cx="5760720" cy="77724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3337560" y="1024128"/>
            <a:ext cx="5303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80% </a:t>
            </a: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global adalah </a:t>
            </a: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unstructured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337560" y="146304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2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Tumbuh 55–65% per tahun — 3x lebih cepat dari data terstruktur. Hanya 0,5% yang dimanfaatkan.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08960" y="1965960"/>
            <a:ext cx="5760720" cy="868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108960" y="1965960"/>
            <a:ext cx="64008" cy="868680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1488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67328" y="20116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8E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Terstruktur </a:t>
            </a: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(~15%)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767328" y="231343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relasional, spreadsheet, tabel SQL. Format baris-kolom yang mudah dianalisis. Contoh: data transaksi perbankan, data kependudukan DUKCAPIL.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108960" y="2944368"/>
            <a:ext cx="5760720" cy="868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0"/>
          <p:cNvSpPr/>
          <p:nvPr/>
        </p:nvSpPr>
        <p:spPr>
          <a:xfrm>
            <a:off x="3108960" y="2944368"/>
            <a:ext cx="64008" cy="868680"/>
          </a:xfrm>
          <a:prstGeom prst="rect">
            <a:avLst/>
          </a:prstGeom>
          <a:solidFill>
            <a:srgbClr val="D4A843"/>
          </a:solidFill>
        </p:spPr>
        <p:txBody>
          <a:bodyPr/>
          <a:lstStyle/>
          <a:p>
            <a:endParaRPr lang="en-ID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1272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67328" y="299008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84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Semi-Terstruktur </a:t>
            </a: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(~5–10%)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767328" y="32918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JSON, XML, log file, metadata. Punya tag/penanda tapi tidak rigid seperti tabel. Contoh: data API media sosial, log server e-government, metadata foto smartphone.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108960" y="3922776"/>
            <a:ext cx="5760720" cy="868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4"/>
          <p:cNvSpPr/>
          <p:nvPr/>
        </p:nvSpPr>
        <p:spPr>
          <a:xfrm>
            <a:off x="3108960" y="3922776"/>
            <a:ext cx="64008" cy="86868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10565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67328" y="396849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Tidak Terstruktur </a:t>
            </a: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(~80%)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767328" y="4270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Email, video, audio, gambar, teks bebas, postingan media sosial. Video menyumbang &gt;53% traffic internet global. Contoh: rekaman CCTV, chat WhatsApp, citra satelit BMKG.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37160" y="46268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Sumber: IDC (2025); Gartner; Statista; IBM Big Data Analytics; Edge Delta (2025).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V4: Veracity </a:t>
            </a:r>
            <a:r>
              <a:rPr lang="en-US" sz="2200" b="1" dirty="0">
                <a:solidFill>
                  <a:srgbClr val="66666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(Data in Doubt)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Tingkat keandalan, akurasi, dan kepercayaan terhadap data yang digunakan untuk pengambilan keputusan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51560"/>
            <a:ext cx="292608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0" y="1005840"/>
            <a:ext cx="5669280" cy="9144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3429000" y="10058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$3,1 T</a:t>
            </a: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/tahun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429000" y="15087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99B2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Kerugian ekonomi AS akibat kualitas data buruk. Rata-rata organisasi kehilangan $12,9 juta/</a:t>
            </a:r>
            <a:r>
              <a:rPr lang="en-US" sz="1050" dirty="0" err="1">
                <a:solidFill>
                  <a:srgbClr val="99B2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tahun</a:t>
            </a:r>
            <a:r>
              <a:rPr lang="en-US" sz="1050" dirty="0">
                <a:solidFill>
                  <a:srgbClr val="99B2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dan 25%+ perusahaan rugi &gt;$5 juta/tahun.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2103120"/>
            <a:ext cx="5669280" cy="804672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200400" y="2103120"/>
            <a:ext cx="64008" cy="80467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2677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22192" y="21488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Ketidakpastian: Inkonsistensi, Ambiguitas &amp; Bias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822192" y="245059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 data pelanggan perusahaan diyakini tidak akurat (Experian). Data scientist menghabiskan 50–80% waktunya untuk membersihkan data, bukan menganalisis.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0" y="3017520"/>
            <a:ext cx="5669280" cy="804672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0"/>
          <p:cNvSpPr/>
          <p:nvPr/>
        </p:nvSpPr>
        <p:spPr>
          <a:xfrm>
            <a:off x="3200400" y="3017520"/>
            <a:ext cx="64008" cy="804672"/>
          </a:xfrm>
          <a:prstGeom prst="rect">
            <a:avLst/>
          </a:prstGeom>
          <a:solidFill>
            <a:srgbClr val="D4A843"/>
          </a:solidFill>
        </p:spPr>
        <p:txBody>
          <a:bodyPr/>
          <a:lstStyle/>
          <a:p>
            <a:endParaRPr lang="en-ID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1821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22192" y="3063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Isu Kepercayaan: 1 dari 3 Pemimpin Tidak Percaya Datanya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822192" y="336499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Hanya 35% organisasi memiliki kepercayaan tinggi terhadap data mereka (KPMG). 43% COO menjadikan kualitas data sebagai prioritas utama (IBM, 2025).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00400" y="3931920"/>
            <a:ext cx="5669280" cy="804672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4"/>
          <p:cNvSpPr/>
          <p:nvPr/>
        </p:nvSpPr>
        <p:spPr>
          <a:xfrm>
            <a:off x="3200400" y="3931920"/>
            <a:ext cx="64008" cy="804672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ID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409651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822192" y="39776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Dampak Operasional: 27% Waktu Terbuang untuk Data Buruk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822192" y="427939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Karyawan membuang 27% waktu kerja mengoreksi data. 40%+ bisnis gagal capai target karena data tidak lengkap atau tidak akurat (Gartner).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274320" y="4645152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Sumber: IBM IBV (2025); Gartner; KPMG; Experian Data Quality; Anodot.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V5: Value </a:t>
            </a:r>
            <a:r>
              <a:rPr lang="en-US" sz="2200" b="1" dirty="0">
                <a:solidFill>
                  <a:srgbClr val="66666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(Data into Money)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Sia-sia memiliki Big Data jika tidak diubah menjadi nilai strategis dan keunggulan kompetitif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25603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0" y="1005840"/>
            <a:ext cx="5852160" cy="96012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3246120" y="1005840"/>
            <a:ext cx="5303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$394,7 B</a:t>
            </a: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(2025)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46120" y="1481328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99B2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Nilai pasar Big Data Analytics global, diproyeksikan menembus $1,1 Triliun pada 2033 (CAGR 14,5%). BI menghasilkan ROI 127% dalam 3 tahun implementasi.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17520" y="2103120"/>
            <a:ext cx="5852160" cy="7772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017520" y="2103120"/>
            <a:ext cx="64008" cy="77724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3200400" y="214884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8E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97%</a:t>
            </a: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vs  </a:t>
            </a:r>
            <a:r>
              <a:rPr lang="en-US" sz="30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2–3%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00400" y="2542032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97% perusahaan berinvestasi di Big Data, namun hanya 2–3% data global yang benar-benar dianalisis. Kesenjangan antara adopsi dan ekstraksi nilai masih sangat lebar.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17520" y="2971800"/>
            <a:ext cx="5852160" cy="7772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3017520" y="2971800"/>
            <a:ext cx="64008" cy="777240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3200400" y="301752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8E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91,9%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peroleh nilai terukur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200400" y="3410712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Organisasi yang berinvestasi serius di analytics mendapatkan nilai terukur. Netflix menghemat $1 miliar/tahun melalui algoritma rekomendasi berbasis data.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017520" y="3840480"/>
            <a:ext cx="5852160" cy="7772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4"/>
          <p:cNvSpPr/>
          <p:nvPr/>
        </p:nvSpPr>
        <p:spPr>
          <a:xfrm>
            <a:off x="3017520" y="3840480"/>
            <a:ext cx="64008" cy="777240"/>
          </a:xfrm>
          <a:prstGeom prst="rect">
            <a:avLst/>
          </a:prstGeom>
          <a:solidFill>
            <a:srgbClr val="D4A843"/>
          </a:solidFill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3200400" y="38862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Implikasi: Data Tanpa Analisis = Biaya, Bukan 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0" y="4224528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Organisasi yang memiliki data governance matang melaporkan efisiensi operasional 15–20% lebih tinggi (McKinsey). Tantangan utama: 50%+ organisasi tidak mengukur ROI analytics mereka secara formal.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464515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Sumber: Fortune Business Insights (2025); Folio3 Data (2025); Filmon Analytics; McKinsey; DemandSage.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Pergeseran Paradigma Analisis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868680"/>
            <a:ext cx="0" cy="3017520"/>
          </a:xfrm>
          <a:prstGeom prst="line">
            <a:avLst/>
          </a:prstGeom>
          <a:noFill/>
          <a:ln w="1524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Traditional Approach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65760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3756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Menganalisis </a:t>
            </a:r>
            <a:r>
              <a:rPr lang="en-US" sz="11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semua data terstruktur</a:t>
            </a: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Kausalitas pasti. Hipotesis → Uji → Konfirmasi.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Pendekatan statistik klasik, sampling terbatas.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Big Data Approach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33756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Menganalisis </a:t>
            </a:r>
            <a:r>
              <a:rPr lang="en-US" sz="1100" b="1" dirty="0">
                <a:solidFill>
                  <a:srgbClr val="E85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subset untuk korelasi</a:t>
            </a: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Eksplorasi</a:t>
            </a: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→ Pola → Insight.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learning, NLP, dan predictive analytics.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5943600" y="4160520"/>
            <a:ext cx="2926080" cy="45720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12" name="Text 8"/>
          <p:cNvSpPr/>
          <p:nvPr/>
        </p:nvSpPr>
        <p:spPr>
          <a:xfrm>
            <a:off x="548640" y="41605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Hypothesis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965960" y="4160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331720" y="41605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977640" y="4160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343400" y="41605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Correlation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035040" y="4160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00800" y="41605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Insight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74320" y="46451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Pergeseran dari pendekatan kausalitas klasik menuju analisis korelasi berbasis eksplorasi data berskala besar.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1" name="Shape 17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Evolusi: BI ke Data Science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822960"/>
            <a:ext cx="0" cy="3246120"/>
          </a:xfrm>
          <a:prstGeom prst="line">
            <a:avLst/>
          </a:prstGeom>
          <a:noFill/>
          <a:ln w="1524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210312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8686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Business Intelligence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286000" y="1325880"/>
            <a:ext cx="2103120" cy="1691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4"/>
          <p:cNvSpPr/>
          <p:nvPr/>
        </p:nvSpPr>
        <p:spPr>
          <a:xfrm>
            <a:off x="2286000" y="1325880"/>
            <a:ext cx="54864" cy="169164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2423160" y="1371600"/>
            <a:ext cx="187452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Pertanyaan Utama:
</a:t>
            </a: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"Apa yang terjadi?"
</a:t>
            </a: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Pelaporan &amp; Dashboard
• Data Terstruktur (SQL)
• Analisis deskriptif
• Backward-looking
</a:t>
            </a:r>
            <a:r>
              <a:rPr lang="en-US" sz="1050" b="1" dirty="0">
                <a:solidFill>
                  <a:srgbClr val="E85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ROI: 127% dalam 3 tahun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46320" y="8686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Science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46320" y="1325880"/>
            <a:ext cx="2103120" cy="1691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8"/>
          <p:cNvSpPr/>
          <p:nvPr/>
        </p:nvSpPr>
        <p:spPr>
          <a:xfrm>
            <a:off x="4846320" y="1325880"/>
            <a:ext cx="54864" cy="169164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4983480" y="1371600"/>
            <a:ext cx="187452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Pertanyaan Utama:
</a:t>
            </a:r>
            <a:r>
              <a:rPr lang="en-US" sz="1300" b="1" dirty="0">
                <a:solidFill>
                  <a:srgbClr val="E85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"Apa yang akan terjadi?"
</a:t>
            </a: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Prediksi &amp; Optimasi
• Data Terstruktur &amp; Tidak
• ML, NLP, Deep Learning
• Forward-looking
</a:t>
            </a:r>
            <a:r>
              <a:rPr lang="en-US" sz="1050" b="1" dirty="0">
                <a:solidFill>
                  <a:srgbClr val="2D8E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91,9% organisasi raih nilai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777240"/>
            <a:ext cx="2011680" cy="19202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4320" y="3200400"/>
            <a:ext cx="4114800" cy="41148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15" name="Text 11"/>
          <p:cNvSpPr/>
          <p:nvPr/>
        </p:nvSpPr>
        <p:spPr>
          <a:xfrm>
            <a:off x="274320" y="32004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Apa yang terjadi? → Mengapa terjadi?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3200400"/>
            <a:ext cx="4114800" cy="41148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4754880" y="32004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Apa yang akan terjadi? → Apa yang harus dilakukan?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19" name="Shape 15"/>
          <p:cNvSpPr/>
          <p:nvPr/>
        </p:nvSpPr>
        <p:spPr>
          <a:xfrm>
            <a:off x="4754880" y="3794760"/>
            <a:ext cx="4114800" cy="36576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20" name="Text 16"/>
          <p:cNvSpPr/>
          <p:nvPr/>
        </p:nvSpPr>
        <p:spPr>
          <a:xfrm>
            <a:off x="548640" y="3794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Deskriptif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286000" y="3794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Diagnostik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37760" y="3794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Prediktif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766560" y="3794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Preskriptif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74320" y="4187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Past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98080" y="4187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Future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274320" y="45720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Evolusi analitik: dari pelaporan historis (BI) menuju prediksi dan rekomendasi otomatis berbasis AI (Data Science).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9" name="Shape 25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0C68E0-3BF3-61C0-35F1-5D920947BAFA}"/>
              </a:ext>
            </a:extLst>
          </p:cNvPr>
          <p:cNvCxnSpPr/>
          <p:nvPr/>
        </p:nvCxnSpPr>
        <p:spPr>
          <a:xfrm>
            <a:off x="707721" y="4346532"/>
            <a:ext cx="7503090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0BACD50E-18F9-92B7-29C7-465D26920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3200" y="1064024"/>
            <a:ext cx="3784675" cy="185059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63861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Studi Kasus: </a:t>
            </a:r>
            <a:r>
              <a:rPr lang="en-US" sz="28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Respons Real-time Starbucks</a:t>
            </a:r>
            <a:endParaRPr lang="en-US" sz="2800" dirty="0"/>
          </a:p>
        </p:txBody>
      </p:sp>
      <p:sp>
        <p:nvSpPr>
          <p:cNvPr id="8" name="Text 3"/>
          <p:cNvSpPr/>
          <p:nvPr/>
        </p:nvSpPr>
        <p:spPr>
          <a:xfrm>
            <a:off x="457200" y="658367"/>
            <a:ext cx="2198318" cy="844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Bagaimana Starbucks menggunakan Big Data Analytics untuk merespons sentimen pelanggan secara real-time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320040" y="2938606"/>
            <a:ext cx="2743200" cy="1417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5"/>
          <p:cNvSpPr/>
          <p:nvPr/>
        </p:nvSpPr>
        <p:spPr>
          <a:xfrm>
            <a:off x="320040" y="2938606"/>
            <a:ext cx="2743200" cy="54864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457200" y="304833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Masalah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7200" y="3377518"/>
            <a:ext cx="2423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Starbucks meluncurkan produk kopi baru. Sentimen awal di media sosial positif terhadap rasa, namun komentar negatif tentang harga melonjak dalam hitungan jam — berpotensi merusak citra merek.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063240" y="348724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3337560" y="2938606"/>
            <a:ext cx="2743200" cy="1417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0"/>
          <p:cNvSpPr/>
          <p:nvPr/>
        </p:nvSpPr>
        <p:spPr>
          <a:xfrm>
            <a:off x="3337560" y="2938606"/>
            <a:ext cx="2743200" cy="54864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16" name="Text 11"/>
          <p:cNvSpPr/>
          <p:nvPr/>
        </p:nvSpPr>
        <p:spPr>
          <a:xfrm>
            <a:off x="3474720" y="304833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Analisis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474720" y="3377518"/>
            <a:ext cx="2423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 data Starbucks menjalankan sentiment analysis real-time dari Twitter, Instagram, blog, dan review. NLP mengidentifikasi keyword "mahal" dan "harga" sebagai driver sentimen negatif utama.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080760" y="348724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355080" y="2938606"/>
            <a:ext cx="2743200" cy="141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5"/>
          <p:cNvSpPr/>
          <p:nvPr/>
        </p:nvSpPr>
        <p:spPr>
          <a:xfrm>
            <a:off x="6355080" y="2938606"/>
            <a:ext cx="2743200" cy="54864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sp>
        <p:nvSpPr>
          <p:cNvPr id="21" name="Text 16"/>
          <p:cNvSpPr/>
          <p:nvPr/>
        </p:nvSpPr>
        <p:spPr>
          <a:xfrm>
            <a:off x="6492240" y="304833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8E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Solusi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92240" y="3377518"/>
            <a:ext cx="2423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Harga diturunkan pada hari yang sama. Kampanye promosi "value deal" diluncurkan via push notification. Komentar negatif turun drastis dalam hitungan jam — sentimen kembali positif sore hari.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19622" y="4428954"/>
            <a:ext cx="8503920" cy="45720"/>
          </a:xfrm>
          <a:prstGeom prst="rect">
            <a:avLst/>
          </a:prstGeom>
          <a:solidFill>
            <a:srgbClr val="D0CCC8"/>
          </a:solidFill>
        </p:spPr>
        <p:txBody>
          <a:bodyPr/>
          <a:lstStyle/>
          <a:p>
            <a:endParaRPr lang="en-ID"/>
          </a:p>
        </p:txBody>
      </p:sp>
      <p:sp>
        <p:nvSpPr>
          <p:cNvPr id="24" name="Text 19"/>
          <p:cNvSpPr/>
          <p:nvPr/>
        </p:nvSpPr>
        <p:spPr>
          <a:xfrm>
            <a:off x="320040" y="455371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Real-time sentiment analysis memungkinkan respons dalam hitungan jam, bukan minggu — mengubah potensi krisis menjadi peluang.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6" name="Shape 21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Dampak pada Akuntansi &amp; Audit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Transformasi dari audit berbasis sampel menuju analisis populasi penuh dengan dukungan Big Data Analytics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0120"/>
            <a:ext cx="31089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0" y="1005840"/>
            <a:ext cx="5669280" cy="1051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3200400" y="1005840"/>
            <a:ext cx="64008" cy="1051560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430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94760" y="10515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Populasi Penuh: Audit 100% Transaksi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794760" y="1353312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Auditor kini mampu memproses seluruh populasi data — bukan lagi sampel kecil. Audit sampling mulai kehilangan relevansi di era Big Data. Full population testing menghilangkan sampling error dan memberikan assurance yang lebih tinggi (Linford &amp; Co., 2025; Arzhenovskiy, 2022).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00400" y="2167128"/>
            <a:ext cx="5669280" cy="1051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3200400" y="2167128"/>
            <a:ext cx="64008" cy="105156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30428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94760" y="221284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Analisis Risiko: Deteksi Anomali &amp; Fraud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794760" y="251460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 dan anomaly detection memungkinkan identifikasi irregularitas keuangan lebih dini. BDA terbukti berpengaruh positif signifikan terhadap kualitas audit di KAP Big Ten Indonesia (Rozana &amp; Winarningsih, 2025). BPK RI juga mulai mengadopsi BDA-based auditing.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200400" y="3328416"/>
            <a:ext cx="5669280" cy="1051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1"/>
          <p:cNvSpPr/>
          <p:nvPr/>
        </p:nvSpPr>
        <p:spPr>
          <a:xfrm>
            <a:off x="3200400" y="3328416"/>
            <a:ext cx="64008" cy="1051560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46557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94760" y="337413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Visualisasi: Dashboard Interaktif untuk Klien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794760" y="367588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dashboard dan visualisasi interaktif memberikan pandangan data yang lebih jelas kepada klien dan pemangku kepentingan. Audit analytics berkembang dari sekadar menarik sampel hingga menyediakan continuous monitoring sepanjang periode audit.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274320" y="464515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Sumber: Arzhenovskiy (2022); Rozana &amp; Winarningsih (2025); Linford &amp; Co. (2025); Fathmaningruma (2025); CPA Journal.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2" name="Shape 16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0"/>
          <p:cNvSpPr/>
          <p:nvPr/>
        </p:nvSpPr>
        <p:spPr>
          <a:xfrm rot="8040000">
            <a:off x="2665843" y="1962649"/>
            <a:ext cx="3675673" cy="1276610"/>
          </a:xfrm>
          <a:prstGeom prst="line">
            <a:avLst/>
          </a:prstGeom>
          <a:noFill/>
          <a:ln w="15240">
            <a:solidFill>
              <a:srgbClr val="1B2A4A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ID"/>
          </a:p>
        </p:txBody>
      </p:sp>
      <p:sp>
        <p:nvSpPr>
          <p:cNvPr id="2" name="Text 0"/>
          <p:cNvSpPr/>
          <p:nvPr/>
        </p:nvSpPr>
        <p:spPr>
          <a:xfrm>
            <a:off x="457200" y="326513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Ekosistem Big Data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205" y="978967"/>
            <a:ext cx="1645921" cy="1421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0058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Devices
</a:t>
            </a: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Penghasil Data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084" y="1054187"/>
            <a:ext cx="1517436" cy="13105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00900" y="100965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Collectors
</a:t>
            </a: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Entitas Pengumpul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689" y="3029894"/>
            <a:ext cx="1594638" cy="13771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5590" y="284353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Aggregators
</a:t>
            </a: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Penyusun Dataset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084" y="3067050"/>
            <a:ext cx="1594639" cy="13771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31050" y="28346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Users
</a:t>
            </a: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Pengguna Wawasan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2743200" y="1554480"/>
            <a:ext cx="35661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arrow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6"/>
          <p:cNvSpPr/>
          <p:nvPr/>
        </p:nvSpPr>
        <p:spPr>
          <a:xfrm>
            <a:off x="2743200" y="3566160"/>
            <a:ext cx="35661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arrow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7"/>
          <p:cNvSpPr/>
          <p:nvPr/>
        </p:nvSpPr>
        <p:spPr>
          <a:xfrm>
            <a:off x="2128520" y="2514600"/>
            <a:ext cx="0" cy="45720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8"/>
          <p:cNvSpPr/>
          <p:nvPr/>
        </p:nvSpPr>
        <p:spPr>
          <a:xfrm>
            <a:off x="6924040" y="2606040"/>
            <a:ext cx="0" cy="45720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0"/>
          <p:cNvSpPr/>
          <p:nvPr/>
        </p:nvSpPr>
        <p:spPr>
          <a:xfrm>
            <a:off x="2767852" y="1654811"/>
            <a:ext cx="3471654" cy="1836289"/>
          </a:xfrm>
          <a:prstGeom prst="line">
            <a:avLst/>
          </a:prstGeom>
          <a:noFill/>
          <a:ln w="15240">
            <a:solidFill>
              <a:srgbClr val="1B2A4A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1"/>
          <p:cNvSpPr/>
          <p:nvPr/>
        </p:nvSpPr>
        <p:spPr>
          <a:xfrm>
            <a:off x="3200400" y="2194663"/>
            <a:ext cx="2791885" cy="85905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2"/>
          <p:cNvSpPr/>
          <p:nvPr/>
        </p:nvSpPr>
        <p:spPr>
          <a:xfrm>
            <a:off x="3291840" y="225171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Keempat aktor saling terhubung
</a:t>
            </a:r>
            <a:r>
              <a:rPr lang="en-US" sz="9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dalam ekosistem data yang dinamis.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mengalir multi-arah secara real-time.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274320" y="464515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Sumber: Adaptasi dari Hurwitz et al. (2013); Mayer-Schönberger &amp; Cukier (2013).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1" name="Shape 15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889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Faktor Manusia: Peran &amp; Keahlian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1920240" cy="1920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2788920"/>
            <a:ext cx="2651760" cy="15544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2"/>
          <p:cNvSpPr/>
          <p:nvPr/>
        </p:nvSpPr>
        <p:spPr>
          <a:xfrm>
            <a:off x="365760" y="2788920"/>
            <a:ext cx="2651760" cy="54864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Deep Analytical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Talent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355848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Matematikawan, statistikawan, dan data scientist yang membangun model inferensi, machine learning, dan algoritma prediktif. Mereka mengubah data mentah menjadi insight strategis.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777240"/>
            <a:ext cx="1920240" cy="1920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6120" y="2788920"/>
            <a:ext cx="2651760" cy="15544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6"/>
          <p:cNvSpPr/>
          <p:nvPr/>
        </p:nvSpPr>
        <p:spPr>
          <a:xfrm>
            <a:off x="3246120" y="2788920"/>
            <a:ext cx="2651760" cy="54864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3337560" y="28803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Savvy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Professionals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37560" y="3355848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Profesional bisnis, manajer, dan akuntan yang mampu mengajukan pertanyaan tepat, membaca hasil analisis, dan menerjemahkan insight data menjadi keputusan strategis organisasi.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777240"/>
            <a:ext cx="192024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26480" y="2788920"/>
            <a:ext cx="2651760" cy="15544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0"/>
          <p:cNvSpPr/>
          <p:nvPr/>
        </p:nvSpPr>
        <p:spPr>
          <a:xfrm>
            <a:off x="6126480" y="2788920"/>
            <a:ext cx="2651760" cy="54864"/>
          </a:xfrm>
          <a:prstGeom prst="rect">
            <a:avLst/>
          </a:prstGeom>
          <a:solidFill>
            <a:srgbClr val="2D8E5F"/>
          </a:solidFill>
        </p:spPr>
        <p:txBody>
          <a:bodyPr/>
          <a:lstStyle/>
          <a:p>
            <a:endParaRPr lang="en-ID"/>
          </a:p>
        </p:txBody>
      </p:sp>
      <p:sp>
        <p:nvSpPr>
          <p:cNvPr id="16" name="Text 11"/>
          <p:cNvSpPr/>
          <p:nvPr/>
        </p:nvSpPr>
        <p:spPr>
          <a:xfrm>
            <a:off x="6217920" y="28803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Technology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Enablers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17920" y="3355848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 dan arsitek teknologi yang membangun infrastruktur data: cloud platform, data pipeline, data lake, serta memastikan integrasi sistem berjalan lancar dan aman.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8533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Teknologi adalah alat; wawasan manusia adalah penggeraknya.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en-ID"/>
          </a:p>
        </p:txBody>
      </p:sp>
      <p:sp>
        <p:nvSpPr>
          <p:cNvPr id="20" name="Shape 15"/>
          <p:cNvSpPr/>
          <p:nvPr/>
        </p:nvSpPr>
        <p:spPr>
          <a:xfrm>
            <a:off x="0" y="4892040"/>
            <a:ext cx="2286000" cy="256032"/>
          </a:xfrm>
          <a:prstGeom prst="rect">
            <a:avLst/>
          </a:prstGeom>
          <a:solidFill>
            <a:srgbClr val="E8533F"/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1688</Words>
  <Application>Microsoft Office PowerPoint</Application>
  <PresentationFormat>On-screen Show (16:9)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Georgia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Big Data Analytics</dc:title>
  <dc:subject>PptxGenJS Presentation</dc:subject>
  <dc:creator>Dr. Donny Maha Putra</dc:creator>
  <cp:lastModifiedBy>Donny Maha Putra</cp:lastModifiedBy>
  <cp:revision>10</cp:revision>
  <dcterms:created xsi:type="dcterms:W3CDTF">2026-02-27T06:15:16Z</dcterms:created>
  <dcterms:modified xsi:type="dcterms:W3CDTF">2026-02-27T12:36:40Z</dcterms:modified>
</cp:coreProperties>
</file>