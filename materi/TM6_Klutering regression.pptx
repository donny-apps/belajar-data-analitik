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76" r:id="rId8"/>
    <p:sldId id="262" r:id="rId9"/>
    <p:sldId id="263" r:id="rId10"/>
    <p:sldId id="264" r:id="rId11"/>
    <p:sldId id="265" r:id="rId12"/>
    <p:sldId id="266" r:id="rId13"/>
    <p:sldId id="277" r:id="rId14"/>
    <p:sldId id="267" r:id="rId15"/>
    <p:sldId id="268" r:id="rId16"/>
    <p:sldId id="269" r:id="rId17"/>
    <p:sldId id="270" r:id="rId18"/>
    <p:sldId id="271" r:id="rId19"/>
    <p:sldId id="278" r:id="rId20"/>
    <p:sldId id="272" r:id="rId21"/>
    <p:sldId id="273" r:id="rId22"/>
    <p:sldId id="274" r:id="rId23"/>
    <p:sldId id="275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30" d="100"/>
          <a:sy n="130" d="100"/>
        </p:scale>
        <p:origin x="77" y="-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0001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0891B2">
              <a:alpha val="7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7772400" y="2743200"/>
            <a:ext cx="2743200" cy="2743200"/>
          </a:xfrm>
          <a:prstGeom prst="ellipse">
            <a:avLst/>
          </a:prstGeom>
          <a:solidFill>
            <a:srgbClr val="0891B2">
              <a:alpha val="85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" name="Shape 2"/>
          <p:cNvSpPr/>
          <p:nvPr/>
        </p:nvSpPr>
        <p:spPr>
          <a:xfrm>
            <a:off x="640080" y="548640"/>
            <a:ext cx="1097280" cy="411480"/>
          </a:xfrm>
          <a:prstGeom prst="roundRect">
            <a:avLst>
              <a:gd name="adj" fmla="val 26667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640080" y="5486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TM 6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630681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MINING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Regresi Linier  •  K-Means Clustering  •  Association Rule Apriori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menggunakan Orange Data Mining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794760"/>
            <a:ext cx="182880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640080" y="3977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Dr. Donny Maha Putra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297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Big Data Analytics Prodi S1 Akuntansi UPNVJ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Agenda Hari Ini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Tiga studi kasus praktik data mining menggunakan Orange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7863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73152" cy="10058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7" name="Text 5"/>
          <p:cNvSpPr/>
          <p:nvPr/>
        </p:nvSpPr>
        <p:spPr>
          <a:xfrm>
            <a:off x="868680" y="1371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91B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2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41732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20240" y="13533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Regresi Harga Rumah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920240" y="1691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Memprediksi harga rumah berdasarkan kondisi lingkungan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583680" y="14173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891B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Linear Regression</a:t>
            </a:r>
            <a:endParaRPr lang="en-US" sz="1000" dirty="0"/>
          </a:p>
          <a:p>
            <a:pPr marL="0" indent="0" algn="r">
              <a:buNone/>
            </a:pPr>
            <a:r>
              <a:rPr lang="en-US" sz="1000" dirty="0">
                <a:solidFill>
                  <a:srgbClr val="0891B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Dataset: Boston Housing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40080" y="2468880"/>
            <a:ext cx="7863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3" name="Shape 10"/>
          <p:cNvSpPr/>
          <p:nvPr/>
        </p:nvSpPr>
        <p:spPr>
          <a:xfrm>
            <a:off x="640080" y="2468880"/>
            <a:ext cx="73152" cy="10058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4" name="Text 11"/>
          <p:cNvSpPr/>
          <p:nvPr/>
        </p:nvSpPr>
        <p:spPr>
          <a:xfrm>
            <a:off x="868680" y="2560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C3AE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22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320" y="260604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920240" y="25420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Clustering Pelanggan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192024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Segmentasi pelanggan toko berdasarkan perilaku belanja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6583680" y="2606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3AE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K-Means Clustering</a:t>
            </a:r>
            <a:endParaRPr lang="en-US" sz="1000" dirty="0"/>
          </a:p>
          <a:p>
            <a:pPr marL="0" indent="0" algn="r">
              <a:buNone/>
            </a:pPr>
            <a:r>
              <a:rPr lang="en-US" sz="1000" dirty="0">
                <a:solidFill>
                  <a:srgbClr val="7C3AE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Dataset: Mall Customer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40080" y="3657600"/>
            <a:ext cx="7863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0" name="Shape 16"/>
          <p:cNvSpPr/>
          <p:nvPr/>
        </p:nvSpPr>
        <p:spPr>
          <a:xfrm>
            <a:off x="640080" y="3657600"/>
            <a:ext cx="73152" cy="1005840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1" name="Text 17"/>
          <p:cNvSpPr/>
          <p:nvPr/>
        </p:nvSpPr>
        <p:spPr>
          <a:xfrm>
            <a:off x="868680" y="3749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11D4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22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7320" y="3794760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920240" y="37307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Asosiasi Barang Belanja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1920240" y="4069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Menemukan pola pembelian barang yang sering dibeli bersamaan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6583680" y="3794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11D4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Apriori Algorithm</a:t>
            </a:r>
            <a:endParaRPr lang="en-US" sz="1000" dirty="0"/>
          </a:p>
          <a:p>
            <a:pPr marL="0" indent="0" algn="r">
              <a:buNone/>
            </a:pPr>
            <a:r>
              <a:rPr lang="en-US" sz="1000" dirty="0">
                <a:solidFill>
                  <a:srgbClr val="E11D4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Dataset: Groceries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64008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TM 6 — Big Data Analytics  |  Dr. Donny Maha Putra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91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6400800" y="2286000"/>
            <a:ext cx="4572000" cy="457200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4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TOPIK 1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50876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Regresi Harga Rumah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40080" y="23774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0F2F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Prediksi Harga Rumah Menggunakan Linear Regression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4572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2EB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TM 6 — Big Data Analytics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640080" y="228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Apa itu Regresi Linier?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731520"/>
            <a:ext cx="137160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446427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0975" indent="-180975">
              <a:spcAft>
                <a:spcPts val="7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Regresi Linier adalah teknik supervised learning yang memprediksi nilai numerik (kontinu) berdasarkan hubungan linier antara variabel independen (X) dan variabel dependen (Y).</a:t>
            </a:r>
            <a:endParaRPr lang="en-US" sz="900" dirty="0"/>
          </a:p>
          <a:p>
            <a:pPr marL="180975" indent="-180975">
              <a:spcAft>
                <a:spcPts val="7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Rumus dasarnya mirip persamaan garis lurus: Y = a + bX, di mana a adalah intercept (konstanta), b adalah koefisien (slope), X adalah variabel prediktor, dan Y adalah variabel target.</a:t>
            </a:r>
            <a:endParaRPr lang="en-US" sz="900" dirty="0"/>
          </a:p>
          <a:p>
            <a:pPr marL="180975" indent="-180975">
              <a:spcAft>
                <a:spcPts val="7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Pada kasus regresi berganda (multiple regression), model menggunakan lebih dari satu variabel independen: Y = a + b₁X₁ + b₂X₂ + ... + bₙXₙ.</a:t>
            </a:r>
            <a:endParaRPr lang="en-US" sz="900" dirty="0"/>
          </a:p>
          <a:p>
            <a:pPr marL="180975" indent="-180975">
              <a:spcAft>
                <a:spcPts val="7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 regresi bekerja dengan menarik garis lurus yang "paling pas" (best fit line) melalui titik-titik data, sehingga total jarak error antara prediksi dan nilai aktual sekecil mungkin.</a:t>
            </a:r>
            <a:endParaRPr lang="en-US" sz="900" dirty="0"/>
          </a:p>
          <a:p>
            <a:pPr marL="180975" indent="-180975">
              <a:spcAft>
                <a:spcPts val="7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Metode yang digunakan untuk menemukan garis terbaik adalah Ordinary Least Squares (OLS)  meminimalkan jumlah kuadrat error (Sum of Squared Residuals).</a:t>
            </a:r>
            <a:endParaRPr lang="en-US" sz="900" dirty="0"/>
          </a:p>
          <a:p>
            <a:pPr marL="180975" indent="-180975">
              <a:spcAft>
                <a:spcPts val="7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Evaluasi model regresi menggunakan metrik seperti R² (seberapa baik model menjelaskan variasi data), MAE (rata-rata error absolut), dan RMSE (akar rata-rata kuadrat error).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4069080"/>
            <a:ext cx="7863840" cy="59436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16052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4096512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Semakin tinggi nilai R² (mendekati 1), semakin baik model menjelaskan variasi dalam data. Namun R² tinggi tidak selalu berarti model </a:t>
            </a:r>
            <a:r>
              <a:rPr lang="en-US" sz="1050" dirty="0" err="1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bagus</a:t>
            </a:r>
            <a:r>
              <a:rPr lang="en-US" sz="105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perlu diperiksa juga residual dan overfitting.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4008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TM 6 — Big Data Analytics  |  Dr. Donny Maha Putra</a:t>
            </a:r>
            <a:endParaRPr lang="en-US" sz="8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4CDF967-09E1-7D12-A99A-0E56293E5C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5463" y="900871"/>
            <a:ext cx="3933255" cy="277090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D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86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286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Sumber Data: Boston Housing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640080" y="822960"/>
            <a:ext cx="3840480" cy="164592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6" name="Text 3"/>
          <p:cNvSpPr/>
          <p:nvPr/>
        </p:nvSpPr>
        <p:spPr>
          <a:xfrm>
            <a:off x="822960" y="91440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Dataset Boston Housing
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Dataset berisi 506 observasi tentang informasi perumahan di wilayah Boston, Massachusetts. Tujuannya adalah memprediksi harga median rumah (MEDV) berdasarkan 13 variabel kondisi lingkungan.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663440" y="822960"/>
            <a:ext cx="3840480" cy="1645920"/>
          </a:xfrm>
          <a:prstGeom prst="rect">
            <a:avLst/>
          </a:prstGeom>
          <a:solidFill>
            <a:srgbClr val="ECFDF5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8" name="Text 5"/>
          <p:cNvSpPr/>
          <p:nvPr/>
        </p:nvSpPr>
        <p:spPr>
          <a:xfrm>
            <a:off x="4846320" y="91440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Cara Mendapatkan Data
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 Buka Orange Data Mining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 Gunakan widget Datasets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 Cari "housing" di daftar dataset bawaan Orange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 Klik untuk memuat dataset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Alternatif: Download dari Kaggle (Boston Housing Dataset) dalam format .csv, lalu load via widget File.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Variabel/Field Utama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971800"/>
          <a:ext cx="7863840" cy="1728216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Variabel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Keterangan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B2A4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RM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Rata-rata jumlah kamar per rumah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B2A4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LSTAT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% populasi dengan status ekonomi rendah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B2A4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CRIM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Tingkat kriminalitas per kapita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B2A4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TAX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Tarif pajak properti per $10.000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B2A4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AGE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Proporsi unit hunian dibangun sebelum 1940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B2A4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MEDV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Nilai median rumah dalam $1.000 (TARGET)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64008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TM 6 — Big Data Analytics  |  Dr. Donny Maha Putra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ID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86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2860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Proses di Orange: Regresi Linier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051560" y="5943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9731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Tahapan Step-by-Step di Orange Data Mining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40080" y="1005840"/>
            <a:ext cx="384048" cy="384048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7" name="Text 4"/>
          <p:cNvSpPr/>
          <p:nvPr/>
        </p:nvSpPr>
        <p:spPr>
          <a:xfrm>
            <a:off x="640080" y="1005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32104" y="1389888"/>
            <a:ext cx="0" cy="219456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Shape 6"/>
          <p:cNvSpPr/>
          <p:nvPr/>
        </p:nvSpPr>
        <p:spPr>
          <a:xfrm>
            <a:off x="1188720" y="978408"/>
            <a:ext cx="7360920" cy="4572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0" name="Text 7"/>
          <p:cNvSpPr/>
          <p:nvPr/>
        </p:nvSpPr>
        <p:spPr>
          <a:xfrm>
            <a:off x="1325880" y="978408"/>
            <a:ext cx="7086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File / Datasets  </a:t>
            </a:r>
            <a:r>
              <a:rPr lang="en-US" sz="105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Muat dataset Boston Housing dari widget Datasets bawaan Orange → klik dua kali untuk melihat data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40080" y="1609344"/>
            <a:ext cx="384048" cy="384048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2" name="Text 9"/>
          <p:cNvSpPr/>
          <p:nvPr/>
        </p:nvSpPr>
        <p:spPr>
          <a:xfrm>
            <a:off x="640080" y="1609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32104" y="1993392"/>
            <a:ext cx="0" cy="219456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4" name="Shape 11"/>
          <p:cNvSpPr/>
          <p:nvPr/>
        </p:nvSpPr>
        <p:spPr>
          <a:xfrm>
            <a:off x="1188720" y="1581912"/>
            <a:ext cx="7360920" cy="4572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5" name="Text 12"/>
          <p:cNvSpPr/>
          <p:nvPr/>
        </p:nvSpPr>
        <p:spPr>
          <a:xfrm>
            <a:off x="1325880" y="1581912"/>
            <a:ext cx="7086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Table  </a:t>
            </a:r>
            <a:r>
              <a:rPr lang="en-US" sz="105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Periksa data: lihat jumlah baris, kolom, tipe data, dan ada tidaknya missing value — pastikan MEDV sebagai target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40080" y="2212848"/>
            <a:ext cx="384048" cy="384048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7" name="Text 14"/>
          <p:cNvSpPr/>
          <p:nvPr/>
        </p:nvSpPr>
        <p:spPr>
          <a:xfrm>
            <a:off x="640080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32104" y="2596896"/>
            <a:ext cx="0" cy="219456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9" name="Shape 16"/>
          <p:cNvSpPr/>
          <p:nvPr/>
        </p:nvSpPr>
        <p:spPr>
          <a:xfrm>
            <a:off x="1188720" y="2185416"/>
            <a:ext cx="7360920" cy="4572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0" name="Text 17"/>
          <p:cNvSpPr/>
          <p:nvPr/>
        </p:nvSpPr>
        <p:spPr>
          <a:xfrm>
            <a:off x="1325880" y="2185416"/>
            <a:ext cx="7086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Select Columns  </a:t>
            </a:r>
            <a:r>
              <a:rPr lang="en-US" sz="105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Tentukan role variabel: pindahkan MEDV ke Target Variable, sisanya sebagai Features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40080" y="2816352"/>
            <a:ext cx="384048" cy="384048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2" name="Text 19"/>
          <p:cNvSpPr/>
          <p:nvPr/>
        </p:nvSpPr>
        <p:spPr>
          <a:xfrm>
            <a:off x="640080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832104" y="3200400"/>
            <a:ext cx="0" cy="219456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4" name="Shape 21"/>
          <p:cNvSpPr/>
          <p:nvPr/>
        </p:nvSpPr>
        <p:spPr>
          <a:xfrm>
            <a:off x="1188720" y="2788920"/>
            <a:ext cx="7360920" cy="4572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5" name="Text 22"/>
          <p:cNvSpPr/>
          <p:nvPr/>
        </p:nvSpPr>
        <p:spPr>
          <a:xfrm>
            <a:off x="1325880" y="2788920"/>
            <a:ext cx="7086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Correlations  </a:t>
            </a:r>
            <a:r>
              <a:rPr lang="en-US" sz="105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Gunakan widget Correlations untuk melihat korelasi Pearson antar variabel — identifikasi fitur yang paling berkorelasi dengan MEDV (misal: RM, LSTAT)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40080" y="3419856"/>
            <a:ext cx="384048" cy="384048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7" name="Text 24"/>
          <p:cNvSpPr/>
          <p:nvPr/>
        </p:nvSpPr>
        <p:spPr>
          <a:xfrm>
            <a:off x="640080" y="3419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832104" y="3803904"/>
            <a:ext cx="0" cy="219456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9" name="Shape 26"/>
          <p:cNvSpPr/>
          <p:nvPr/>
        </p:nvSpPr>
        <p:spPr>
          <a:xfrm>
            <a:off x="1188720" y="3392424"/>
            <a:ext cx="7360920" cy="4572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0" name="Text 27"/>
          <p:cNvSpPr/>
          <p:nvPr/>
        </p:nvSpPr>
        <p:spPr>
          <a:xfrm>
            <a:off x="1325880" y="3392424"/>
            <a:ext cx="7086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Rank  </a:t>
            </a:r>
            <a:r>
              <a:rPr lang="en-US" sz="105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Widget Rank untuk mengurutkan fitur berdasarkan relevansi terhadap target — bantu memilih fitur terbaik (feature selection)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40080" y="4023360"/>
            <a:ext cx="384048" cy="384048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2" name="Text 29"/>
          <p:cNvSpPr/>
          <p:nvPr/>
        </p:nvSpPr>
        <p:spPr>
          <a:xfrm>
            <a:off x="640080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832104" y="4407408"/>
            <a:ext cx="0" cy="219456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4" name="Shape 31"/>
          <p:cNvSpPr/>
          <p:nvPr/>
        </p:nvSpPr>
        <p:spPr>
          <a:xfrm>
            <a:off x="1188720" y="3995928"/>
            <a:ext cx="7360920" cy="4572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5" name="Text 32"/>
          <p:cNvSpPr/>
          <p:nvPr/>
        </p:nvSpPr>
        <p:spPr>
          <a:xfrm>
            <a:off x="1325880" y="3995928"/>
            <a:ext cx="7086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Linear Regression  </a:t>
            </a:r>
            <a:r>
              <a:rPr lang="en-US" sz="105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Hubungkan data ke widget Linear Regression — Orange otomatis menghitung koefisien, intercept, dan model regresi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40080" y="4626864"/>
            <a:ext cx="384048" cy="384048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7" name="Text 34"/>
          <p:cNvSpPr/>
          <p:nvPr/>
        </p:nvSpPr>
        <p:spPr>
          <a:xfrm>
            <a:off x="640080" y="4626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1188720" y="4599432"/>
            <a:ext cx="7360920" cy="4572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9" name="Text 36"/>
          <p:cNvSpPr/>
          <p:nvPr/>
        </p:nvSpPr>
        <p:spPr>
          <a:xfrm>
            <a:off x="1325880" y="4599432"/>
            <a:ext cx="7086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 and Score  </a:t>
            </a:r>
            <a:r>
              <a:rPr lang="en-US" sz="105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Evaluasi model: pilih Cross Validation (5-fold atau 10-fold) → perhatikan R², MAE, RMSE untuk menilai kualitas prediksi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64008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TM 6 — Big Data Analytics  |  Dr. Donny Maha Putra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32E81C-FC3A-2AD2-B04C-018D2E4206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273"/>
            <a:ext cx="9144000" cy="498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811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ID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86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286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Interpretasi Output: Regresi Linier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640080" y="822960"/>
            <a:ext cx="7863840" cy="379476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6" name="Text 3"/>
          <p:cNvSpPr/>
          <p:nvPr/>
        </p:nvSpPr>
        <p:spPr>
          <a:xfrm>
            <a:off x="914400" y="960120"/>
            <a:ext cx="73152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R² (R-squared): Angka antara 0–1 yang menunjukkan seberapa besar variasi harga rumah (MEDV) dapat dijelaskan oleh model. Contoh: R² = 0.72 artinya 72% variasi harga dapat diprediksi oleh model.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MAE (Mean Absolute Error): Rata-rata selisih absolut antara harga prediksi dan harga aktual. Contoh: MAE = 3.4 artinya rata-rata prediksi meleset sekitar $3.400 dari harga sebenarnya.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RMSE (Root Mean Squared Error): Mirip MAE tetapi lebih sensitif terhadap error besar. RMSE yang jauh lebih tinggi dari MAE mengindikasikan adanya outlier dalam prediksi.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Koefisien variabel: Menunjukkan arah dan kekuatan pengaruh setiap variabel. Contoh: koefisien RM (jumlah kamar) = +3.8 artinya setiap penambahan 1 kamar, harga rumah naik ~$3.800.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Koefisien negatif pada LSTAT (-0.95) berarti semakin tinggi persentase populasi berstatus ekonomi rendah, semakin rendah harga rumah di area tersebut.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Pada Correlations: cari korelasi kuat (&gt;0.5 atau &lt;-0.5) antara fitur dan target. RM biasanya berkorelasi positif kuat, LSTAT berkorelasi negatif kuat dengan MEDV.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TM 6 — Big Data Analytics  |  Dr. Donny Maha Putra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7C3A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6400800" y="2286000"/>
            <a:ext cx="4572000" cy="457200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4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TOPIK 2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50876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Clustering Pelanggan Toko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40080" y="23774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0F2F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Segmentasi Pelanggan Menggunakan K-Means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4572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2EB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TM 6 — Big Data Analytics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640080" y="228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Apa itu K-Means Clustering?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731520"/>
            <a:ext cx="137160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470465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0975" indent="-180975">
              <a:spcAft>
                <a:spcPts val="7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K-Means adalah algoritma unsupervised learning (tanpa label) yang membagi data menjadi K kelompok (cluster) </a:t>
            </a:r>
            <a:r>
              <a:rPr lang="en-US" sz="900" dirty="0" err="1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berdasarkan</a:t>
            </a:r>
            <a:r>
              <a:rPr lang="en-US" sz="9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900" dirty="0" err="1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kemiripan</a:t>
            </a:r>
            <a:r>
              <a:rPr lang="en-US" sz="9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data dalam satu cluster lebih mirip satu sama lain dibanding dengan cluster lain.</a:t>
            </a:r>
            <a:endParaRPr lang="en-US" sz="900" dirty="0"/>
          </a:p>
          <a:p>
            <a:pPr marL="180975" indent="-180975">
              <a:spcAft>
                <a:spcPts val="7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Cara kerja K-Means: (1) Tentukan jumlah cluster K, (2) Tempatkan K centroid secara acak, (3) Setiap data diassign ke centroid terdekat, (4) Hitung ulang posisi centroid dari rata-rata anggota cluster, (5) Ulangi langkah 3-4 hingga posisi centroid stabil (konvergen).</a:t>
            </a:r>
            <a:endParaRPr lang="en-US" sz="900" dirty="0"/>
          </a:p>
          <a:p>
            <a:pPr marL="180975" indent="-180975">
              <a:spcAft>
                <a:spcPts val="7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Jarak antar data dihitung menggunakan Euclidean Distance, </a:t>
            </a:r>
            <a:r>
              <a:rPr lang="en-US" sz="900" dirty="0" err="1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maka</a:t>
            </a:r>
            <a:r>
              <a:rPr lang="en-US" sz="9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normalisasi data sangat penting agar variabel berskala besar tidak mendominasi.</a:t>
            </a:r>
            <a:endParaRPr lang="en-US" sz="900" dirty="0"/>
          </a:p>
          <a:p>
            <a:pPr marL="180975" indent="-180975">
              <a:spcAft>
                <a:spcPts val="7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Penentuan nilai K optimal bisa menggunakan Elbow Method (cari "siku" pada plot distorsi) atau Silhouette Score (skor validasi cluster).</a:t>
            </a:r>
            <a:endParaRPr lang="en-US" sz="900" dirty="0"/>
          </a:p>
          <a:p>
            <a:pPr marL="180975" indent="-180975">
              <a:spcAft>
                <a:spcPts val="7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Silhouette Score mengukur seberapa mirip data dengan cluster-nya sendiri dibanding cluster tetangga. Nilai berkisar -1 </a:t>
            </a:r>
            <a:r>
              <a:rPr lang="en-US" sz="900" dirty="0" err="1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hingga</a:t>
            </a:r>
            <a:r>
              <a:rPr lang="en-US" sz="9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1,  semakin mendekati 1 semakin baik.</a:t>
            </a:r>
            <a:endParaRPr lang="en-US" sz="900" dirty="0"/>
          </a:p>
          <a:p>
            <a:pPr marL="180975" indent="-180975">
              <a:spcAft>
                <a:spcPts val="7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K-Means cocok untuk segmentasi pelanggan, market basket grouping, anomaly detection, dan pengelompokan dokumen.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4069080"/>
            <a:ext cx="7863840" cy="59436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16052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4096512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K-Means sensitif terhadap inisialisasi centroid awal. Orange menggunakan K-Means++ secara default untuk inisialisasi yang lebih cerdas.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4008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TM 6 — Big Data Analytics  |  Dr. Donny Maha Putra</a:t>
            </a:r>
            <a:endParaRPr lang="en-US" sz="8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5626B90-74F9-FA73-A0D9-509BF746EB1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524" r="6344" b="5593"/>
          <a:stretch>
            <a:fillRect/>
          </a:stretch>
        </p:blipFill>
        <p:spPr>
          <a:xfrm>
            <a:off x="5422006" y="914400"/>
            <a:ext cx="3477296" cy="277824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D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86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286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Sumber Data: Mall Customer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640080" y="822960"/>
            <a:ext cx="3840480" cy="164592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6" name="Text 3"/>
          <p:cNvSpPr/>
          <p:nvPr/>
        </p:nvSpPr>
        <p:spPr>
          <a:xfrm>
            <a:off x="822960" y="91440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Dataset Mall Customer
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Dataset berisi 200 observasi data pelanggan sebuah mall/toko. Tujuannya adalah mengelompokkan pelanggan berdasarkan perilaku belanja untuk strategi pemasaran yang lebih tepat sasaran.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663440" y="822960"/>
            <a:ext cx="3840480" cy="1645920"/>
          </a:xfrm>
          <a:prstGeom prst="rect">
            <a:avLst/>
          </a:prstGeom>
          <a:solidFill>
            <a:srgbClr val="ECFDF5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8" name="Text 5"/>
          <p:cNvSpPr/>
          <p:nvPr/>
        </p:nvSpPr>
        <p:spPr>
          <a:xfrm>
            <a:off x="4846320" y="91440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Cara Mendapatkan Data
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 Download dari Kaggle: cari "Mall Customer Segmentation Data"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 File berbentuk .csv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 Buka Orange → gunakan widget File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 Browse dan pilih file Mall_Customers.csv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5. Pastikan semua kolom numerik terdeteksi sebagai continuous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Variabel/Field Utama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971800"/>
          <a:ext cx="7863840" cy="1481328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Variabel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Keterangan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B2A4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CustomerID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ID unik pelanggan (identifier, bukan fitur analisis)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B2A4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Gender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Jenis kelamin pelanggan (Male/Female)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B2A4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Age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Usia pelanggan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B2A4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Annual Income (k$)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Pendapatan tahunan pelanggan dalam ribuan dolar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B2A4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Spending Score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Skor belanja (1–100) yang diberikan oleh toko berdasarkan perilaku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4008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TM 6 — Big Data Analytics  |  Dr. Donny Maha Putra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ID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86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2860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Proses di Orange: K-Means Clustering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051560" y="5943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9731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Tahapan Step-by-Step di Orange Data Mining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40080" y="1005840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7" name="Text 4"/>
          <p:cNvSpPr/>
          <p:nvPr/>
        </p:nvSpPr>
        <p:spPr>
          <a:xfrm>
            <a:off x="640080" y="1005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32104" y="1389888"/>
            <a:ext cx="0" cy="219456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Shape 6"/>
          <p:cNvSpPr/>
          <p:nvPr/>
        </p:nvSpPr>
        <p:spPr>
          <a:xfrm>
            <a:off x="1188720" y="978408"/>
            <a:ext cx="7360920" cy="4572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0" name="Text 7"/>
          <p:cNvSpPr/>
          <p:nvPr/>
        </p:nvSpPr>
        <p:spPr>
          <a:xfrm>
            <a:off x="1325880" y="978408"/>
            <a:ext cx="7086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File  </a:t>
            </a:r>
            <a:r>
              <a:rPr lang="en-US" sz="105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Muat dataset Mall_Customers.csv → pastikan semua kolom numerik terdeteksi benar (Age, Annual Income, Spending Score)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40080" y="1609344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2" name="Text 9"/>
          <p:cNvSpPr/>
          <p:nvPr/>
        </p:nvSpPr>
        <p:spPr>
          <a:xfrm>
            <a:off x="640080" y="1609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32104" y="1993392"/>
            <a:ext cx="0" cy="219456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4" name="Shape 11"/>
          <p:cNvSpPr/>
          <p:nvPr/>
        </p:nvSpPr>
        <p:spPr>
          <a:xfrm>
            <a:off x="1188720" y="1581912"/>
            <a:ext cx="7360920" cy="4572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5" name="Text 12"/>
          <p:cNvSpPr/>
          <p:nvPr/>
        </p:nvSpPr>
        <p:spPr>
          <a:xfrm>
            <a:off x="1325880" y="1581912"/>
            <a:ext cx="7086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Select Columns  </a:t>
            </a:r>
            <a:r>
              <a:rPr lang="en-US" sz="105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Pindahkan CustomerID ke Meta (bukan fitur), pilih Annual Income dan Spending Score sebagai Features utama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40080" y="2212848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7" name="Text 14"/>
          <p:cNvSpPr/>
          <p:nvPr/>
        </p:nvSpPr>
        <p:spPr>
          <a:xfrm>
            <a:off x="640080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32104" y="2596896"/>
            <a:ext cx="0" cy="219456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9" name="Shape 16"/>
          <p:cNvSpPr/>
          <p:nvPr/>
        </p:nvSpPr>
        <p:spPr>
          <a:xfrm>
            <a:off x="1188720" y="2185416"/>
            <a:ext cx="7360920" cy="4572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0" name="Text 17"/>
          <p:cNvSpPr/>
          <p:nvPr/>
        </p:nvSpPr>
        <p:spPr>
          <a:xfrm>
            <a:off x="1325880" y="2185416"/>
            <a:ext cx="7086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Preprocess  </a:t>
            </a:r>
            <a:r>
              <a:rPr lang="en-US" sz="105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Terapkan Normalize (standardisasi) agar skala antar variabel seragam — penting karena K-Means berbasis jarak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40080" y="2816352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2" name="Text 19"/>
          <p:cNvSpPr/>
          <p:nvPr/>
        </p:nvSpPr>
        <p:spPr>
          <a:xfrm>
            <a:off x="640080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832104" y="3200400"/>
            <a:ext cx="0" cy="219456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4" name="Shape 21"/>
          <p:cNvSpPr/>
          <p:nvPr/>
        </p:nvSpPr>
        <p:spPr>
          <a:xfrm>
            <a:off x="1188720" y="2788920"/>
            <a:ext cx="7360920" cy="4572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5" name="Text 22"/>
          <p:cNvSpPr/>
          <p:nvPr/>
        </p:nvSpPr>
        <p:spPr>
          <a:xfrm>
            <a:off x="1325880" y="2788920"/>
            <a:ext cx="7086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k-Means  </a:t>
            </a:r>
            <a:r>
              <a:rPr lang="en-US" sz="105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Hubungkan ke widget k-Means → atur jumlah cluster (mulai K=3 sampai K=6) → lihat Silhouette Score di setiap K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40080" y="3419856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7" name="Text 24"/>
          <p:cNvSpPr/>
          <p:nvPr/>
        </p:nvSpPr>
        <p:spPr>
          <a:xfrm>
            <a:off x="640080" y="3419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832104" y="3803904"/>
            <a:ext cx="0" cy="219456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9" name="Shape 26"/>
          <p:cNvSpPr/>
          <p:nvPr/>
        </p:nvSpPr>
        <p:spPr>
          <a:xfrm>
            <a:off x="1188720" y="3392424"/>
            <a:ext cx="7360920" cy="4572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0" name="Text 27"/>
          <p:cNvSpPr/>
          <p:nvPr/>
        </p:nvSpPr>
        <p:spPr>
          <a:xfrm>
            <a:off x="1325880" y="3392424"/>
            <a:ext cx="7086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Scatter Plot  </a:t>
            </a:r>
            <a:r>
              <a:rPr lang="en-US" sz="105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Visualisasikan hasil cluster: X-axis = Annual Income, Y-axis = Spending Score, Color = Cluster — lihat apakah segmentasi terlihat jelas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40080" y="4023360"/>
            <a:ext cx="384048" cy="384048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2" name="Text 29"/>
          <p:cNvSpPr/>
          <p:nvPr/>
        </p:nvSpPr>
        <p:spPr>
          <a:xfrm>
            <a:off x="640080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1188720" y="3995928"/>
            <a:ext cx="7360920" cy="4572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4" name="Text 31"/>
          <p:cNvSpPr/>
          <p:nvPr/>
        </p:nvSpPr>
        <p:spPr>
          <a:xfrm>
            <a:off x="1325880" y="3995928"/>
            <a:ext cx="7086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Silhouette Plot  </a:t>
            </a:r>
            <a:r>
              <a:rPr lang="en-US" sz="105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Hubungkan output k-Means ke widget Silhouette Plot → evaluasi kualitas setiap cluster dan identifikasi data yang tidak pas (skor negatif)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64008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TM 6 — Big Data Analytics  |  Dr. Donny Maha Putra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7BFB56-B052-8AFE-F871-D21B74D600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26" b="5216"/>
          <a:stretch>
            <a:fillRect/>
          </a:stretch>
        </p:blipFill>
        <p:spPr>
          <a:xfrm>
            <a:off x="20" y="961"/>
            <a:ext cx="9143980" cy="514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420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ID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86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286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Interpretasi Output: K-Means Clustering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26093" y="960120"/>
            <a:ext cx="453442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0975" indent="-180975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Silhouette Score rata-rata: Skor keseluruhan &gt;0.5 menunjukkan struktur cluster yang reasonably good. Skor &gt;0.7 menunjukkan pengelompokan yang kuat dan jelas.</a:t>
            </a:r>
            <a:endParaRPr lang="en-US" sz="900" dirty="0"/>
          </a:p>
          <a:p>
            <a:pPr marL="180975" indent="-180975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Pada Scatter Plot, cluster yang baik terlihat sebagai kelompok-kelompok yang terpisah jelas tanpa banyak tumpang tindih (overlap). Jika cluster saling tumpang tindih, pertimbangkan untuk mengubah nilai K.</a:t>
            </a:r>
            <a:endParaRPr lang="en-US" sz="900" dirty="0"/>
          </a:p>
          <a:p>
            <a:pPr marL="180975" indent="-180975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Contoh segmentasi 5 cluster: C1 (High Income, High Spending) = pelanggan premium, C2 (High Income, Low Spending) = pelanggan hemat/potensial, C3 (Low Income, High Spending) = pelanggan impulsif, C4 (Low Income, Low Spending) = pelanggan pasif, C5 (Average) = pelanggan mainstream.</a:t>
            </a:r>
            <a:endParaRPr lang="en-US" sz="900" dirty="0"/>
          </a:p>
          <a:p>
            <a:pPr marL="180975" indent="-180975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Silhouette Plot per cluster: Cluster dengan bar panjang dan seragam menunjukkan cluster yang kompak dan homogen. Bar yang pendek atau negatif menandakan data yang "salah" cluster.</a:t>
            </a:r>
            <a:endParaRPr lang="en-US" sz="900" dirty="0"/>
          </a:p>
          <a:p>
            <a:pPr marL="180975" indent="-180975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Implikasi bisnis: Setiap cluster memerlukan strategi </a:t>
            </a:r>
            <a:r>
              <a:rPr lang="en-US" sz="900" dirty="0" err="1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pemasaran</a:t>
            </a:r>
            <a:r>
              <a:rPr lang="en-US" sz="9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900" dirty="0" err="1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berbeda</a:t>
            </a:r>
            <a:r>
              <a:rPr lang="en-US" sz="9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pelanggan premium dapat ditarget dengan program loyalitas, sementara pelanggan potensial perlu promosi yang lebih agresif.</a:t>
            </a:r>
            <a:endParaRPr lang="en-US" sz="900" dirty="0"/>
          </a:p>
          <a:p>
            <a:pPr marL="180975" indent="-180975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Jumlah anggota per cluster memberikan gambaran proporsi </a:t>
            </a:r>
            <a:r>
              <a:rPr lang="en-US" sz="900" dirty="0" err="1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segmen</a:t>
            </a:r>
            <a:r>
              <a:rPr lang="en-US" sz="9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cluster terbesar menunjukkan segmen pelanggan mayoritas yang perlu dijaga.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4008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TM 6 — Big Data Analytics  |  Dr. Donny Maha Putra</a:t>
            </a:r>
            <a:endParaRPr lang="en-US" sz="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5689A0-1052-BF3D-C012-B946DBB9DB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1273" y="865470"/>
            <a:ext cx="3090267" cy="372939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11D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6400800" y="2286000"/>
            <a:ext cx="4572000" cy="457200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4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TOPIK 3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50876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Asosiasi Barang Belanja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40080" y="23774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0F2F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 Basket Analysis Menggunakan Apriori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4572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2EB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TM 6 — Big Data Analytics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640080" y="228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Apa itu Association Rule &amp; Apriori?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731520"/>
            <a:ext cx="1371600" cy="36576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78638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Association Rule Mining adalah teknik unsupervised learning untuk menemukan hubungan (asosiasi) antar item dalam </a:t>
            </a:r>
            <a:r>
              <a:rPr lang="en-US" sz="1250" dirty="0" err="1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kumpulan</a:t>
            </a:r>
            <a:r>
              <a:rPr lang="en-US" sz="125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1250" dirty="0" err="1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transaksi</a:t>
            </a:r>
            <a:r>
              <a:rPr lang="en-US" sz="125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sering disebut Market Basket Analysis.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Contoh sederhana: "Jika pelanggan membeli Roti, maka kemungkinan besar juga membeli </a:t>
            </a:r>
            <a:r>
              <a:rPr lang="en-US" sz="1250" dirty="0" err="1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Mentega</a:t>
            </a:r>
            <a:r>
              <a:rPr lang="en-US" sz="125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 aturan ini dinyatakan sebagai {Roti} → {Mentega}.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Apriori adalah algoritma paling populer untuk menemukan association rules. Cara kerjanya: (1) Temukan itemset yang sering muncul (frequent itemset), (2) Generate aturan asosiasi dari itemset tersebut.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Tiga metrik utama: Support = seberapa sering itemset muncul dalam total transaksi (frekuensi), Confidence = probabilitas item B dibeli jika item A sudah dibeli (kekuatan aturan), Lift = seberapa kuat hubungan dibanding kebetulan (jika lift &gt; 1 = hubungan positif).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Contoh: Support({Roti, Mentega}) = 30%, artinya 30% dari seluruh transaksi mengandung Roti dan Mentega bersamaan.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Confidence({Roti} → {Mentega}) = 75% artinya dari semua transaksi yang mengandung Roti, 75% juga mengandung Mentega. Lift = 1.5 artinya hubungan ini 1.5x lebih kuat dibanding kebetulan.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4069080"/>
            <a:ext cx="7863840" cy="59436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16052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4096512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Lift &gt; 1 menunjukkan asosiasi positif (item saling mendorong). Lift = 1 artinya independen (tidak ada hubungan). Lift &lt; 1 artinya asosiasi negatif.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4008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TM 6 — Big Data Analytics  |  Dr. Donny Maha Putra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ID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86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286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Sumber Data: Groceries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640080" y="822960"/>
            <a:ext cx="3840480" cy="164592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6" name="Text 3"/>
          <p:cNvSpPr/>
          <p:nvPr/>
        </p:nvSpPr>
        <p:spPr>
          <a:xfrm>
            <a:off x="822960" y="91440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Dataset Groceries
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Dataset berisi catatan transaksi pembelian barang belanjaan di sebuah supermarket. Setiap baris merepresentasikan satu transaksi yang berisi daftar item yang dibeli bersamaan oleh satu pelanggan.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663440" y="822960"/>
            <a:ext cx="3840480" cy="1645920"/>
          </a:xfrm>
          <a:prstGeom prst="rect">
            <a:avLst/>
          </a:prstGeom>
          <a:solidFill>
            <a:srgbClr val="ECFDF5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8" name="Text 5"/>
          <p:cNvSpPr/>
          <p:nvPr/>
        </p:nvSpPr>
        <p:spPr>
          <a:xfrm>
            <a:off x="4846320" y="91440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Cara Mendapatkan Data
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 Buka Orange Data Mining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 Gunakan widget Datasets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 Cari "groceries" di daftar dataset bawaan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 Klik untuk memuat dataset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Alternatif: Download dari Kaggle (Groceries Dataset), format .csv dengan item per transaksi.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Variabel/Field Utama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971800"/>
          <a:ext cx="7863840" cy="12344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Variabel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1D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Keterangan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1D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B2A4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Transaction ID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ID unik setiap transaksi pembelian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B2A4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Items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Daftar barang yang dibeli dalam satu transaksi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B2A4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Contoh item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whole milk, bread, vegetables, yogurt, soda, dll.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B2A4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Format data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Basket format: setiap baris = satu transaksi, kolom = item (0/1 atau True/False)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64008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TM 6 — Big Data Analytics  |  Dr. Donny Maha Putra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ID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86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2860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Proses di Orange: Apriori Association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051560" y="5943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9731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Tahapan Step-by-Step di Orange Data Mining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40080" y="1005840"/>
            <a:ext cx="384048" cy="384048"/>
          </a:xfrm>
          <a:prstGeom prst="ellipse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7" name="Text 4"/>
          <p:cNvSpPr/>
          <p:nvPr/>
        </p:nvSpPr>
        <p:spPr>
          <a:xfrm>
            <a:off x="640080" y="1005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32104" y="1389888"/>
            <a:ext cx="0" cy="219456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Shape 6"/>
          <p:cNvSpPr/>
          <p:nvPr/>
        </p:nvSpPr>
        <p:spPr>
          <a:xfrm>
            <a:off x="1188720" y="978408"/>
            <a:ext cx="7360920" cy="4572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0" name="Text 7"/>
          <p:cNvSpPr/>
          <p:nvPr/>
        </p:nvSpPr>
        <p:spPr>
          <a:xfrm>
            <a:off x="1325880" y="978408"/>
            <a:ext cx="7086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File / Datasets  </a:t>
            </a:r>
            <a:r>
              <a:rPr lang="en-US" sz="105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Muat dataset Groceries dari widget Datasets — Orange akan menampilkan data dalam format transaksional (biner)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40080" y="1609344"/>
            <a:ext cx="384048" cy="384048"/>
          </a:xfrm>
          <a:prstGeom prst="ellipse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2" name="Text 9"/>
          <p:cNvSpPr/>
          <p:nvPr/>
        </p:nvSpPr>
        <p:spPr>
          <a:xfrm>
            <a:off x="640080" y="1609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32104" y="1993392"/>
            <a:ext cx="0" cy="219456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4" name="Shape 11"/>
          <p:cNvSpPr/>
          <p:nvPr/>
        </p:nvSpPr>
        <p:spPr>
          <a:xfrm>
            <a:off x="1188720" y="1581912"/>
            <a:ext cx="7360920" cy="4572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5" name="Text 12"/>
          <p:cNvSpPr/>
          <p:nvPr/>
        </p:nvSpPr>
        <p:spPr>
          <a:xfrm>
            <a:off x="1325880" y="1581912"/>
            <a:ext cx="7086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Table  </a:t>
            </a:r>
            <a:r>
              <a:rPr lang="en-US" sz="105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Periksa data: setiap kolom mewakili satu jenis barang, nilai True/False menunjukkan apakah barang tersebut dibeli dalam transaksi itu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40080" y="2212848"/>
            <a:ext cx="384048" cy="384048"/>
          </a:xfrm>
          <a:prstGeom prst="ellipse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7" name="Text 14"/>
          <p:cNvSpPr/>
          <p:nvPr/>
        </p:nvSpPr>
        <p:spPr>
          <a:xfrm>
            <a:off x="640080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32104" y="2596896"/>
            <a:ext cx="0" cy="219456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9" name="Shape 16"/>
          <p:cNvSpPr/>
          <p:nvPr/>
        </p:nvSpPr>
        <p:spPr>
          <a:xfrm>
            <a:off x="1188720" y="2185416"/>
            <a:ext cx="7360920" cy="4572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0" name="Text 17"/>
          <p:cNvSpPr/>
          <p:nvPr/>
        </p:nvSpPr>
        <p:spPr>
          <a:xfrm>
            <a:off x="1325880" y="2185416"/>
            <a:ext cx="7086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Association Rules  </a:t>
            </a:r>
            <a:r>
              <a:rPr lang="en-US" sz="105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Hubungkan ke widget Association Rules → atur parameter: Min Support (misal 1-5%), Min Confidence (misal 30-50%)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40080" y="2816352"/>
            <a:ext cx="384048" cy="384048"/>
          </a:xfrm>
          <a:prstGeom prst="ellipse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2" name="Text 19"/>
          <p:cNvSpPr/>
          <p:nvPr/>
        </p:nvSpPr>
        <p:spPr>
          <a:xfrm>
            <a:off x="640080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832104" y="3200400"/>
            <a:ext cx="0" cy="219456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4" name="Shape 21"/>
          <p:cNvSpPr/>
          <p:nvPr/>
        </p:nvSpPr>
        <p:spPr>
          <a:xfrm>
            <a:off x="1188720" y="2788920"/>
            <a:ext cx="7360920" cy="4572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5" name="Text 22"/>
          <p:cNvSpPr/>
          <p:nvPr/>
        </p:nvSpPr>
        <p:spPr>
          <a:xfrm>
            <a:off x="1325880" y="2788920"/>
            <a:ext cx="7086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Baca Output Rules  </a:t>
            </a:r>
            <a:r>
              <a:rPr lang="en-US" sz="105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Output menampilkan aturan asosiasi lengkap: Antecedent → Consequent beserta nilai Support, Confidence, dan Lift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40080" y="3419856"/>
            <a:ext cx="384048" cy="384048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7" name="Text 24"/>
          <p:cNvSpPr/>
          <p:nvPr/>
        </p:nvSpPr>
        <p:spPr>
          <a:xfrm>
            <a:off x="640080" y="3419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1188720" y="3392424"/>
            <a:ext cx="7360920" cy="4572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9" name="Text 26"/>
          <p:cNvSpPr/>
          <p:nvPr/>
        </p:nvSpPr>
        <p:spPr>
          <a:xfrm>
            <a:off x="1325880" y="3392424"/>
            <a:ext cx="7086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Filter &amp; Sortir  </a:t>
            </a:r>
            <a:r>
              <a:rPr lang="en-US" sz="105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Urutkan rules berdasarkan Lift tertinggi atau Confidence tertinggi untuk menemukan asosiasi yang paling kuat dan bermakna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64008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TM 6 — Big Data Analytics  |  Dr. Donny Maha Putra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C63696-B817-0D61-D947-8E1C1A1C5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075" y="937984"/>
            <a:ext cx="5191850" cy="3267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7067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ID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86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286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Interpretasi Output: Association Rules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640080" y="822960"/>
            <a:ext cx="7863840" cy="379476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6" name="Text 3"/>
          <p:cNvSpPr/>
          <p:nvPr/>
        </p:nvSpPr>
        <p:spPr>
          <a:xfrm>
            <a:off x="914400" y="960120"/>
            <a:ext cx="73152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Setiap baris output menunjukkan satu aturan asosiasi: kolom kiri (Antecedent) = item pemicu, kolom kanan (Consequent) = item yang diprediksi, beserta ketiga metriknya.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Contoh aturan: {yogurt, bread} → {whole milk} dengan Support=5%, Confidence=60%, Lift=2.3. Artinya: 5% total transaksi mengandung ketiga item ini, dan dari yang beli yogurt+bread, 60% juga beli whole milk.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Lift = 2.3 artinya kombinasi ini 2.3 kali lebih sering muncul dibanding jika tidak ada hubungan — asosiasi cukup kuat dan bukan kebetulan.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Aturan dengan Support rendah tapi Confidence dan Lift tinggi menunjukkan pola niche yang jarang terjadi tapi sangat konsisten — berguna untuk promosi targeted.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Implikasi bisnis: Aturan asosiasi digunakan untuk product placement (taruh item terkait berdekatan di rak), bundle promotion (diskon paket), dan recommendation engine ("pelanggan juga membeli...").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Semakin rendah threshold Min Support yang diatur, semakin banyak aturan ditemukan — tapi terlalu rendah akan menghasilkan aturan yang kurang bermakna (noise).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TM 6 — Big Data Analytics  |  Dr. Donny Maha Putra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D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8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28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Rangkuman TM 6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868680"/>
            <a:ext cx="26060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6" name="Shape 3"/>
          <p:cNvSpPr/>
          <p:nvPr/>
        </p:nvSpPr>
        <p:spPr>
          <a:xfrm>
            <a:off x="640080" y="868680"/>
            <a:ext cx="2606040" cy="6400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7" name="Text 4"/>
          <p:cNvSpPr/>
          <p:nvPr/>
        </p:nvSpPr>
        <p:spPr>
          <a:xfrm>
            <a:off x="777240" y="10515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Regresi Linier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1463040"/>
            <a:ext cx="2331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Supervised learning  prediksi nilai numerik</a:t>
            </a:r>
            <a:endParaRPr lang="en-US" sz="9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Dataset: Boston Housing (506 obs, 13 variabel)</a:t>
            </a:r>
            <a:endParaRPr lang="en-US" sz="9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Workflow: Load → Correlations → Rank → Linear Regression → Test &amp; Score</a:t>
            </a:r>
            <a:endParaRPr lang="en-US" sz="9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 err="1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Evaluasi</a:t>
            </a:r>
            <a:r>
              <a:rPr lang="en-US" sz="95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R², MAE, RMSE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429000" y="868680"/>
            <a:ext cx="26060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0" name="Shape 7"/>
          <p:cNvSpPr/>
          <p:nvPr/>
        </p:nvSpPr>
        <p:spPr>
          <a:xfrm>
            <a:off x="3429000" y="868680"/>
            <a:ext cx="2606040" cy="6400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1" name="Text 8"/>
          <p:cNvSpPr/>
          <p:nvPr/>
        </p:nvSpPr>
        <p:spPr>
          <a:xfrm>
            <a:off x="3566160" y="10515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K-Means Clustering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566160" y="1463040"/>
            <a:ext cx="2331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Unsupervised learning  segmentasi kelompok</a:t>
            </a:r>
            <a:endParaRPr lang="en-US" sz="9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Dataset: Mall Customer (200 obs, 5 variabel)</a:t>
            </a:r>
            <a:endParaRPr lang="en-US" sz="9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Workflow: Load → Select Columns → Normalize → k-Means → Scatter Plot → Silhouette</a:t>
            </a:r>
            <a:endParaRPr lang="en-US" sz="9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 err="1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Evaluasi</a:t>
            </a:r>
            <a:r>
              <a:rPr lang="en-US" sz="95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Silhouette Score (&gt;0.5 = baik)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217920" y="868680"/>
            <a:ext cx="26060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4" name="Shape 11"/>
          <p:cNvSpPr/>
          <p:nvPr/>
        </p:nvSpPr>
        <p:spPr>
          <a:xfrm>
            <a:off x="6217920" y="868680"/>
            <a:ext cx="2606040" cy="64008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5" name="Text 12"/>
          <p:cNvSpPr/>
          <p:nvPr/>
        </p:nvSpPr>
        <p:spPr>
          <a:xfrm>
            <a:off x="6355080" y="10515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11D4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Apriori Association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355080" y="1463040"/>
            <a:ext cx="2331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Unsupervised learning  menemukan pola asosiasi</a:t>
            </a:r>
            <a:endParaRPr lang="en-US" sz="9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Dataset: Groceries (data transaksional)</a:t>
            </a:r>
            <a:endParaRPr lang="en-US" sz="9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Workflow: Load → Association Rules</a:t>
            </a:r>
            <a:endParaRPr lang="en-US" sz="9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 err="1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Evaluasi</a:t>
            </a:r>
            <a:r>
              <a:rPr lang="en-US" sz="95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Support, Confidence, Lift (Lift&gt;1 = asosiasi positif)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4008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TM 6 — Big Data Analytics  |  Dr. Donny Maha Putra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914400"/>
            <a:ext cx="3200400" cy="3200400"/>
          </a:xfrm>
          <a:prstGeom prst="ellipse">
            <a:avLst/>
          </a:prstGeom>
          <a:solidFill>
            <a:srgbClr val="E11D48">
              <a:alpha val="6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E11D48">
              <a:alpha val="75000"/>
            </a:srgbClr>
          </a:solidFill>
          <a:ln/>
        </p:spPr>
        <p:txBody>
          <a:bodyPr/>
          <a:lstStyle/>
          <a:p>
            <a:endParaRPr lang="en-ID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5720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457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TUGAS MANDIRI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1005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DA4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Dikerjakan di Luar Kelas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1371600"/>
            <a:ext cx="7863840" cy="338328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8" name="Text 5"/>
          <p:cNvSpPr/>
          <p:nvPr/>
        </p:nvSpPr>
        <p:spPr>
          <a:xfrm>
            <a:off x="822960" y="1577340"/>
            <a:ext cx="667898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DA4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Association Rules
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Gunakan dataset "Groceries" atau Market Basket dari Kaggle. Temukan minimal 10 aturan asosiasi bermakna. Laporkan: screenshot workflow, tabel 10 rules terbaik (Support, Confidence, Lift), dan interpretasi 3 aturan paling menarik secara bisnis.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TM 6 — Big Data Analytics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828800"/>
            <a:ext cx="5486400" cy="5486400"/>
          </a:xfrm>
          <a:prstGeom prst="ellipse">
            <a:avLst/>
          </a:prstGeom>
          <a:solidFill>
            <a:srgbClr val="0891B2">
              <a:alpha val="7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0891B2">
              <a:alpha val="85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228600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Dr. Donny Maha Putra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TM 6 — Big Data Analytics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Regresi Linier • K-Means Clustering • Association Rule Apriori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2620</Words>
  <Application>Microsoft Office PowerPoint</Application>
  <PresentationFormat>On-screen Show (16:9)</PresentationFormat>
  <Paragraphs>250</Paragraphs>
  <Slides>23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TM6 - Big Data Analytics</dc:title>
  <dc:subject>PptxGenJS Presentation</dc:subject>
  <dc:creator>Dr. Donny Maha Putra</dc:creator>
  <cp:lastModifiedBy>Donny Maha Putra</cp:lastModifiedBy>
  <cp:revision>6</cp:revision>
  <dcterms:created xsi:type="dcterms:W3CDTF">2026-04-10T23:32:06Z</dcterms:created>
  <dcterms:modified xsi:type="dcterms:W3CDTF">2026-04-11T03:16:25Z</dcterms:modified>
</cp:coreProperties>
</file>